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63" r:id="rId3"/>
    <p:sldId id="318" r:id="rId4"/>
    <p:sldId id="307" r:id="rId5"/>
    <p:sldId id="308" r:id="rId6"/>
    <p:sldId id="259" r:id="rId7"/>
    <p:sldId id="309" r:id="rId8"/>
    <p:sldId id="310" r:id="rId9"/>
    <p:sldId id="278" r:id="rId10"/>
    <p:sldId id="286" r:id="rId11"/>
    <p:sldId id="274" r:id="rId12"/>
    <p:sldId id="276" r:id="rId13"/>
    <p:sldId id="275" r:id="rId14"/>
    <p:sldId id="264" r:id="rId15"/>
    <p:sldId id="319" r:id="rId16"/>
    <p:sldId id="321" r:id="rId17"/>
    <p:sldId id="316" r:id="rId18"/>
    <p:sldId id="320" r:id="rId19"/>
    <p:sldId id="282" r:id="rId20"/>
    <p:sldId id="289" r:id="rId21"/>
    <p:sldId id="285" r:id="rId22"/>
    <p:sldId id="298" r:id="rId23"/>
    <p:sldId id="260" r:id="rId24"/>
    <p:sldId id="303" r:id="rId25"/>
    <p:sldId id="304" r:id="rId26"/>
    <p:sldId id="302" r:id="rId27"/>
    <p:sldId id="27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E213E1-D504-4162-8717-F0D3FB1D1D54}" v="469" dt="2025-12-23T04:19:03.366"/>
    <p1510:client id="{76685DBF-D60C-4EFD-8DBC-583C15958861}" v="1" dt="2025-12-23T04:01:41.155"/>
    <p1510:client id="{C069996F-4C71-4AF1-8C8A-D8F120176C57}" v="475" dt="2025-12-23T04:39:06.03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94660"/>
  </p:normalViewPr>
  <p:slideViewPr>
    <p:cSldViewPr snapToGrid="0">
      <p:cViewPr varScale="1">
        <p:scale>
          <a:sx n="82" d="100"/>
          <a:sy n="82" d="100"/>
        </p:scale>
        <p:origin x="72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E58C21-696A-4AC1-B1BF-9FB78CA24B24}" type="datetimeFigureOut">
              <a:rPr lang="en-IN" smtClean="0"/>
              <a:t>20-01-2026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A81838-BB83-4CBC-846D-39785449BB70}"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58B873B-71B1-4928-A25D-590B43A16668}" type="datetime1">
              <a:rPr lang="en-IN" smtClean="0"/>
              <a:t>20-01-2026</a:t>
            </a:fld>
            <a:endParaRPr lang="en-IN"/>
          </a:p>
        </p:txBody>
      </p:sp>
      <p:sp>
        <p:nvSpPr>
          <p:cNvPr id="5" name="Footer Placeholder 4"/>
          <p:cNvSpPr>
            <a:spLocks noGrp="1"/>
          </p:cNvSpPr>
          <p:nvPr>
            <p:ph type="ftr" sz="quarter" idx="11"/>
          </p:nvPr>
        </p:nvSpPr>
        <p:spPr/>
        <p:txBody>
          <a:bodyPr/>
          <a:lstStyle/>
          <a:p>
            <a:r>
              <a:rPr lang="en-US"/>
              <a:t>Department Of Computer Science and Engineering </a:t>
            </a:r>
            <a:endParaRPr lang="en-IN"/>
          </a:p>
        </p:txBody>
      </p:sp>
      <p:sp>
        <p:nvSpPr>
          <p:cNvPr id="6" name="Slide Number Placeholder 5"/>
          <p:cNvSpPr>
            <a:spLocks noGrp="1"/>
          </p:cNvSpPr>
          <p:nvPr>
            <p:ph type="sldNum" sz="quarter" idx="12"/>
          </p:nvPr>
        </p:nvSpPr>
        <p:spPr/>
        <p:txBody>
          <a:bodyPr/>
          <a:lstStyle/>
          <a:p>
            <a:fld id="{6B620516-70CF-47FE-AA80-3DABE7EA9D45}"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875A309-5F11-4E8C-AD32-FD268A91700E}" type="datetime1">
              <a:rPr lang="en-IN" smtClean="0"/>
              <a:t>20-01-2026</a:t>
            </a:fld>
            <a:endParaRPr lang="en-IN"/>
          </a:p>
        </p:txBody>
      </p:sp>
      <p:sp>
        <p:nvSpPr>
          <p:cNvPr id="5" name="Footer Placeholder 4"/>
          <p:cNvSpPr>
            <a:spLocks noGrp="1"/>
          </p:cNvSpPr>
          <p:nvPr>
            <p:ph type="ftr" sz="quarter" idx="11"/>
          </p:nvPr>
        </p:nvSpPr>
        <p:spPr/>
        <p:txBody>
          <a:bodyPr/>
          <a:lstStyle/>
          <a:p>
            <a:r>
              <a:rPr lang="en-US"/>
              <a:t>Department Of Computer Science and Engineering </a:t>
            </a:r>
            <a:endParaRPr lang="en-IN"/>
          </a:p>
        </p:txBody>
      </p:sp>
      <p:sp>
        <p:nvSpPr>
          <p:cNvPr id="6" name="Slide Number Placeholder 5"/>
          <p:cNvSpPr>
            <a:spLocks noGrp="1"/>
          </p:cNvSpPr>
          <p:nvPr>
            <p:ph type="sldNum" sz="quarter" idx="12"/>
          </p:nvPr>
        </p:nvSpPr>
        <p:spPr/>
        <p:txBody>
          <a:bodyPr/>
          <a:lstStyle/>
          <a:p>
            <a:fld id="{6B620516-70CF-47FE-AA80-3DABE7EA9D45}"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080ED-2638-4EC5-9A0D-C0F1307912AF}" type="datetime1">
              <a:rPr lang="en-IN" smtClean="0"/>
              <a:t>20-01-2026</a:t>
            </a:fld>
            <a:endParaRPr lang="en-IN"/>
          </a:p>
        </p:txBody>
      </p:sp>
      <p:sp>
        <p:nvSpPr>
          <p:cNvPr id="5" name="Footer Placeholder 4"/>
          <p:cNvSpPr>
            <a:spLocks noGrp="1"/>
          </p:cNvSpPr>
          <p:nvPr>
            <p:ph type="ftr" sz="quarter" idx="11"/>
          </p:nvPr>
        </p:nvSpPr>
        <p:spPr/>
        <p:txBody>
          <a:bodyPr/>
          <a:lstStyle/>
          <a:p>
            <a:r>
              <a:rPr lang="en-US"/>
              <a:t>Department Of Computer Science and Engineering </a:t>
            </a:r>
            <a:endParaRPr lang="en-IN"/>
          </a:p>
        </p:txBody>
      </p:sp>
      <p:sp>
        <p:nvSpPr>
          <p:cNvPr id="6" name="Slide Number Placeholder 5"/>
          <p:cNvSpPr>
            <a:spLocks noGrp="1"/>
          </p:cNvSpPr>
          <p:nvPr>
            <p:ph type="sldNum" sz="quarter" idx="12"/>
          </p:nvPr>
        </p:nvSpPr>
        <p:spPr/>
        <p:txBody>
          <a:bodyPr/>
          <a:lstStyle/>
          <a:p>
            <a:fld id="{6B620516-70CF-47FE-AA80-3DABE7EA9D45}"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DF0F38F-9C32-48C5-8E48-B79B23A8A0E8}" type="datetime1">
              <a:rPr lang="en-IN" smtClean="0"/>
              <a:t>20-01-2026</a:t>
            </a:fld>
            <a:endParaRPr lang="en-IN"/>
          </a:p>
        </p:txBody>
      </p:sp>
      <p:sp>
        <p:nvSpPr>
          <p:cNvPr id="6" name="Footer Placeholder 5"/>
          <p:cNvSpPr>
            <a:spLocks noGrp="1"/>
          </p:cNvSpPr>
          <p:nvPr>
            <p:ph type="ftr" sz="quarter" idx="11"/>
          </p:nvPr>
        </p:nvSpPr>
        <p:spPr/>
        <p:txBody>
          <a:bodyPr/>
          <a:lstStyle/>
          <a:p>
            <a:r>
              <a:rPr lang="en-US"/>
              <a:t>Department Of Computer Science and Engineering </a:t>
            </a:r>
            <a:endParaRPr lang="en-IN"/>
          </a:p>
        </p:txBody>
      </p:sp>
      <p:sp>
        <p:nvSpPr>
          <p:cNvPr id="7" name="Slide Number Placeholder 6"/>
          <p:cNvSpPr>
            <a:spLocks noGrp="1"/>
          </p:cNvSpPr>
          <p:nvPr>
            <p:ph type="sldNum" sz="quarter" idx="12"/>
          </p:nvPr>
        </p:nvSpPr>
        <p:spPr/>
        <p:txBody>
          <a:bodyPr/>
          <a:lstStyle/>
          <a:p>
            <a:fld id="{6B620516-70CF-47FE-AA80-3DABE7EA9D45}"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E3B94DB-8683-4F5E-AF4A-3CBDFD99BB33}" type="datetime1">
              <a:rPr lang="en-IN" smtClean="0"/>
              <a:t>20-01-2026</a:t>
            </a:fld>
            <a:endParaRPr lang="en-IN"/>
          </a:p>
        </p:txBody>
      </p:sp>
      <p:sp>
        <p:nvSpPr>
          <p:cNvPr id="8" name="Footer Placeholder 7"/>
          <p:cNvSpPr>
            <a:spLocks noGrp="1"/>
          </p:cNvSpPr>
          <p:nvPr>
            <p:ph type="ftr" sz="quarter" idx="11"/>
          </p:nvPr>
        </p:nvSpPr>
        <p:spPr/>
        <p:txBody>
          <a:bodyPr/>
          <a:lstStyle/>
          <a:p>
            <a:r>
              <a:rPr lang="en-US"/>
              <a:t>Department Of Computer Science and Engineering </a:t>
            </a:r>
            <a:endParaRPr lang="en-IN"/>
          </a:p>
        </p:txBody>
      </p:sp>
      <p:sp>
        <p:nvSpPr>
          <p:cNvPr id="9" name="Slide Number Placeholder 8"/>
          <p:cNvSpPr>
            <a:spLocks noGrp="1"/>
          </p:cNvSpPr>
          <p:nvPr>
            <p:ph type="sldNum" sz="quarter" idx="12"/>
          </p:nvPr>
        </p:nvSpPr>
        <p:spPr/>
        <p:txBody>
          <a:bodyPr/>
          <a:lstStyle/>
          <a:p>
            <a:fld id="{6B620516-70CF-47FE-AA80-3DABE7EA9D45}"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B5F57CE-CC27-4E84-B7AF-878160DC24A7}" type="datetime1">
              <a:rPr lang="en-IN" smtClean="0"/>
              <a:t>20-01-2026</a:t>
            </a:fld>
            <a:endParaRPr lang="en-IN"/>
          </a:p>
        </p:txBody>
      </p:sp>
      <p:sp>
        <p:nvSpPr>
          <p:cNvPr id="4" name="Footer Placeholder 3"/>
          <p:cNvSpPr>
            <a:spLocks noGrp="1"/>
          </p:cNvSpPr>
          <p:nvPr>
            <p:ph type="ftr" sz="quarter" idx="11"/>
          </p:nvPr>
        </p:nvSpPr>
        <p:spPr/>
        <p:txBody>
          <a:bodyPr/>
          <a:lstStyle/>
          <a:p>
            <a:r>
              <a:rPr lang="en-US"/>
              <a:t>Department Of Computer Science and Engineering </a:t>
            </a:r>
            <a:endParaRPr lang="en-IN"/>
          </a:p>
        </p:txBody>
      </p:sp>
      <p:sp>
        <p:nvSpPr>
          <p:cNvPr id="5" name="Slide Number Placeholder 4"/>
          <p:cNvSpPr>
            <a:spLocks noGrp="1"/>
          </p:cNvSpPr>
          <p:nvPr>
            <p:ph type="sldNum" sz="quarter" idx="12"/>
          </p:nvPr>
        </p:nvSpPr>
        <p:spPr/>
        <p:txBody>
          <a:bodyPr/>
          <a:lstStyle/>
          <a:p>
            <a:fld id="{6B620516-70CF-47FE-AA80-3DABE7EA9D45}"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08900B-3320-47E2-AF27-8166C87D89BD}" type="datetime1">
              <a:rPr lang="en-IN" smtClean="0"/>
              <a:t>20-01-2026</a:t>
            </a:fld>
            <a:endParaRPr lang="en-IN"/>
          </a:p>
        </p:txBody>
      </p:sp>
      <p:sp>
        <p:nvSpPr>
          <p:cNvPr id="3" name="Footer Placeholder 2"/>
          <p:cNvSpPr>
            <a:spLocks noGrp="1"/>
          </p:cNvSpPr>
          <p:nvPr>
            <p:ph type="ftr" sz="quarter" idx="11"/>
          </p:nvPr>
        </p:nvSpPr>
        <p:spPr/>
        <p:txBody>
          <a:bodyPr/>
          <a:lstStyle/>
          <a:p>
            <a:r>
              <a:rPr lang="en-US"/>
              <a:t>Department Of Computer Science and Engineering </a:t>
            </a:r>
            <a:endParaRPr lang="en-IN"/>
          </a:p>
        </p:txBody>
      </p:sp>
      <p:sp>
        <p:nvSpPr>
          <p:cNvPr id="4" name="Slide Number Placeholder 3"/>
          <p:cNvSpPr>
            <a:spLocks noGrp="1"/>
          </p:cNvSpPr>
          <p:nvPr>
            <p:ph type="sldNum" sz="quarter" idx="12"/>
          </p:nvPr>
        </p:nvSpPr>
        <p:spPr/>
        <p:txBody>
          <a:bodyPr/>
          <a:lstStyle/>
          <a:p>
            <a:fld id="{6B620516-70CF-47FE-AA80-3DABE7EA9D4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80951D9-EC3C-4FF5-8E29-FAD70BE32B50}" type="datetime1">
              <a:rPr lang="en-IN" smtClean="0"/>
              <a:t>20-01-2026</a:t>
            </a:fld>
            <a:endParaRPr lang="en-IN"/>
          </a:p>
        </p:txBody>
      </p:sp>
      <p:sp>
        <p:nvSpPr>
          <p:cNvPr id="6" name="Footer Placeholder 5"/>
          <p:cNvSpPr>
            <a:spLocks noGrp="1"/>
          </p:cNvSpPr>
          <p:nvPr>
            <p:ph type="ftr" sz="quarter" idx="11"/>
          </p:nvPr>
        </p:nvSpPr>
        <p:spPr/>
        <p:txBody>
          <a:bodyPr/>
          <a:lstStyle/>
          <a:p>
            <a:r>
              <a:rPr lang="en-US"/>
              <a:t>Department Of Computer Science and Engineering </a:t>
            </a:r>
            <a:endParaRPr lang="en-IN"/>
          </a:p>
        </p:txBody>
      </p:sp>
      <p:sp>
        <p:nvSpPr>
          <p:cNvPr id="7" name="Slide Number Placeholder 6"/>
          <p:cNvSpPr>
            <a:spLocks noGrp="1"/>
          </p:cNvSpPr>
          <p:nvPr>
            <p:ph type="sldNum" sz="quarter" idx="12"/>
          </p:nvPr>
        </p:nvSpPr>
        <p:spPr/>
        <p:txBody>
          <a:bodyPr/>
          <a:lstStyle/>
          <a:p>
            <a:fld id="{6B620516-70CF-47FE-AA80-3DABE7EA9D45}"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0B9ABB-12BB-4513-BA1C-D30CF0A5E65D}" type="datetime1">
              <a:rPr lang="en-IN" smtClean="0"/>
              <a:t>20-01-2026</a:t>
            </a:fld>
            <a:endParaRPr lang="en-IN"/>
          </a:p>
        </p:txBody>
      </p:sp>
      <p:sp>
        <p:nvSpPr>
          <p:cNvPr id="6" name="Footer Placeholder 5"/>
          <p:cNvSpPr>
            <a:spLocks noGrp="1"/>
          </p:cNvSpPr>
          <p:nvPr>
            <p:ph type="ftr" sz="quarter" idx="11"/>
          </p:nvPr>
        </p:nvSpPr>
        <p:spPr/>
        <p:txBody>
          <a:bodyPr/>
          <a:lstStyle/>
          <a:p>
            <a:r>
              <a:rPr lang="en-US"/>
              <a:t>Department Of Computer Science and Engineering </a:t>
            </a:r>
            <a:endParaRPr lang="en-IN"/>
          </a:p>
        </p:txBody>
      </p:sp>
      <p:sp>
        <p:nvSpPr>
          <p:cNvPr id="7" name="Slide Number Placeholder 6"/>
          <p:cNvSpPr>
            <a:spLocks noGrp="1"/>
          </p:cNvSpPr>
          <p:nvPr>
            <p:ph type="sldNum" sz="quarter" idx="12"/>
          </p:nvPr>
        </p:nvSpPr>
        <p:spPr/>
        <p:txBody>
          <a:bodyPr/>
          <a:lstStyle/>
          <a:p>
            <a:fld id="{6B620516-70CF-47FE-AA80-3DABE7EA9D45}"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9DD1CF9-AB6F-4551-8922-6F5964D42B79}" type="datetime1">
              <a:rPr lang="en-IN" smtClean="0"/>
              <a:t>20-01-2026</a:t>
            </a:fld>
            <a:endParaRPr lang="en-IN"/>
          </a:p>
        </p:txBody>
      </p:sp>
      <p:sp>
        <p:nvSpPr>
          <p:cNvPr id="5" name="Footer Placeholder 4"/>
          <p:cNvSpPr>
            <a:spLocks noGrp="1"/>
          </p:cNvSpPr>
          <p:nvPr>
            <p:ph type="ftr" sz="quarter" idx="11"/>
          </p:nvPr>
        </p:nvSpPr>
        <p:spPr/>
        <p:txBody>
          <a:bodyPr/>
          <a:lstStyle/>
          <a:p>
            <a:r>
              <a:rPr lang="en-US"/>
              <a:t>Department Of Computer Science and Engineering </a:t>
            </a:r>
            <a:endParaRPr lang="en-IN"/>
          </a:p>
        </p:txBody>
      </p:sp>
      <p:sp>
        <p:nvSpPr>
          <p:cNvPr id="6" name="Slide Number Placeholder 5"/>
          <p:cNvSpPr>
            <a:spLocks noGrp="1"/>
          </p:cNvSpPr>
          <p:nvPr>
            <p:ph type="sldNum" sz="quarter" idx="12"/>
          </p:nvPr>
        </p:nvSpPr>
        <p:spPr/>
        <p:txBody>
          <a:bodyPr/>
          <a:lstStyle/>
          <a:p>
            <a:fld id="{6B620516-70CF-47FE-AA80-3DABE7EA9D4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34A87F2-FB7F-4709-93A1-35CE497BD3F4}" type="datetime1">
              <a:rPr lang="en-IN" smtClean="0"/>
              <a:t>20-01-2026</a:t>
            </a:fld>
            <a:endParaRPr lang="en-IN"/>
          </a:p>
        </p:txBody>
      </p:sp>
      <p:sp>
        <p:nvSpPr>
          <p:cNvPr id="5" name="Footer Placeholder 4"/>
          <p:cNvSpPr>
            <a:spLocks noGrp="1"/>
          </p:cNvSpPr>
          <p:nvPr>
            <p:ph type="ftr" sz="quarter" idx="11"/>
          </p:nvPr>
        </p:nvSpPr>
        <p:spPr/>
        <p:txBody>
          <a:bodyPr/>
          <a:lstStyle/>
          <a:p>
            <a:r>
              <a:rPr lang="en-US"/>
              <a:t>Department Of Computer Science and Engineering </a:t>
            </a:r>
            <a:endParaRPr lang="en-IN"/>
          </a:p>
        </p:txBody>
      </p:sp>
      <p:sp>
        <p:nvSpPr>
          <p:cNvPr id="6" name="Slide Number Placeholder 5"/>
          <p:cNvSpPr>
            <a:spLocks noGrp="1"/>
          </p:cNvSpPr>
          <p:nvPr>
            <p:ph type="sldNum" sz="quarter" idx="12"/>
          </p:nvPr>
        </p:nvSpPr>
        <p:spPr/>
        <p:txBody>
          <a:bodyPr/>
          <a:lstStyle/>
          <a:p>
            <a:fld id="{6B620516-70CF-47FE-AA80-3DABE7EA9D4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2E380C-3F83-482F-A977-F286AB8B7B79}" type="datetime1">
              <a:rPr lang="en-IN" smtClean="0"/>
              <a:t>20-01-2026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Computer Science and Engineering </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620516-70CF-47FE-AA80-3DABE7EA9D45}"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zenodo.org/records/14635823"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2196/65139" TargetMode="External"/><Relationship Id="rId2" Type="http://schemas.openxmlformats.org/officeDocument/2006/relationships/hyperlink" Target="https://doi.org/10.4236/ojn.2023.1310041" TargetMode="External"/><Relationship Id="rId1" Type="http://schemas.openxmlformats.org/officeDocument/2006/relationships/slideLayout" Target="../slideLayouts/slideLayout2.xml"/><Relationship Id="rId6" Type="http://schemas.openxmlformats.org/officeDocument/2006/relationships/hyperlink" Target="https://doi.org/10.1186/s13102-018-0098-0" TargetMode="External"/><Relationship Id="rId5" Type="http://schemas.openxmlformats.org/officeDocument/2006/relationships/hyperlink" Target="https://doi.org/10.3390/s25185745" TargetMode="External"/><Relationship Id="rId4" Type="http://schemas.openxmlformats.org/officeDocument/2006/relationships/hyperlink" Target="https://doi.org/10.1093/ehjdh/ztad022"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doi.org/10.1186/s12872-025-04582-2" TargetMode="External"/><Relationship Id="rId2" Type="http://schemas.openxmlformats.org/officeDocument/2006/relationships/hyperlink" Target="https://hub.edubirdie.com/examples/comparative-study-of-wearable-heart-rate-monitors/" TargetMode="External"/><Relationship Id="rId1" Type="http://schemas.openxmlformats.org/officeDocument/2006/relationships/slideLayout" Target="../slideLayouts/slideLayout2.xml"/><Relationship Id="rId6" Type="http://schemas.openxmlformats.org/officeDocument/2006/relationships/hyperlink" Target="https://doi.org/10.3390/s22176536" TargetMode="External"/><Relationship Id="rId5" Type="http://schemas.openxmlformats.org/officeDocument/2006/relationships/hyperlink" Target="https://doi.org/10.3390/bioengineering10020254" TargetMode="External"/><Relationship Id="rId4" Type="http://schemas.openxmlformats.org/officeDocument/2006/relationships/hyperlink" Target="https://doi.org/10.1097/MS9.0000000000003155"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doi.org/10.1109/ACCESS.2021.3052131" TargetMode="External"/><Relationship Id="rId2" Type="http://schemas.openxmlformats.org/officeDocument/2006/relationships/hyperlink" Target="https://doi.org/10.1016/j.ifacol.2024.11.072" TargetMode="External"/><Relationship Id="rId1" Type="http://schemas.openxmlformats.org/officeDocument/2006/relationships/slideLayout" Target="../slideLayouts/slideLayout2.xml"/><Relationship Id="rId6" Type="http://schemas.openxmlformats.org/officeDocument/2006/relationships/hyperlink" Target="https://doi.org/10.14814/phy2.70527" TargetMode="External"/><Relationship Id="rId5" Type="http://schemas.openxmlformats.org/officeDocument/2006/relationships/hyperlink" Target="https://doi.org/10.1093/sleepadvances/zpaf021" TargetMode="External"/><Relationship Id="rId4" Type="http://schemas.openxmlformats.org/officeDocument/2006/relationships/hyperlink" Target="https://doi.org/10.2196/50983"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arxiv.org/abs/1810.11363" TargetMode="External"/><Relationship Id="rId2" Type="http://schemas.openxmlformats.org/officeDocument/2006/relationships/hyperlink" Target="https://doi.org/10.5281/zenodo.14635823" TargetMode="External"/><Relationship Id="rId1" Type="http://schemas.openxmlformats.org/officeDocument/2006/relationships/slideLayout" Target="../slideLayouts/slideLayout2.xml"/><Relationship Id="rId6" Type="http://schemas.openxmlformats.org/officeDocument/2006/relationships/hyperlink" Target="https://doi.org/10.1016/j.biopsycho.2010.03.010" TargetMode="External"/><Relationship Id="rId5" Type="http://schemas.openxmlformats.org/officeDocument/2006/relationships/hyperlink" Target="https://doi.org/10.30773/pi.2017.08.17" TargetMode="External"/><Relationship Id="rId4" Type="http://schemas.openxmlformats.org/officeDocument/2006/relationships/hyperlink" Target="https://doi.org/10.3389/fpsyg.2017.00213"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ctrTitle"/>
          </p:nvPr>
        </p:nvSpPr>
        <p:spPr>
          <a:xfrm>
            <a:off x="1026365" y="2020309"/>
            <a:ext cx="10139265" cy="927099"/>
          </a:xfrm>
        </p:spPr>
        <p:txBody>
          <a:bodyPr>
            <a:noAutofit/>
          </a:bodyPr>
          <a:lstStyle/>
          <a:p>
            <a:r>
              <a:rPr lang="en-US" sz="2800" b="1" dirty="0">
                <a:latin typeface="+mn-lt"/>
                <a:cs typeface="Times New Roman" panose="02020603050405020304" pitchFamily="18" charset="0"/>
              </a:rPr>
              <a:t>A Machine Learning Approach for Multilevel Stress Classification Using Physiological Signals from Wearable Devices</a:t>
            </a:r>
            <a:endParaRPr lang="en-IN" sz="2800" b="1" dirty="0">
              <a:latin typeface="+mn-lt"/>
              <a:cs typeface="Times New Roman" panose="02020603050405020304" pitchFamily="18" charset="0"/>
            </a:endParaRPr>
          </a:p>
        </p:txBody>
      </p:sp>
      <p:sp>
        <p:nvSpPr>
          <p:cNvPr id="21" name="Date Placeholder 20"/>
          <p:cNvSpPr>
            <a:spLocks noGrp="1"/>
          </p:cNvSpPr>
          <p:nvPr>
            <p:ph type="dt" sz="half" idx="10"/>
          </p:nvPr>
        </p:nvSpPr>
        <p:spPr>
          <a:xfrm>
            <a:off x="838200" y="6446835"/>
            <a:ext cx="2743200" cy="365125"/>
          </a:xfrm>
        </p:spPr>
        <p:txBody>
          <a:bodyPr/>
          <a:lstStyle/>
          <a:p>
            <a:fld id="{8AB958EB-CC78-4F80-9852-C57E5E29E4FE}" type="datetime1">
              <a:rPr lang="en-IN" smtClean="0">
                <a:solidFill>
                  <a:schemeClr val="bg1"/>
                </a:solidFill>
              </a:rPr>
              <a:t>20-01-2026</a:t>
            </a:fld>
            <a:endParaRPr lang="en-IN" dirty="0">
              <a:solidFill>
                <a:schemeClr val="bg1"/>
              </a:solidFill>
            </a:endParaRPr>
          </a:p>
        </p:txBody>
      </p:sp>
      <p:sp>
        <p:nvSpPr>
          <p:cNvPr id="22" name="Footer Placeholder 21"/>
          <p:cNvSpPr>
            <a:spLocks noGrp="1"/>
          </p:cNvSpPr>
          <p:nvPr>
            <p:ph type="ftr" sz="quarter" idx="11"/>
          </p:nvPr>
        </p:nvSpPr>
        <p:spPr>
          <a:xfrm>
            <a:off x="4038600" y="6446837"/>
            <a:ext cx="4114800" cy="365125"/>
          </a:xfrm>
        </p:spPr>
        <p:txBody>
          <a:bodyPr/>
          <a:lstStyle/>
          <a:p>
            <a:r>
              <a:rPr lang="en-US" dirty="0">
                <a:solidFill>
                  <a:schemeClr val="bg1"/>
                </a:solidFill>
              </a:rPr>
              <a:t>Department Of Computer Science and Engineering </a:t>
            </a:r>
            <a:endParaRPr lang="en-IN" dirty="0">
              <a:solidFill>
                <a:schemeClr val="bg1"/>
              </a:solidFill>
            </a:endParaRPr>
          </a:p>
        </p:txBody>
      </p:sp>
      <p:sp>
        <p:nvSpPr>
          <p:cNvPr id="23" name="Slide Number Placeholder 22"/>
          <p:cNvSpPr>
            <a:spLocks noGrp="1"/>
          </p:cNvSpPr>
          <p:nvPr>
            <p:ph type="sldNum" sz="quarter" idx="12"/>
          </p:nvPr>
        </p:nvSpPr>
        <p:spPr>
          <a:xfrm>
            <a:off x="8610600" y="6446836"/>
            <a:ext cx="2743200" cy="365125"/>
          </a:xfrm>
        </p:spPr>
        <p:txBody>
          <a:bodyPr/>
          <a:lstStyle/>
          <a:p>
            <a:fld id="{6B620516-70CF-47FE-AA80-3DABE7EA9D45}" type="slidenum">
              <a:rPr lang="en-IN" smtClean="0">
                <a:solidFill>
                  <a:schemeClr val="bg1"/>
                </a:solidFill>
              </a:rPr>
              <a:t>1</a:t>
            </a:fld>
            <a:endParaRPr lang="en-IN" dirty="0">
              <a:solidFill>
                <a:schemeClr val="bg1"/>
              </a:solidFill>
            </a:endParaRPr>
          </a:p>
        </p:txBody>
      </p:sp>
      <p:sp>
        <p:nvSpPr>
          <p:cNvPr id="12" name="Rectangle 10"/>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13" name="Rectangle 11"/>
          <p:cNvSpPr>
            <a:spLocks noChangeArrowheads="1"/>
          </p:cNvSpPr>
          <p:nvPr/>
        </p:nvSpPr>
        <p:spPr bwMode="auto">
          <a:xfrm>
            <a:off x="0" y="457200"/>
            <a:ext cx="0" cy="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endParaRPr lang="en-IN"/>
          </a:p>
        </p:txBody>
      </p:sp>
      <p:sp>
        <p:nvSpPr>
          <p:cNvPr id="14" name="Rectangle 15"/>
          <p:cNvSpPr>
            <a:spLocks noChangeArrowheads="1"/>
          </p:cNvSpPr>
          <p:nvPr/>
        </p:nvSpPr>
        <p:spPr bwMode="auto">
          <a:xfrm>
            <a:off x="0" y="13843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4662" y="0"/>
            <a:ext cx="6162675" cy="1457325"/>
          </a:xfrm>
          <a:prstGeom prst="rect">
            <a:avLst/>
          </a:prstGeom>
        </p:spPr>
      </p:pic>
      <p:sp>
        <p:nvSpPr>
          <p:cNvPr id="18" name="TextBox 17"/>
          <p:cNvSpPr txBox="1"/>
          <p:nvPr/>
        </p:nvSpPr>
        <p:spPr>
          <a:xfrm>
            <a:off x="3963376" y="1308338"/>
            <a:ext cx="4510575" cy="369332"/>
          </a:xfrm>
          <a:prstGeom prst="rect">
            <a:avLst/>
          </a:prstGeom>
          <a:noFill/>
        </p:spPr>
        <p:txBody>
          <a:bodyPr wrap="square">
            <a:spAutoFit/>
          </a:bodyPr>
          <a:lstStyle/>
          <a:p>
            <a:pPr marL="0" marR="0" lvl="0" indent="0" algn="l" rtl="0">
              <a:spcBef>
                <a:spcPts val="0"/>
              </a:spcBef>
              <a:spcAft>
                <a:spcPts val="0"/>
              </a:spcAft>
              <a:buNone/>
            </a:pPr>
            <a:r>
              <a:rPr lang="en-US" sz="1800" b="1" dirty="0">
                <a:solidFill>
                  <a:srgbClr val="231F20"/>
                </a:solidFill>
                <a:latin typeface="Bahnschrift SemiBold SemiCondensed" panose="020B0502040204020203" pitchFamily="34" charset="0"/>
                <a:ea typeface="Bookman Old Style" panose="02050604050505020204"/>
                <a:cs typeface="Bookman Old Style" panose="02050604050505020204"/>
                <a:sym typeface="Bookman Old Style" panose="02050604050505020204"/>
              </a:rPr>
              <a:t>Department of Computer Science &amp; Engineering</a:t>
            </a:r>
            <a:endParaRPr lang="en-US" sz="1200" dirty="0">
              <a:solidFill>
                <a:schemeClr val="dk1"/>
              </a:solidFill>
              <a:latin typeface="Bahnschrift SemiBold SemiCondensed" panose="020B0502040204020203" pitchFamily="34" charset="0"/>
              <a:ea typeface="Tahoma" panose="020B0604030504040204"/>
              <a:cs typeface="Tahoma" panose="020B0604030504040204"/>
              <a:sym typeface="Tahoma" panose="020B0604030504040204"/>
            </a:endParaRPr>
          </a:p>
        </p:txBody>
      </p:sp>
      <p:cxnSp>
        <p:nvCxnSpPr>
          <p:cNvPr id="20" name="Straight Connector 19"/>
          <p:cNvCxnSpPr/>
          <p:nvPr/>
        </p:nvCxnSpPr>
        <p:spPr>
          <a:xfrm flipV="1">
            <a:off x="1966815" y="1654889"/>
            <a:ext cx="8258367" cy="29091"/>
          </a:xfrm>
          <a:prstGeom prst="line">
            <a:avLst/>
          </a:prstGeom>
        </p:spPr>
        <p:style>
          <a:lnRef idx="1">
            <a:schemeClr val="dk1"/>
          </a:lnRef>
          <a:fillRef idx="0">
            <a:schemeClr val="dk1"/>
          </a:fillRef>
          <a:effectRef idx="0">
            <a:schemeClr val="dk1"/>
          </a:effectRef>
          <a:fontRef idx="minor">
            <a:schemeClr val="tx1"/>
          </a:fontRef>
        </p:style>
      </p:cxnSp>
      <p:sp>
        <p:nvSpPr>
          <p:cNvPr id="26" name="TextBox 25"/>
          <p:cNvSpPr txBox="1"/>
          <p:nvPr/>
        </p:nvSpPr>
        <p:spPr>
          <a:xfrm>
            <a:off x="3652744" y="5733716"/>
            <a:ext cx="5131838" cy="861774"/>
          </a:xfrm>
          <a:prstGeom prst="rect">
            <a:avLst/>
          </a:prstGeom>
          <a:noFill/>
        </p:spPr>
        <p:txBody>
          <a:bodyPr wrap="square">
            <a:spAutoFit/>
          </a:bodyPr>
          <a:lstStyle/>
          <a:p>
            <a:pPr algn="ctr"/>
            <a:r>
              <a:rPr lang="en-IN" sz="1600" b="1" dirty="0"/>
              <a:t>Under the  Guidance of</a:t>
            </a:r>
            <a:br>
              <a:rPr lang="en-IN" sz="1600" b="1" dirty="0"/>
            </a:br>
            <a:r>
              <a:rPr lang="en-IN" dirty="0"/>
              <a:t>Dr.Prema.T.Akkasaligar</a:t>
            </a:r>
            <a:endParaRPr lang="en-US" dirty="0"/>
          </a:p>
          <a:p>
            <a:pPr algn="ctr"/>
            <a:endParaRPr lang="en-IN" sz="1600" dirty="0"/>
          </a:p>
        </p:txBody>
      </p:sp>
      <p:graphicFrame>
        <p:nvGraphicFramePr>
          <p:cNvPr id="3" name="Table 2">
            <a:extLst>
              <a:ext uri="{FF2B5EF4-FFF2-40B4-BE49-F238E27FC236}">
                <a16:creationId xmlns:a16="http://schemas.microsoft.com/office/drawing/2014/main" id="{6A25F8A9-6914-DBC3-7104-8C9974555C51}"/>
              </a:ext>
            </a:extLst>
          </p:cNvPr>
          <p:cNvGraphicFramePr>
            <a:graphicFrameLocks noGrp="1"/>
          </p:cNvGraphicFramePr>
          <p:nvPr/>
        </p:nvGraphicFramePr>
        <p:xfrm>
          <a:off x="2406128" y="3131462"/>
          <a:ext cx="7490225" cy="2418201"/>
        </p:xfrm>
        <a:graphic>
          <a:graphicData uri="http://schemas.openxmlformats.org/drawingml/2006/table">
            <a:tbl>
              <a:tblPr firstRow="1" bandRow="1">
                <a:tableStyleId>{5C22544A-7EE6-4342-B048-85BDC9FD1C3A}</a:tableStyleId>
              </a:tblPr>
              <a:tblGrid>
                <a:gridCol w="3844201">
                  <a:extLst>
                    <a:ext uri="{9D8B030D-6E8A-4147-A177-3AD203B41FA5}">
                      <a16:colId xmlns:a16="http://schemas.microsoft.com/office/drawing/2014/main" val="1754459374"/>
                    </a:ext>
                  </a:extLst>
                </a:gridCol>
                <a:gridCol w="3646024">
                  <a:extLst>
                    <a:ext uri="{9D8B030D-6E8A-4147-A177-3AD203B41FA5}">
                      <a16:colId xmlns:a16="http://schemas.microsoft.com/office/drawing/2014/main" val="581314945"/>
                    </a:ext>
                  </a:extLst>
                </a:gridCol>
              </a:tblGrid>
              <a:tr h="4125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bg1"/>
                          </a:solidFill>
                        </a:rPr>
                        <a:t>T</a:t>
                      </a:r>
                      <a:r>
                        <a:rPr lang="en-IN" sz="1800" dirty="0">
                          <a:solidFill>
                            <a:schemeClr val="bg1"/>
                          </a:solidFill>
                        </a:rPr>
                        <a:t>eam Members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solidFill>
                            <a:schemeClr val="bg1"/>
                          </a:solidFill>
                          <a:latin typeface="Arial" panose="020B0604020202020204" pitchFamily="34" charset="0"/>
                          <a:cs typeface="Arial" panose="020B0604020202020204" pitchFamily="34" charset="0"/>
                        </a:rPr>
                        <a:t>SRN</a:t>
                      </a:r>
                      <a:endParaRPr lang="en-IN" sz="1800" dirty="0">
                        <a:solidFill>
                          <a:schemeClr val="bg1"/>
                        </a:solidFill>
                      </a:endParaRPr>
                    </a:p>
                  </a:txBody>
                  <a:tcPr/>
                </a:tc>
                <a:extLst>
                  <a:ext uri="{0D108BD9-81ED-4DB2-BD59-A6C34878D82A}">
                    <a16:rowId xmlns:a16="http://schemas.microsoft.com/office/drawing/2014/main" val="1595192525"/>
                  </a:ext>
                </a:extLst>
              </a:tr>
              <a:tr h="412561">
                <a:tc>
                  <a:txBody>
                    <a:bodyPr/>
                    <a:lstStyle/>
                    <a:p>
                      <a:r>
                        <a:rPr lang="en-IN" sz="1800" kern="1200" dirty="0">
                          <a:solidFill>
                            <a:schemeClr val="dk1"/>
                          </a:solidFill>
                          <a:effectLst/>
                          <a:latin typeface="+mn-lt"/>
                          <a:ea typeface="+mn-ea"/>
                          <a:cs typeface="+mn-cs"/>
                        </a:rPr>
                        <a:t>Adarsh Kapse</a:t>
                      </a:r>
                      <a:endParaRPr lang="en-US" dirty="0"/>
                    </a:p>
                  </a:txBody>
                  <a:tcPr/>
                </a:tc>
                <a:tc>
                  <a:txBody>
                    <a:bodyPr/>
                    <a:lstStyle/>
                    <a:p>
                      <a:r>
                        <a:rPr lang="en-IN" dirty="0"/>
                        <a:t>02FE23BCI014</a:t>
                      </a:r>
                      <a:endParaRPr lang="en-US" dirty="0"/>
                    </a:p>
                  </a:txBody>
                  <a:tcPr/>
                </a:tc>
                <a:extLst>
                  <a:ext uri="{0D108BD9-81ED-4DB2-BD59-A6C34878D82A}">
                    <a16:rowId xmlns:a16="http://schemas.microsoft.com/office/drawing/2014/main" val="3694646944"/>
                  </a:ext>
                </a:extLst>
              </a:tr>
              <a:tr h="412561">
                <a:tc>
                  <a:txBody>
                    <a:bodyPr/>
                    <a:lstStyle/>
                    <a:p>
                      <a:r>
                        <a:rPr lang="en-IN" sz="1800" kern="1200" dirty="0">
                          <a:solidFill>
                            <a:schemeClr val="dk1"/>
                          </a:solidFill>
                          <a:effectLst/>
                          <a:latin typeface="+mn-lt"/>
                          <a:ea typeface="+mn-ea"/>
                          <a:cs typeface="+mn-cs"/>
                        </a:rPr>
                        <a:t>Sakshi Galatage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02FE23BCI020</a:t>
                      </a:r>
                      <a:endParaRPr lang="en-US" dirty="0"/>
                    </a:p>
                  </a:txBody>
                  <a:tcPr/>
                </a:tc>
                <a:extLst>
                  <a:ext uri="{0D108BD9-81ED-4DB2-BD59-A6C34878D82A}">
                    <a16:rowId xmlns:a16="http://schemas.microsoft.com/office/drawing/2014/main" val="4191087819"/>
                  </a:ext>
                </a:extLst>
              </a:tr>
              <a:tr h="507133">
                <a:tc>
                  <a:txBody>
                    <a:bodyPr/>
                    <a:lstStyle/>
                    <a:p>
                      <a:r>
                        <a:rPr lang="en-IN" sz="1800" kern="1200" dirty="0">
                          <a:solidFill>
                            <a:schemeClr val="dk1"/>
                          </a:solidFill>
                          <a:effectLst/>
                          <a:latin typeface="+mn-lt"/>
                          <a:ea typeface="+mn-ea"/>
                          <a:cs typeface="+mn-cs"/>
                        </a:rPr>
                        <a:t>Neil Rego</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02FE23BCI036</a:t>
                      </a:r>
                      <a:endParaRPr lang="en-US" dirty="0"/>
                    </a:p>
                  </a:txBody>
                  <a:tcPr/>
                </a:tc>
                <a:extLst>
                  <a:ext uri="{0D108BD9-81ED-4DB2-BD59-A6C34878D82A}">
                    <a16:rowId xmlns:a16="http://schemas.microsoft.com/office/drawing/2014/main" val="3169378169"/>
                  </a:ext>
                </a:extLst>
              </a:tr>
              <a:tr h="673385">
                <a:tc>
                  <a:txBody>
                    <a:bodyPr/>
                    <a:lstStyle/>
                    <a:p>
                      <a:r>
                        <a:rPr lang="en-IN" sz="1800" kern="1200" dirty="0">
                          <a:solidFill>
                            <a:schemeClr val="dk1"/>
                          </a:solidFill>
                          <a:effectLst/>
                          <a:latin typeface="+mn-lt"/>
                          <a:ea typeface="+mn-ea"/>
                          <a:cs typeface="+mn-cs"/>
                        </a:rPr>
                        <a:t>Ramakrishna Huddar</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02FE23BCI007</a:t>
                      </a:r>
                      <a:endParaRPr lang="en-US" dirty="0"/>
                    </a:p>
                  </a:txBody>
                  <a:tcPr/>
                </a:tc>
                <a:extLst>
                  <a:ext uri="{0D108BD9-81ED-4DB2-BD59-A6C34878D82A}">
                    <a16:rowId xmlns:a16="http://schemas.microsoft.com/office/drawing/2014/main" val="1021746578"/>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4" name="Date Placeholder 3"/>
          <p:cNvSpPr>
            <a:spLocks noGrp="1"/>
          </p:cNvSpPr>
          <p:nvPr>
            <p:ph type="dt" sz="half" idx="10"/>
          </p:nvPr>
        </p:nvSpPr>
        <p:spPr>
          <a:xfrm>
            <a:off x="838200" y="6451150"/>
            <a:ext cx="2743200" cy="365125"/>
          </a:xfrm>
        </p:spPr>
        <p:txBody>
          <a:bodyPr/>
          <a:lstStyle/>
          <a:p>
            <a:fld id="{349C99D1-C93A-4A4F-896B-485AE360AC56}" type="datetime1">
              <a:rPr lang="en-IN" smtClean="0">
                <a:solidFill>
                  <a:schemeClr val="bg1"/>
                </a:solidFill>
              </a:rPr>
              <a:t>20-01-2026</a:t>
            </a:fld>
            <a:endParaRPr lang="en-IN" dirty="0">
              <a:solidFill>
                <a:schemeClr val="bg1"/>
              </a:solidFill>
            </a:endParaRPr>
          </a:p>
        </p:txBody>
      </p:sp>
      <p:sp>
        <p:nvSpPr>
          <p:cNvPr id="5" name="Footer Placeholder 4"/>
          <p:cNvSpPr>
            <a:spLocks noGrp="1"/>
          </p:cNvSpPr>
          <p:nvPr>
            <p:ph type="ftr" sz="quarter" idx="11"/>
          </p:nvPr>
        </p:nvSpPr>
        <p:spPr>
          <a:xfrm>
            <a:off x="4038600" y="6446837"/>
            <a:ext cx="4114800" cy="365125"/>
          </a:xfrm>
        </p:spPr>
        <p:txBody>
          <a:bodyPr/>
          <a:lstStyle/>
          <a:p>
            <a:r>
              <a:rPr lang="en-US" dirty="0">
                <a:solidFill>
                  <a:schemeClr val="bg1"/>
                </a:solidFill>
              </a:rPr>
              <a:t>Department Of Computer Science and Engineering </a:t>
            </a:r>
            <a:endParaRPr lang="en-IN" dirty="0">
              <a:solidFill>
                <a:schemeClr val="bg1"/>
              </a:solidFill>
            </a:endParaRPr>
          </a:p>
        </p:txBody>
      </p:sp>
      <p:sp>
        <p:nvSpPr>
          <p:cNvPr id="6" name="Slide Number Placeholder 5"/>
          <p:cNvSpPr>
            <a:spLocks noGrp="1"/>
          </p:cNvSpPr>
          <p:nvPr>
            <p:ph type="sldNum" sz="quarter" idx="12"/>
          </p:nvPr>
        </p:nvSpPr>
        <p:spPr>
          <a:xfrm>
            <a:off x="8610600" y="6422455"/>
            <a:ext cx="2743200" cy="365125"/>
          </a:xfrm>
        </p:spPr>
        <p:txBody>
          <a:bodyPr/>
          <a:lstStyle/>
          <a:p>
            <a:fld id="{6B620516-70CF-47FE-AA80-3DABE7EA9D45}" type="slidenum">
              <a:rPr lang="en-IN" smtClean="0">
                <a:solidFill>
                  <a:schemeClr val="bg1"/>
                </a:solidFill>
              </a:rPr>
              <a:t>2</a:t>
            </a:fld>
            <a:endParaRPr lang="en-IN" dirty="0">
              <a:solidFill>
                <a:schemeClr val="bg1"/>
              </a:solidFill>
            </a:endParaRPr>
          </a:p>
        </p:txBody>
      </p:sp>
      <p:sp>
        <p:nvSpPr>
          <p:cNvPr id="2" name="Title 1"/>
          <p:cNvSpPr>
            <a:spLocks noGrp="1"/>
          </p:cNvSpPr>
          <p:nvPr>
            <p:ph type="title"/>
          </p:nvPr>
        </p:nvSpPr>
        <p:spPr>
          <a:xfrm>
            <a:off x="3581400" y="-230945"/>
            <a:ext cx="4524569" cy="1179091"/>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                         Introduction</a:t>
            </a:r>
          </a:p>
        </p:txBody>
      </p:sp>
      <p:sp>
        <p:nvSpPr>
          <p:cNvPr id="7" name="TextBox 6">
            <a:extLst>
              <a:ext uri="{FF2B5EF4-FFF2-40B4-BE49-F238E27FC236}">
                <a16:creationId xmlns:a16="http://schemas.microsoft.com/office/drawing/2014/main" id="{DC20A7F6-F638-63C3-E4C0-771C60EB4CC2}"/>
              </a:ext>
            </a:extLst>
          </p:cNvPr>
          <p:cNvSpPr txBox="1"/>
          <p:nvPr/>
        </p:nvSpPr>
        <p:spPr>
          <a:xfrm>
            <a:off x="838200" y="1418253"/>
            <a:ext cx="9806473" cy="4199611"/>
          </a:xfrm>
          <a:prstGeom prst="rect">
            <a:avLst/>
          </a:prstGeom>
          <a:noFill/>
        </p:spPr>
        <p:txBody>
          <a:bodyPr wrap="square">
            <a:spAutoFit/>
          </a:bodyPr>
          <a:lstStyle/>
          <a:p>
            <a:pPr algn="just">
              <a:lnSpc>
                <a:spcPct val="150000"/>
              </a:lnSpc>
            </a:pPr>
            <a:r>
              <a:rPr lang="en-US" sz="2000" dirty="0"/>
              <a:t>As we know wearable devices such as smartwatches, fitness trackers, and wristbands have become increasingly popular for continuous health monitoring and lifestyle management. This study focuses on </a:t>
            </a:r>
            <a:r>
              <a:rPr lang="en-US" sz="2000" b="1" dirty="0"/>
              <a:t>stress detection using two wearable devices — Empatica E4 and Polar H10</a:t>
            </a:r>
            <a:r>
              <a:rPr lang="en-US" sz="2000" dirty="0"/>
              <a:t>. With wearable technology playing a key role in health monitoring, the research aims to compare how accurately these devices measure physiological signals related to stress. Using </a:t>
            </a:r>
            <a:r>
              <a:rPr lang="en-US" sz="2000" b="1" dirty="0"/>
              <a:t>supervised machine learning techniques</a:t>
            </a:r>
            <a:r>
              <a:rPr lang="en-US" sz="2000" dirty="0"/>
              <a:t> such as resampling, feature extraction, and clustering, the study analyzes and compares the signals recorded by both devices. The goal is to identify which device provides more reliable data for stress detection and to offer insights that can help improve the use of wearable technologies in healthcare research.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9A3E5FC-0FF9-7813-B562-7EF47B804DF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8FB9911-498A-8C54-50EF-3D070D4B3E1C}"/>
              </a:ext>
            </a:extLst>
          </p:cNvPr>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 name="Date Placeholder 2">
            <a:extLst>
              <a:ext uri="{FF2B5EF4-FFF2-40B4-BE49-F238E27FC236}">
                <a16:creationId xmlns:a16="http://schemas.microsoft.com/office/drawing/2014/main" id="{4D47DFA5-C3B8-9A48-4AB9-FD471D384D08}"/>
              </a:ext>
            </a:extLst>
          </p:cNvPr>
          <p:cNvSpPr>
            <a:spLocks noGrp="1"/>
          </p:cNvSpPr>
          <p:nvPr>
            <p:ph type="dt" sz="half" idx="10"/>
          </p:nvPr>
        </p:nvSpPr>
        <p:spPr>
          <a:xfrm>
            <a:off x="846826" y="6446836"/>
            <a:ext cx="2743200" cy="365125"/>
          </a:xfrm>
        </p:spPr>
        <p:txBody>
          <a:bodyPr/>
          <a:lstStyle/>
          <a:p>
            <a:fld id="{5B7E5161-8080-4FA4-B597-A25847D01AB0}" type="datetime1">
              <a:rPr lang="en-IN" smtClean="0">
                <a:solidFill>
                  <a:schemeClr val="bg1"/>
                </a:solidFill>
              </a:rPr>
              <a:t>20-01-2026</a:t>
            </a:fld>
            <a:endParaRPr lang="en-IN" dirty="0">
              <a:solidFill>
                <a:schemeClr val="bg1"/>
              </a:solidFill>
            </a:endParaRPr>
          </a:p>
        </p:txBody>
      </p:sp>
      <p:sp>
        <p:nvSpPr>
          <p:cNvPr id="5" name="Footer Placeholder 4">
            <a:extLst>
              <a:ext uri="{FF2B5EF4-FFF2-40B4-BE49-F238E27FC236}">
                <a16:creationId xmlns:a16="http://schemas.microsoft.com/office/drawing/2014/main" id="{3AE3057D-E299-68A7-1AF9-52BE0738602B}"/>
              </a:ext>
            </a:extLst>
          </p:cNvPr>
          <p:cNvSpPr>
            <a:spLocks noGrp="1"/>
          </p:cNvSpPr>
          <p:nvPr>
            <p:ph type="ftr" sz="quarter" idx="11"/>
          </p:nvPr>
        </p:nvSpPr>
        <p:spPr>
          <a:xfrm>
            <a:off x="4047226" y="6446837"/>
            <a:ext cx="4114800" cy="365125"/>
          </a:xfrm>
        </p:spPr>
        <p:txBody>
          <a:bodyPr/>
          <a:lstStyle/>
          <a:p>
            <a:r>
              <a:rPr lang="en-US" dirty="0">
                <a:solidFill>
                  <a:schemeClr val="bg1"/>
                </a:solidFill>
              </a:rPr>
              <a:t>Department Of Computer Science and Engineering </a:t>
            </a:r>
            <a:endParaRPr lang="en-IN" dirty="0">
              <a:solidFill>
                <a:schemeClr val="bg1"/>
              </a:solidFill>
            </a:endParaRPr>
          </a:p>
        </p:txBody>
      </p:sp>
      <p:sp>
        <p:nvSpPr>
          <p:cNvPr id="6" name="Slide Number Placeholder 5">
            <a:extLst>
              <a:ext uri="{FF2B5EF4-FFF2-40B4-BE49-F238E27FC236}">
                <a16:creationId xmlns:a16="http://schemas.microsoft.com/office/drawing/2014/main" id="{B90F2BB4-7537-D53A-1D53-7C9B8B702175}"/>
              </a:ext>
            </a:extLst>
          </p:cNvPr>
          <p:cNvSpPr>
            <a:spLocks noGrp="1"/>
          </p:cNvSpPr>
          <p:nvPr>
            <p:ph type="sldNum" sz="quarter" idx="12"/>
          </p:nvPr>
        </p:nvSpPr>
        <p:spPr>
          <a:xfrm>
            <a:off x="8627852" y="6446837"/>
            <a:ext cx="2743200" cy="365125"/>
          </a:xfrm>
        </p:spPr>
        <p:txBody>
          <a:bodyPr/>
          <a:lstStyle/>
          <a:p>
            <a:fld id="{6B620516-70CF-47FE-AA80-3DABE7EA9D45}" type="slidenum">
              <a:rPr lang="en-IN" smtClean="0">
                <a:solidFill>
                  <a:schemeClr val="bg1"/>
                </a:solidFill>
              </a:rPr>
              <a:t>3</a:t>
            </a:fld>
            <a:endParaRPr lang="en-IN" dirty="0">
              <a:solidFill>
                <a:schemeClr val="bg1"/>
              </a:solidFill>
            </a:endParaRPr>
          </a:p>
        </p:txBody>
      </p:sp>
      <p:sp>
        <p:nvSpPr>
          <p:cNvPr id="8" name="Title 1">
            <a:extLst>
              <a:ext uri="{FF2B5EF4-FFF2-40B4-BE49-F238E27FC236}">
                <a16:creationId xmlns:a16="http://schemas.microsoft.com/office/drawing/2014/main" id="{8016E7DF-9141-9467-2ADD-D3D6064DA8C7}"/>
              </a:ext>
            </a:extLst>
          </p:cNvPr>
          <p:cNvSpPr txBox="1"/>
          <p:nvPr/>
        </p:nvSpPr>
        <p:spPr>
          <a:xfrm>
            <a:off x="4047226" y="0"/>
            <a:ext cx="4519283" cy="150966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Literature survey 	</a:t>
            </a:r>
          </a:p>
        </p:txBody>
      </p:sp>
      <p:sp>
        <p:nvSpPr>
          <p:cNvPr id="10" name="Rectangle 1">
            <a:extLst>
              <a:ext uri="{FF2B5EF4-FFF2-40B4-BE49-F238E27FC236}">
                <a16:creationId xmlns:a16="http://schemas.microsoft.com/office/drawing/2014/main" id="{A16ED946-05DA-DFD3-66AB-3B8019CAEF83}"/>
              </a:ext>
            </a:extLst>
          </p:cNvPr>
          <p:cNvSpPr>
            <a:spLocks noChangeArrowheads="1"/>
          </p:cNvSpPr>
          <p:nvPr/>
        </p:nvSpPr>
        <p:spPr bwMode="auto">
          <a:xfrm>
            <a:off x="-17085240" y="1247776"/>
            <a:ext cx="7644573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7" name="Table 6">
            <a:extLst>
              <a:ext uri="{FF2B5EF4-FFF2-40B4-BE49-F238E27FC236}">
                <a16:creationId xmlns:a16="http://schemas.microsoft.com/office/drawing/2014/main" id="{B246CEA7-78CC-43E0-1D2A-C1FBE916FAA8}"/>
              </a:ext>
            </a:extLst>
          </p:cNvPr>
          <p:cNvGraphicFramePr>
            <a:graphicFrameLocks noGrp="1"/>
          </p:cNvGraphicFramePr>
          <p:nvPr>
            <p:extLst>
              <p:ext uri="{D42A27DB-BD31-4B8C-83A1-F6EECF244321}">
                <p14:modId xmlns:p14="http://schemas.microsoft.com/office/powerpoint/2010/main" val="4054605369"/>
              </p:ext>
            </p:extLst>
          </p:nvPr>
        </p:nvGraphicFramePr>
        <p:xfrm>
          <a:off x="933450" y="1028700"/>
          <a:ext cx="10437602" cy="4922140"/>
        </p:xfrm>
        <a:graphic>
          <a:graphicData uri="http://schemas.openxmlformats.org/drawingml/2006/table">
            <a:tbl>
              <a:tblPr firstRow="1" firstCol="1" bandRow="1">
                <a:tableStyleId>{5C22544A-7EE6-4342-B048-85BDC9FD1C3A}</a:tableStyleId>
              </a:tblPr>
              <a:tblGrid>
                <a:gridCol w="1500094">
                  <a:extLst>
                    <a:ext uri="{9D8B030D-6E8A-4147-A177-3AD203B41FA5}">
                      <a16:colId xmlns:a16="http://schemas.microsoft.com/office/drawing/2014/main" val="1229538771"/>
                    </a:ext>
                  </a:extLst>
                </a:gridCol>
                <a:gridCol w="1931811">
                  <a:extLst>
                    <a:ext uri="{9D8B030D-6E8A-4147-A177-3AD203B41FA5}">
                      <a16:colId xmlns:a16="http://schemas.microsoft.com/office/drawing/2014/main" val="3074213054"/>
                    </a:ext>
                  </a:extLst>
                </a:gridCol>
                <a:gridCol w="2334423">
                  <a:extLst>
                    <a:ext uri="{9D8B030D-6E8A-4147-A177-3AD203B41FA5}">
                      <a16:colId xmlns:a16="http://schemas.microsoft.com/office/drawing/2014/main" val="1326254021"/>
                    </a:ext>
                  </a:extLst>
                </a:gridCol>
                <a:gridCol w="2615767">
                  <a:extLst>
                    <a:ext uri="{9D8B030D-6E8A-4147-A177-3AD203B41FA5}">
                      <a16:colId xmlns:a16="http://schemas.microsoft.com/office/drawing/2014/main" val="3145712849"/>
                    </a:ext>
                  </a:extLst>
                </a:gridCol>
                <a:gridCol w="2055507">
                  <a:extLst>
                    <a:ext uri="{9D8B030D-6E8A-4147-A177-3AD203B41FA5}">
                      <a16:colId xmlns:a16="http://schemas.microsoft.com/office/drawing/2014/main" val="1473250501"/>
                    </a:ext>
                  </a:extLst>
                </a:gridCol>
              </a:tblGrid>
              <a:tr h="336506">
                <a:tc>
                  <a:txBody>
                    <a:bodyPr/>
                    <a:lstStyle/>
                    <a:p>
                      <a:pPr>
                        <a:lnSpc>
                          <a:spcPct val="115000"/>
                        </a:lnSpc>
                        <a:spcAft>
                          <a:spcPts val="1000"/>
                        </a:spcAft>
                        <a:buNone/>
                      </a:pPr>
                      <a:r>
                        <a:rPr lang="en-US" sz="1600" dirty="0">
                          <a:effectLst/>
                        </a:rPr>
                        <a:t>Author (Year)</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effectLst/>
                        </a:rPr>
                        <a:t>Approach</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effectLst/>
                        </a:rPr>
                        <a:t>Methodology</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effectLst/>
                        </a:rPr>
                        <a:t>Dataset</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effectLst/>
                        </a:rPr>
                        <a:t>Disadvantages</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5578857"/>
                  </a:ext>
                </a:extLst>
              </a:tr>
              <a:tr h="1055710">
                <a:tc>
                  <a:txBody>
                    <a:bodyPr/>
                    <a:lstStyle/>
                    <a:p>
                      <a:pPr>
                        <a:lnSpc>
                          <a:spcPct val="115000"/>
                        </a:lnSpc>
                        <a:spcAft>
                          <a:spcPts val="1000"/>
                        </a:spcAft>
                        <a:buNone/>
                      </a:pPr>
                      <a:r>
                        <a:rPr lang="en-US" sz="1600" dirty="0">
                          <a:effectLst/>
                        </a:rPr>
                        <a:t>Terasawa et al. (2023)</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lvl="0">
                        <a:lnSpc>
                          <a:spcPct val="114999"/>
                        </a:lnSpc>
                        <a:spcAft>
                          <a:spcPts val="1000"/>
                        </a:spcAft>
                        <a:buNone/>
                      </a:pPr>
                      <a:r>
                        <a:rPr lang="en-US" sz="1600" b="0" i="0" u="none" strike="noStrike" noProof="0" dirty="0">
                          <a:effectLst/>
                          <a:latin typeface="Calibri"/>
                        </a:rPr>
                        <a:t>Smartwatch fitness tracking comparison</a:t>
                      </a:r>
                      <a:endParaRPr lang="en-US" dirty="0"/>
                    </a:p>
                  </a:txBody>
                  <a:tcPr marL="68580" marR="68580" marT="0" marB="0"/>
                </a:tc>
                <a:tc>
                  <a:txBody>
                    <a:bodyPr/>
                    <a:lstStyle/>
                    <a:p>
                      <a:pPr>
                        <a:lnSpc>
                          <a:spcPct val="115000"/>
                        </a:lnSpc>
                        <a:spcAft>
                          <a:spcPts val="1000"/>
                        </a:spcAft>
                        <a:buNone/>
                      </a:pPr>
                      <a:r>
                        <a:rPr lang="en-US" sz="1600" dirty="0">
                          <a:effectLst/>
                        </a:rPr>
                        <a:t>Evaluated Garmin, Mi, Huawei vs real-world activity</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effectLst/>
                        </a:rPr>
                        <a:t>Free-living activity dataset</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effectLst/>
                        </a:rPr>
                        <a:t>Accuracy drops with irregular movement</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84800380"/>
                  </a:ext>
                </a:extLst>
              </a:tr>
              <a:tr h="1055710">
                <a:tc>
                  <a:txBody>
                    <a:bodyPr/>
                    <a:lstStyle/>
                    <a:p>
                      <a:pPr>
                        <a:lnSpc>
                          <a:spcPct val="115000"/>
                        </a:lnSpc>
                        <a:spcAft>
                          <a:spcPts val="1000"/>
                        </a:spcAft>
                        <a:buNone/>
                      </a:pPr>
                      <a:r>
                        <a:rPr lang="en-US" sz="1600" dirty="0">
                          <a:effectLst/>
                        </a:rPr>
                        <a:t>Wouters et al. (2025)</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effectLst/>
                        </a:rPr>
                        <a:t>Validation of consumer devices for AF detection</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effectLst/>
                        </a:rPr>
                        <a:t>Compared Apple Watch, </a:t>
                      </a:r>
                      <a:r>
                        <a:rPr lang="en-US" sz="1600" dirty="0" err="1">
                          <a:effectLst/>
                        </a:rPr>
                        <a:t>KardiaMobile</a:t>
                      </a:r>
                      <a:r>
                        <a:rPr lang="en-US" sz="1600" dirty="0">
                          <a:effectLst/>
                        </a:rPr>
                        <a:t>, PPG apps vs 12-lead ECG</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effectLst/>
                        </a:rPr>
                        <a:t>Clinical AF patients</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effectLst/>
                        </a:rPr>
                        <a:t>PPG accuracy inconsistent, highly user dependent</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807486157"/>
                  </a:ext>
                </a:extLst>
              </a:tr>
              <a:tr h="696108">
                <a:tc>
                  <a:txBody>
                    <a:bodyPr/>
                    <a:lstStyle/>
                    <a:p>
                      <a:pPr>
                        <a:lnSpc>
                          <a:spcPct val="115000"/>
                        </a:lnSpc>
                        <a:spcAft>
                          <a:spcPts val="1000"/>
                        </a:spcAft>
                        <a:buNone/>
                      </a:pPr>
                      <a:r>
                        <a:rPr lang="en-US" sz="1600" dirty="0" err="1">
                          <a:effectLst/>
                        </a:rPr>
                        <a:t>Theurl</a:t>
                      </a:r>
                      <a:r>
                        <a:rPr lang="en-US" sz="1600" dirty="0">
                          <a:effectLst/>
                        </a:rPr>
                        <a:t> et al. (2023)</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effectLst/>
                        </a:rPr>
                        <a:t>Smartwatch vs ECG in patients</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lvl="0">
                        <a:lnSpc>
                          <a:spcPct val="114999"/>
                        </a:lnSpc>
                        <a:spcAft>
                          <a:spcPts val="1000"/>
                        </a:spcAft>
                        <a:buNone/>
                      </a:pPr>
                      <a:r>
                        <a:rPr lang="en-US" sz="1600" b="0" i="0" u="none" strike="noStrike" noProof="0" dirty="0">
                          <a:effectLst/>
                          <a:latin typeface="Calibri"/>
                        </a:rPr>
                        <a:t>Compared Garmin </a:t>
                      </a:r>
                      <a:r>
                        <a:rPr lang="en-US" sz="1600" b="0" i="0" u="none" strike="noStrike" noProof="0" dirty="0" err="1">
                          <a:effectLst/>
                          <a:latin typeface="Calibri"/>
                        </a:rPr>
                        <a:t>vivoactive</a:t>
                      </a:r>
                      <a:r>
                        <a:rPr lang="en-US" sz="1600" b="0" i="0" u="none" strike="noStrike" noProof="0" dirty="0">
                          <a:effectLst/>
                          <a:latin typeface="Calibri"/>
                        </a:rPr>
                        <a:t> 4 PPG signals against ECG</a:t>
                      </a:r>
                      <a:endParaRPr lang="en-US" b="0" i="0" u="none" strike="noStrike" noProof="0" dirty="0">
                        <a:latin typeface="Calibri"/>
                      </a:endParaRPr>
                    </a:p>
                  </a:txBody>
                  <a:tcPr marL="68580" marR="68580" marT="0" marB="0"/>
                </a:tc>
                <a:tc>
                  <a:txBody>
                    <a:bodyPr/>
                    <a:lstStyle/>
                    <a:p>
                      <a:pPr>
                        <a:lnSpc>
                          <a:spcPct val="115000"/>
                        </a:lnSpc>
                        <a:spcAft>
                          <a:spcPts val="1000"/>
                        </a:spcAft>
                        <a:buNone/>
                      </a:pPr>
                      <a:r>
                        <a:rPr lang="en-US" sz="1600" dirty="0">
                          <a:effectLst/>
                        </a:rPr>
                        <a:t>Cardiovascular patients</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lvl="0">
                        <a:lnSpc>
                          <a:spcPct val="114999"/>
                        </a:lnSpc>
                        <a:spcAft>
                          <a:spcPts val="1000"/>
                        </a:spcAft>
                        <a:buNone/>
                      </a:pPr>
                      <a:r>
                        <a:rPr lang="en-US" sz="1600" b="0" i="0" u="none" strike="noStrike" noProof="0" dirty="0">
                          <a:effectLst/>
                          <a:latin typeface="Calibri"/>
                        </a:rPr>
                        <a:t>PPG unreliable during high motion</a:t>
                      </a:r>
                      <a:endParaRPr lang="en-US" dirty="0"/>
                    </a:p>
                  </a:txBody>
                  <a:tcPr marL="68580" marR="68580" marT="0" marB="0"/>
                </a:tc>
                <a:extLst>
                  <a:ext uri="{0D108BD9-81ED-4DB2-BD59-A6C34878D82A}">
                    <a16:rowId xmlns:a16="http://schemas.microsoft.com/office/drawing/2014/main" val="2807885320"/>
                  </a:ext>
                </a:extLst>
              </a:tr>
              <a:tr h="696108">
                <a:tc>
                  <a:txBody>
                    <a:bodyPr/>
                    <a:lstStyle/>
                    <a:p>
                      <a:pPr>
                        <a:lnSpc>
                          <a:spcPct val="115000"/>
                        </a:lnSpc>
                        <a:spcAft>
                          <a:spcPts val="1000"/>
                        </a:spcAft>
                        <a:buNone/>
                      </a:pPr>
                      <a:r>
                        <a:rPr lang="en-US" sz="1600" dirty="0">
                          <a:effectLst/>
                        </a:rPr>
                        <a:t>Coste et al. (2025)</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lvl="0">
                        <a:lnSpc>
                          <a:spcPct val="114999"/>
                        </a:lnSpc>
                        <a:spcAft>
                          <a:spcPts val="1000"/>
                        </a:spcAft>
                        <a:buNone/>
                      </a:pPr>
                      <a:r>
                        <a:rPr lang="en-US" sz="1600" b="0" i="0" u="none" strike="noStrike" noProof="0" dirty="0">
                          <a:effectLst/>
                          <a:latin typeface="Calibri"/>
                        </a:rPr>
                        <a:t>HRV validation across body positions</a:t>
                      </a:r>
                      <a:endParaRPr lang="en-US" dirty="0"/>
                    </a:p>
                  </a:txBody>
                  <a:tcPr marL="68580" marR="68580" marT="0" marB="0"/>
                </a:tc>
                <a:tc>
                  <a:txBody>
                    <a:bodyPr/>
                    <a:lstStyle/>
                    <a:p>
                      <a:pPr lvl="0">
                        <a:lnSpc>
                          <a:spcPct val="114999"/>
                        </a:lnSpc>
                        <a:spcAft>
                          <a:spcPts val="1000"/>
                        </a:spcAft>
                        <a:buNone/>
                      </a:pPr>
                      <a:r>
                        <a:rPr lang="en-US" sz="1600" b="0" i="0" u="none" strike="noStrike" noProof="0" dirty="0">
                          <a:effectLst/>
                          <a:latin typeface="Calibri"/>
                        </a:rPr>
                        <a:t>Compared Polar H10 vs Polar OH1 under multiple postures</a:t>
                      </a:r>
                      <a:endParaRPr lang="en-US" dirty="0"/>
                    </a:p>
                  </a:txBody>
                  <a:tcPr marL="68580" marR="68580" marT="0" marB="0"/>
                </a:tc>
                <a:tc>
                  <a:txBody>
                    <a:bodyPr/>
                    <a:lstStyle/>
                    <a:p>
                      <a:pPr lvl="0">
                        <a:lnSpc>
                          <a:spcPct val="114999"/>
                        </a:lnSpc>
                        <a:spcAft>
                          <a:spcPts val="1000"/>
                        </a:spcAft>
                        <a:buNone/>
                      </a:pPr>
                      <a:r>
                        <a:rPr lang="en-US" sz="1600" b="0" i="0" u="none" strike="noStrike" noProof="0" dirty="0">
                          <a:effectLst/>
                          <a:latin typeface="Calibri"/>
                        </a:rPr>
                        <a:t>HRV dataset under varied positions</a:t>
                      </a:r>
                      <a:endParaRPr lang="en-US" b="0" i="0" u="none" strike="noStrike" noProof="0" dirty="0">
                        <a:latin typeface="Calibri"/>
                      </a:endParaRPr>
                    </a:p>
                  </a:txBody>
                  <a:tcPr marL="68580" marR="68580" marT="0" marB="0"/>
                </a:tc>
                <a:tc>
                  <a:txBody>
                    <a:bodyPr/>
                    <a:lstStyle/>
                    <a:p>
                      <a:pPr>
                        <a:lnSpc>
                          <a:spcPct val="115000"/>
                        </a:lnSpc>
                        <a:spcAft>
                          <a:spcPts val="1000"/>
                        </a:spcAft>
                        <a:buNone/>
                      </a:pPr>
                      <a:r>
                        <a:rPr lang="en-US" sz="1600" dirty="0">
                          <a:effectLst/>
                        </a:rPr>
                        <a:t>PPG limited under motion</a:t>
                      </a:r>
                      <a:endParaRPr lang="en-US" sz="16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83204380"/>
                  </a:ext>
                </a:extLst>
              </a:tr>
              <a:tr h="696107">
                <a:tc>
                  <a:txBody>
                    <a:bodyPr/>
                    <a:lstStyle/>
                    <a:p>
                      <a:pPr lvl="0">
                        <a:lnSpc>
                          <a:spcPct val="114999"/>
                        </a:lnSpc>
                        <a:spcAft>
                          <a:spcPts val="1000"/>
                        </a:spcAft>
                        <a:buNone/>
                      </a:pPr>
                      <a:r>
                        <a:rPr lang="en-US" sz="1600" b="0" i="0" u="none" strike="noStrike" noProof="0" dirty="0">
                          <a:effectLst/>
                          <a:latin typeface="Calibri"/>
                        </a:rPr>
                        <a:t>Sartor et al. (2023)</a:t>
                      </a:r>
                      <a:endParaRPr lang="en-US" dirty="0"/>
                    </a:p>
                  </a:txBody>
                  <a:tcPr marL="68580" marR="68580" marT="0" marB="0"/>
                </a:tc>
                <a:tc>
                  <a:txBody>
                    <a:bodyPr/>
                    <a:lstStyle/>
                    <a:p>
                      <a:pPr lvl="0">
                        <a:lnSpc>
                          <a:spcPct val="114999"/>
                        </a:lnSpc>
                        <a:spcAft>
                          <a:spcPts val="1000"/>
                        </a:spcAft>
                        <a:buNone/>
                      </a:pPr>
                      <a:r>
                        <a:rPr lang="en-US" sz="1600" b="0" i="0" u="none" strike="noStrike" noProof="0" dirty="0">
                          <a:effectLst/>
                        </a:rPr>
                        <a:t>Wrist vs chest HR comparison</a:t>
                      </a:r>
                      <a:endParaRPr lang="en-US" dirty="0"/>
                    </a:p>
                  </a:txBody>
                  <a:tcPr marL="68580" marR="68580" marT="0" marB="0"/>
                </a:tc>
                <a:tc>
                  <a:txBody>
                    <a:bodyPr/>
                    <a:lstStyle/>
                    <a:p>
                      <a:pPr lvl="0">
                        <a:lnSpc>
                          <a:spcPct val="114999"/>
                        </a:lnSpc>
                        <a:spcAft>
                          <a:spcPts val="1000"/>
                        </a:spcAft>
                        <a:buNone/>
                      </a:pPr>
                      <a:r>
                        <a:rPr lang="en-US" sz="1600" b="0" i="0" u="none" strike="noStrike" noProof="0" dirty="0">
                          <a:effectLst/>
                        </a:rPr>
                        <a:t>Compared optical wrist sensors with Polar H10 chest strap</a:t>
                      </a:r>
                      <a:endParaRPr lang="en-US" dirty="0"/>
                    </a:p>
                  </a:txBody>
                  <a:tcPr marL="68580" marR="68580" marT="0" marB="0"/>
                </a:tc>
                <a:tc>
                  <a:txBody>
                    <a:bodyPr/>
                    <a:lstStyle/>
                    <a:p>
                      <a:pPr lvl="0">
                        <a:lnSpc>
                          <a:spcPct val="114999"/>
                        </a:lnSpc>
                        <a:spcAft>
                          <a:spcPts val="1000"/>
                        </a:spcAft>
                        <a:buNone/>
                      </a:pPr>
                      <a:r>
                        <a:rPr lang="en-US" sz="1600" b="0" i="0" u="none" strike="noStrike" noProof="0" dirty="0">
                          <a:effectLst/>
                        </a:rPr>
                        <a:t>Healthy and cardiac subjects</a:t>
                      </a:r>
                      <a:endParaRPr lang="en-US" dirty="0"/>
                    </a:p>
                  </a:txBody>
                  <a:tcPr marL="68580" marR="68580" marT="0" marB="0"/>
                </a:tc>
                <a:tc>
                  <a:txBody>
                    <a:bodyPr/>
                    <a:lstStyle/>
                    <a:p>
                      <a:pPr lvl="0">
                        <a:lnSpc>
                          <a:spcPct val="114999"/>
                        </a:lnSpc>
                        <a:spcAft>
                          <a:spcPts val="1000"/>
                        </a:spcAft>
                        <a:buNone/>
                      </a:pPr>
                      <a:r>
                        <a:rPr lang="en-US" sz="1600" b="0" i="0" u="none" strike="noStrike" noProof="0" dirty="0">
                          <a:effectLst/>
                          <a:latin typeface="Calibri"/>
                        </a:rPr>
                        <a:t>Wrist sensors inaccurate during vigorous activity</a:t>
                      </a:r>
                      <a:endParaRPr lang="en-US" dirty="0"/>
                    </a:p>
                  </a:txBody>
                  <a:tcPr marL="68580" marR="68580" marT="0" marB="0"/>
                </a:tc>
                <a:extLst>
                  <a:ext uri="{0D108BD9-81ED-4DB2-BD59-A6C34878D82A}">
                    <a16:rowId xmlns:a16="http://schemas.microsoft.com/office/drawing/2014/main" val="3230015319"/>
                  </a:ext>
                </a:extLst>
              </a:tr>
            </a:tbl>
          </a:graphicData>
        </a:graphic>
      </p:graphicFrame>
    </p:spTree>
    <p:extLst>
      <p:ext uri="{BB962C8B-B14F-4D97-AF65-F5344CB8AC3E}">
        <p14:creationId xmlns:p14="http://schemas.microsoft.com/office/powerpoint/2010/main" val="1667201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E7C3BAC-0B81-E9FD-C292-7767481F93D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F206E87-FFED-9D30-F6BF-E252571E743B}"/>
              </a:ext>
            </a:extLst>
          </p:cNvPr>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 name="Date Placeholder 2">
            <a:extLst>
              <a:ext uri="{FF2B5EF4-FFF2-40B4-BE49-F238E27FC236}">
                <a16:creationId xmlns:a16="http://schemas.microsoft.com/office/drawing/2014/main" id="{6E1DFA81-E94D-986B-287B-CB9065ABAAE0}"/>
              </a:ext>
            </a:extLst>
          </p:cNvPr>
          <p:cNvSpPr>
            <a:spLocks noGrp="1"/>
          </p:cNvSpPr>
          <p:nvPr>
            <p:ph type="dt" sz="half" idx="10"/>
          </p:nvPr>
        </p:nvSpPr>
        <p:spPr>
          <a:xfrm>
            <a:off x="846826" y="6446836"/>
            <a:ext cx="2743200" cy="365125"/>
          </a:xfrm>
        </p:spPr>
        <p:txBody>
          <a:bodyPr/>
          <a:lstStyle/>
          <a:p>
            <a:fld id="{5B7E5161-8080-4FA4-B597-A25847D01AB0}" type="datetime1">
              <a:rPr lang="en-IN" smtClean="0">
                <a:solidFill>
                  <a:schemeClr val="bg1"/>
                </a:solidFill>
              </a:rPr>
              <a:t>20-01-2026</a:t>
            </a:fld>
            <a:endParaRPr lang="en-IN" dirty="0">
              <a:solidFill>
                <a:schemeClr val="bg1"/>
              </a:solidFill>
            </a:endParaRPr>
          </a:p>
        </p:txBody>
      </p:sp>
      <p:sp>
        <p:nvSpPr>
          <p:cNvPr id="5" name="Footer Placeholder 4">
            <a:extLst>
              <a:ext uri="{FF2B5EF4-FFF2-40B4-BE49-F238E27FC236}">
                <a16:creationId xmlns:a16="http://schemas.microsoft.com/office/drawing/2014/main" id="{F1B34F0D-824B-42A1-9B0A-BEA654CD0447}"/>
              </a:ext>
            </a:extLst>
          </p:cNvPr>
          <p:cNvSpPr>
            <a:spLocks noGrp="1"/>
          </p:cNvSpPr>
          <p:nvPr>
            <p:ph type="ftr" sz="quarter" idx="11"/>
          </p:nvPr>
        </p:nvSpPr>
        <p:spPr>
          <a:xfrm>
            <a:off x="4047226" y="6446837"/>
            <a:ext cx="4114800" cy="365125"/>
          </a:xfrm>
        </p:spPr>
        <p:txBody>
          <a:bodyPr/>
          <a:lstStyle/>
          <a:p>
            <a:r>
              <a:rPr lang="en-US" dirty="0">
                <a:solidFill>
                  <a:schemeClr val="bg1"/>
                </a:solidFill>
              </a:rPr>
              <a:t>Department Of Computer Science and Engineering </a:t>
            </a:r>
            <a:endParaRPr lang="en-IN" dirty="0">
              <a:solidFill>
                <a:schemeClr val="bg1"/>
              </a:solidFill>
            </a:endParaRPr>
          </a:p>
        </p:txBody>
      </p:sp>
      <p:sp>
        <p:nvSpPr>
          <p:cNvPr id="6" name="Slide Number Placeholder 5">
            <a:extLst>
              <a:ext uri="{FF2B5EF4-FFF2-40B4-BE49-F238E27FC236}">
                <a16:creationId xmlns:a16="http://schemas.microsoft.com/office/drawing/2014/main" id="{1B3DFEBA-D3EA-F9EE-CD9C-E27887812EC7}"/>
              </a:ext>
            </a:extLst>
          </p:cNvPr>
          <p:cNvSpPr>
            <a:spLocks noGrp="1"/>
          </p:cNvSpPr>
          <p:nvPr>
            <p:ph type="sldNum" sz="quarter" idx="12"/>
          </p:nvPr>
        </p:nvSpPr>
        <p:spPr>
          <a:xfrm>
            <a:off x="8627852" y="6446837"/>
            <a:ext cx="2743200" cy="365125"/>
          </a:xfrm>
        </p:spPr>
        <p:txBody>
          <a:bodyPr/>
          <a:lstStyle/>
          <a:p>
            <a:fld id="{6B620516-70CF-47FE-AA80-3DABE7EA9D45}" type="slidenum">
              <a:rPr lang="en-IN" smtClean="0">
                <a:solidFill>
                  <a:schemeClr val="bg1"/>
                </a:solidFill>
              </a:rPr>
              <a:t>4</a:t>
            </a:fld>
            <a:endParaRPr lang="en-IN" dirty="0">
              <a:solidFill>
                <a:schemeClr val="bg1"/>
              </a:solidFill>
            </a:endParaRPr>
          </a:p>
        </p:txBody>
      </p:sp>
      <p:sp>
        <p:nvSpPr>
          <p:cNvPr id="8" name="Title 1">
            <a:extLst>
              <a:ext uri="{FF2B5EF4-FFF2-40B4-BE49-F238E27FC236}">
                <a16:creationId xmlns:a16="http://schemas.microsoft.com/office/drawing/2014/main" id="{BC5EF449-EB93-35A2-383C-A1C0AB29F40B}"/>
              </a:ext>
            </a:extLst>
          </p:cNvPr>
          <p:cNvSpPr txBox="1"/>
          <p:nvPr/>
        </p:nvSpPr>
        <p:spPr>
          <a:xfrm>
            <a:off x="4047226" y="0"/>
            <a:ext cx="4519283" cy="150966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Literature survey 	</a:t>
            </a:r>
          </a:p>
        </p:txBody>
      </p:sp>
      <p:graphicFrame>
        <p:nvGraphicFramePr>
          <p:cNvPr id="9" name="Table 8">
            <a:extLst>
              <a:ext uri="{FF2B5EF4-FFF2-40B4-BE49-F238E27FC236}">
                <a16:creationId xmlns:a16="http://schemas.microsoft.com/office/drawing/2014/main" id="{0FFF5930-DDD4-B41B-59CA-841A5CD5DF27}"/>
              </a:ext>
            </a:extLst>
          </p:cNvPr>
          <p:cNvGraphicFramePr>
            <a:graphicFrameLocks noGrp="1"/>
          </p:cNvGraphicFramePr>
          <p:nvPr>
            <p:extLst>
              <p:ext uri="{D42A27DB-BD31-4B8C-83A1-F6EECF244321}">
                <p14:modId xmlns:p14="http://schemas.microsoft.com/office/powerpoint/2010/main" val="530619709"/>
              </p:ext>
            </p:extLst>
          </p:nvPr>
        </p:nvGraphicFramePr>
        <p:xfrm>
          <a:off x="890587" y="694182"/>
          <a:ext cx="10410825" cy="5593334"/>
        </p:xfrm>
        <a:graphic>
          <a:graphicData uri="http://schemas.openxmlformats.org/drawingml/2006/table">
            <a:tbl>
              <a:tblPr bandRow="1">
                <a:tableStyleId>{5C22544A-7EE6-4342-B048-85BDC9FD1C3A}</a:tableStyleId>
              </a:tblPr>
              <a:tblGrid>
                <a:gridCol w="1495425">
                  <a:extLst>
                    <a:ext uri="{9D8B030D-6E8A-4147-A177-3AD203B41FA5}">
                      <a16:colId xmlns:a16="http://schemas.microsoft.com/office/drawing/2014/main" val="4075241504"/>
                    </a:ext>
                  </a:extLst>
                </a:gridCol>
                <a:gridCol w="1924050">
                  <a:extLst>
                    <a:ext uri="{9D8B030D-6E8A-4147-A177-3AD203B41FA5}">
                      <a16:colId xmlns:a16="http://schemas.microsoft.com/office/drawing/2014/main" val="3757749168"/>
                    </a:ext>
                  </a:extLst>
                </a:gridCol>
                <a:gridCol w="2333625">
                  <a:extLst>
                    <a:ext uri="{9D8B030D-6E8A-4147-A177-3AD203B41FA5}">
                      <a16:colId xmlns:a16="http://schemas.microsoft.com/office/drawing/2014/main" val="1788334037"/>
                    </a:ext>
                  </a:extLst>
                </a:gridCol>
                <a:gridCol w="2609850">
                  <a:extLst>
                    <a:ext uri="{9D8B030D-6E8A-4147-A177-3AD203B41FA5}">
                      <a16:colId xmlns:a16="http://schemas.microsoft.com/office/drawing/2014/main" val="638940869"/>
                    </a:ext>
                  </a:extLst>
                </a:gridCol>
                <a:gridCol w="2047875">
                  <a:extLst>
                    <a:ext uri="{9D8B030D-6E8A-4147-A177-3AD203B41FA5}">
                      <a16:colId xmlns:a16="http://schemas.microsoft.com/office/drawing/2014/main" val="643753354"/>
                    </a:ext>
                  </a:extLst>
                </a:gridCol>
              </a:tblGrid>
              <a:tr h="333375">
                <a:tc>
                  <a:txBody>
                    <a:bodyPr/>
                    <a:lstStyle/>
                    <a:p>
                      <a:pPr fontAlgn="base">
                        <a:lnSpc>
                          <a:spcPts val="2175"/>
                        </a:lnSpc>
                        <a:buNone/>
                      </a:pPr>
                      <a:r>
                        <a:rPr lang="en-US" sz="1600" b="1" dirty="0">
                          <a:solidFill>
                            <a:srgbClr val="FFFFFF"/>
                          </a:solidFill>
                          <a:effectLst/>
                          <a:latin typeface="Calibri"/>
                        </a:rPr>
                        <a:t>Author (Year)</a:t>
                      </a:r>
                      <a:endParaRPr lang="en-US" b="1" dirty="0">
                        <a:solidFill>
                          <a:srgbClr val="FFFFFF"/>
                        </a:solidFill>
                        <a:effectLst/>
                        <a:latin typeface="Calibri"/>
                      </a:endParaRP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4472C4"/>
                    </a:solidFill>
                  </a:tcPr>
                </a:tc>
                <a:tc>
                  <a:txBody>
                    <a:bodyPr/>
                    <a:lstStyle/>
                    <a:p>
                      <a:pPr fontAlgn="base">
                        <a:lnSpc>
                          <a:spcPts val="2175"/>
                        </a:lnSpc>
                        <a:buNone/>
                      </a:pPr>
                      <a:r>
                        <a:rPr lang="en-US" sz="1600" b="1" dirty="0">
                          <a:solidFill>
                            <a:srgbClr val="FFFFFF"/>
                          </a:solidFill>
                          <a:effectLst/>
                          <a:latin typeface="Calibri"/>
                        </a:rPr>
                        <a:t>Approach</a:t>
                      </a:r>
                      <a:endParaRPr lang="en-US" b="1" dirty="0">
                        <a:solidFill>
                          <a:srgbClr val="FFFFFF"/>
                        </a:solidFill>
                        <a:effectLst/>
                        <a:latin typeface="Calibri"/>
                      </a:endParaRP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4472C4"/>
                    </a:solidFill>
                  </a:tcPr>
                </a:tc>
                <a:tc>
                  <a:txBody>
                    <a:bodyPr/>
                    <a:lstStyle/>
                    <a:p>
                      <a:pPr fontAlgn="base">
                        <a:lnSpc>
                          <a:spcPts val="2175"/>
                        </a:lnSpc>
                        <a:buNone/>
                      </a:pPr>
                      <a:r>
                        <a:rPr lang="en-US" sz="1600" b="1" dirty="0">
                          <a:solidFill>
                            <a:srgbClr val="FFFFFF"/>
                          </a:solidFill>
                          <a:effectLst/>
                          <a:latin typeface="Calibri"/>
                        </a:rPr>
                        <a:t>Methodology</a:t>
                      </a:r>
                      <a:endParaRPr lang="en-US" b="1" dirty="0">
                        <a:solidFill>
                          <a:srgbClr val="FFFFFF"/>
                        </a:solidFill>
                        <a:effectLst/>
                        <a:latin typeface="Calibri"/>
                      </a:endParaRP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4472C4"/>
                    </a:solidFill>
                  </a:tcPr>
                </a:tc>
                <a:tc>
                  <a:txBody>
                    <a:bodyPr/>
                    <a:lstStyle/>
                    <a:p>
                      <a:pPr fontAlgn="base">
                        <a:lnSpc>
                          <a:spcPts val="2175"/>
                        </a:lnSpc>
                        <a:buNone/>
                      </a:pPr>
                      <a:r>
                        <a:rPr lang="en-US" sz="1600" b="1" dirty="0">
                          <a:solidFill>
                            <a:srgbClr val="FFFFFF"/>
                          </a:solidFill>
                          <a:effectLst/>
                          <a:latin typeface="Calibri"/>
                        </a:rPr>
                        <a:t>Dataset</a:t>
                      </a:r>
                      <a:endParaRPr lang="en-US" b="1" dirty="0">
                        <a:solidFill>
                          <a:srgbClr val="FFFFFF"/>
                        </a:solidFill>
                        <a:effectLst/>
                        <a:latin typeface="Calibri"/>
                      </a:endParaRP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4472C4"/>
                    </a:solidFill>
                  </a:tcPr>
                </a:tc>
                <a:tc>
                  <a:txBody>
                    <a:bodyPr/>
                    <a:lstStyle/>
                    <a:p>
                      <a:pPr fontAlgn="base">
                        <a:lnSpc>
                          <a:spcPts val="2175"/>
                        </a:lnSpc>
                        <a:buNone/>
                      </a:pPr>
                      <a:r>
                        <a:rPr lang="en-US" sz="1600" b="1" dirty="0">
                          <a:solidFill>
                            <a:srgbClr val="FFFFFF"/>
                          </a:solidFill>
                          <a:effectLst/>
                          <a:latin typeface="Calibri"/>
                        </a:rPr>
                        <a:t>Disadvantages</a:t>
                      </a:r>
                      <a:endParaRPr lang="en-US" b="1" dirty="0">
                        <a:solidFill>
                          <a:srgbClr val="FFFFFF"/>
                        </a:solidFill>
                        <a:effectLst/>
                        <a:latin typeface="Calibri"/>
                      </a:endParaRP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950031942"/>
                  </a:ext>
                </a:extLst>
              </a:tr>
              <a:tr h="1047750">
                <a:tc>
                  <a:txBody>
                    <a:bodyPr/>
                    <a:lstStyle/>
                    <a:p>
                      <a:pPr lvl="0">
                        <a:lnSpc>
                          <a:spcPts val="2175"/>
                        </a:lnSpc>
                        <a:buNone/>
                      </a:pPr>
                      <a:r>
                        <a:rPr lang="en-US" sz="1600" b="1" i="0" u="none" strike="noStrike" noProof="0" err="1">
                          <a:solidFill>
                            <a:srgbClr val="FFFFFF"/>
                          </a:solidFill>
                          <a:effectLst/>
                        </a:rPr>
                        <a:t>Edubirdie</a:t>
                      </a:r>
                      <a:r>
                        <a:rPr lang="en-US" sz="1600" b="1" i="0" u="none" strike="noStrike" noProof="0" dirty="0">
                          <a:solidFill>
                            <a:srgbClr val="FFFFFF"/>
                          </a:solidFill>
                          <a:effectLst/>
                        </a:rPr>
                        <a:t> et al. (2022)</a:t>
                      </a: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6289"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lvl="0">
                        <a:lnSpc>
                          <a:spcPts val="2175"/>
                        </a:lnSpc>
                        <a:buNone/>
                      </a:pPr>
                      <a:r>
                        <a:rPr lang="en-US" sz="1600" b="0" i="0" u="none" strike="noStrike" noProof="0" dirty="0">
                          <a:effectLst/>
                        </a:rPr>
                        <a:t>Comparative wearable HR study</a:t>
                      </a:r>
                      <a:endParaRPr lang="en-US" dirty="0"/>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6289"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FD5EA"/>
                    </a:solidFill>
                  </a:tcPr>
                </a:tc>
                <a:tc>
                  <a:txBody>
                    <a:bodyPr/>
                    <a:lstStyle/>
                    <a:p>
                      <a:pPr lvl="0">
                        <a:lnSpc>
                          <a:spcPts val="2175"/>
                        </a:lnSpc>
                        <a:buNone/>
                      </a:pPr>
                      <a:r>
                        <a:rPr lang="en-US" sz="1600" b="0" i="0" u="none" strike="noStrike" noProof="0" dirty="0">
                          <a:effectLst/>
                        </a:rPr>
                        <a:t>Compared Fitbit, Mio, </a:t>
                      </a:r>
                      <a:r>
                        <a:rPr lang="en-US" sz="1600" b="0" i="0" u="none" strike="noStrike" noProof="0" dirty="0" err="1">
                          <a:effectLst/>
                        </a:rPr>
                        <a:t>Scosche</a:t>
                      </a:r>
                      <a:r>
                        <a:rPr lang="en-US" sz="1600" b="0" i="0" u="none" strike="noStrike" noProof="0" dirty="0">
                          <a:effectLst/>
                        </a:rPr>
                        <a:t>, Garmin, and Polar H7 with ECG</a:t>
                      </a:r>
                      <a:endParaRPr lang="en-US" dirty="0"/>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6289"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FD5EA"/>
                    </a:solidFill>
                  </a:tcPr>
                </a:tc>
                <a:tc>
                  <a:txBody>
                    <a:bodyPr/>
                    <a:lstStyle/>
                    <a:p>
                      <a:pPr lvl="0">
                        <a:lnSpc>
                          <a:spcPts val="2175"/>
                        </a:lnSpc>
                        <a:buNone/>
                      </a:pPr>
                      <a:r>
                        <a:rPr lang="en-US" sz="1600" b="0" i="0" u="none" strike="noStrike" noProof="0" dirty="0">
                          <a:effectLst/>
                        </a:rPr>
                        <a:t>Exercise dataset</a:t>
                      </a:r>
                      <a:endParaRPr lang="en-US" dirty="0"/>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6289"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FD5EA"/>
                    </a:solidFill>
                  </a:tcPr>
                </a:tc>
                <a:tc>
                  <a:txBody>
                    <a:bodyPr/>
                    <a:lstStyle/>
                    <a:p>
                      <a:pPr lvl="0">
                        <a:lnSpc>
                          <a:spcPts val="2175"/>
                        </a:lnSpc>
                        <a:buNone/>
                      </a:pPr>
                      <a:r>
                        <a:rPr lang="en-US" sz="1600" b="0" i="0" u="none" strike="noStrike" noProof="0" dirty="0">
                          <a:effectLst/>
                        </a:rPr>
                        <a:t>Tested on older-generation devices</a:t>
                      </a:r>
                      <a:endParaRPr lang="en-US" dirty="0"/>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6289"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3100466628"/>
                  </a:ext>
                </a:extLst>
              </a:tr>
              <a:tr h="1047750">
                <a:tc>
                  <a:txBody>
                    <a:bodyPr/>
                    <a:lstStyle/>
                    <a:p>
                      <a:pPr lvl="0">
                        <a:lnSpc>
                          <a:spcPts val="2175"/>
                        </a:lnSpc>
                        <a:buNone/>
                      </a:pPr>
                      <a:r>
                        <a:rPr lang="en-US" sz="1600" b="1" i="0" u="none" strike="noStrike" noProof="0" dirty="0">
                          <a:solidFill>
                            <a:srgbClr val="FFFFFF"/>
                          </a:solidFill>
                          <a:effectLst/>
                        </a:rPr>
                        <a:t>Sibomana et al. (2025)</a:t>
                      </a:r>
                      <a:endParaRPr lang="en-US" b="1" i="0" u="none" strike="noStrike" noProof="0"/>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4472C4"/>
                    </a:solidFill>
                  </a:tcPr>
                </a:tc>
                <a:tc>
                  <a:txBody>
                    <a:bodyPr/>
                    <a:lstStyle/>
                    <a:p>
                      <a:pPr lvl="0">
                        <a:lnSpc>
                          <a:spcPts val="2175"/>
                        </a:lnSpc>
                        <a:buNone/>
                      </a:pPr>
                      <a:r>
                        <a:rPr lang="en-US" sz="1600" b="0" i="0" u="none" strike="noStrike" noProof="0" dirty="0">
                          <a:effectLst/>
                        </a:rPr>
                        <a:t>Systematic AF detection review</a:t>
                      </a:r>
                      <a:endParaRPr lang="en-US" dirty="0"/>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lvl="0">
                        <a:lnSpc>
                          <a:spcPts val="2175"/>
                        </a:lnSpc>
                        <a:buNone/>
                      </a:pPr>
                      <a:r>
                        <a:rPr lang="en-US" sz="1600" b="0" i="0" u="none" strike="noStrike" noProof="0" dirty="0">
                          <a:effectLst/>
                        </a:rPr>
                        <a:t>Compared ECG patches with PPG-based smartwatches</a:t>
                      </a:r>
                      <a:endParaRPr lang="en-US" dirty="0"/>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lvl="0">
                        <a:lnSpc>
                          <a:spcPts val="2175"/>
                        </a:lnSpc>
                        <a:buNone/>
                      </a:pPr>
                      <a:r>
                        <a:rPr lang="en-US" sz="1600" b="0" i="0" u="none" strike="noStrike" noProof="0" dirty="0">
                          <a:effectLst/>
                        </a:rPr>
                        <a:t>Multiple AF studies</a:t>
                      </a:r>
                      <a:endParaRPr lang="en-US" dirty="0"/>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lvl="0">
                        <a:lnSpc>
                          <a:spcPts val="2175"/>
                        </a:lnSpc>
                        <a:buNone/>
                      </a:pPr>
                      <a:r>
                        <a:rPr lang="en-US" sz="1600" b="0" i="0" u="none" strike="noStrike" noProof="0" dirty="0">
                          <a:effectLst/>
                        </a:rPr>
                        <a:t>Heterogeneous designs reduce comparability</a:t>
                      </a:r>
                      <a:endParaRPr lang="en-US" dirty="0"/>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884648716"/>
                  </a:ext>
                </a:extLst>
              </a:tr>
              <a:tr h="1047750">
                <a:tc>
                  <a:txBody>
                    <a:bodyPr/>
                    <a:lstStyle/>
                    <a:p>
                      <a:pPr lvl="0">
                        <a:lnSpc>
                          <a:spcPts val="2175"/>
                        </a:lnSpc>
                        <a:buNone/>
                      </a:pPr>
                      <a:r>
                        <a:rPr lang="en-US" sz="1600" b="1" i="0" u="none" strike="noStrike" noProof="0" dirty="0">
                          <a:solidFill>
                            <a:srgbClr val="FFFFFF"/>
                          </a:solidFill>
                          <a:effectLst/>
                          <a:latin typeface="Calibri"/>
                        </a:rPr>
                        <a:t>Luo et al. (2025)</a:t>
                      </a:r>
                      <a:endParaRPr lang="en-US" b="1"/>
                    </a:p>
                  </a:txBody>
                  <a:tcPr marL="68580" marR="68580">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4472C4"/>
                    </a:solidFill>
                  </a:tcPr>
                </a:tc>
                <a:tc>
                  <a:txBody>
                    <a:bodyPr/>
                    <a:lstStyle/>
                    <a:p>
                      <a:pPr lvl="0" algn="l">
                        <a:lnSpc>
                          <a:spcPct val="100000"/>
                        </a:lnSpc>
                        <a:spcBef>
                          <a:spcPts val="0"/>
                        </a:spcBef>
                        <a:spcAft>
                          <a:spcPts val="0"/>
                        </a:spcAft>
                        <a:buNone/>
                      </a:pPr>
                      <a:r>
                        <a:rPr lang="en-US" dirty="0"/>
                        <a:t>Systematic AF smartwatch review</a:t>
                      </a:r>
                    </a:p>
                    <a:p>
                      <a:pPr lvl="0">
                        <a:lnSpc>
                          <a:spcPts val="2175"/>
                        </a:lnSpc>
                        <a:buNone/>
                      </a:pPr>
                      <a:endParaRPr lang="en-US" sz="1600" b="0" i="0" u="none" strike="noStrike" noProof="0" dirty="0">
                        <a:effectLst/>
                      </a:endParaRPr>
                    </a:p>
                  </a:txBody>
                  <a:tcPr marL="68580" marR="68580">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9EBF5"/>
                    </a:solidFill>
                  </a:tcPr>
                </a:tc>
                <a:tc>
                  <a:txBody>
                    <a:bodyPr/>
                    <a:lstStyle/>
                    <a:p>
                      <a:pPr lvl="0">
                        <a:lnSpc>
                          <a:spcPts val="2175"/>
                        </a:lnSpc>
                        <a:buNone/>
                      </a:pPr>
                      <a:r>
                        <a:rPr lang="en-US" sz="1600" b="0" i="0" u="none" strike="noStrike" noProof="0" dirty="0">
                          <a:effectLst/>
                          <a:latin typeface="Calibri"/>
                        </a:rPr>
                        <a:t>Compared ECG-based vs PPG-based devices</a:t>
                      </a:r>
                      <a:endParaRPr lang="en-US" dirty="0"/>
                    </a:p>
                  </a:txBody>
                  <a:tcPr marL="68580" marR="68580">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9EBF5"/>
                    </a:solidFill>
                  </a:tcPr>
                </a:tc>
                <a:tc>
                  <a:txBody>
                    <a:bodyPr/>
                    <a:lstStyle/>
                    <a:p>
                      <a:pPr lvl="0">
                        <a:lnSpc>
                          <a:spcPts val="2175"/>
                        </a:lnSpc>
                        <a:buNone/>
                      </a:pPr>
                      <a:r>
                        <a:rPr lang="en-US" sz="1600" b="0" i="0" u="none" strike="noStrike" noProof="0" dirty="0">
                          <a:effectLst/>
                          <a:latin typeface="Calibri"/>
                        </a:rPr>
                        <a:t>Aggregated AF datasets</a:t>
                      </a:r>
                      <a:endParaRPr lang="en-US" dirty="0"/>
                    </a:p>
                  </a:txBody>
                  <a:tcPr marL="68580" marR="68580">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9EBF5"/>
                    </a:solidFill>
                  </a:tcPr>
                </a:tc>
                <a:tc>
                  <a:txBody>
                    <a:bodyPr/>
                    <a:lstStyle/>
                    <a:p>
                      <a:pPr lvl="0">
                        <a:lnSpc>
                          <a:spcPts val="2175"/>
                        </a:lnSpc>
                        <a:buNone/>
                      </a:pPr>
                      <a:r>
                        <a:rPr lang="en-US" sz="1600" b="0" i="0" u="none" strike="noStrike" noProof="0" dirty="0">
                          <a:effectLst/>
                          <a:latin typeface="Calibri"/>
                        </a:rPr>
                        <a:t>ECG-based watches less accessible</a:t>
                      </a:r>
                      <a:endParaRPr lang="en-US" dirty="0"/>
                    </a:p>
                  </a:txBody>
                  <a:tcPr marL="68580" marR="68580">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2721980843"/>
                  </a:ext>
                </a:extLst>
              </a:tr>
              <a:tr h="1047750">
                <a:tc>
                  <a:txBody>
                    <a:bodyPr/>
                    <a:lstStyle/>
                    <a:p>
                      <a:pPr lvl="0">
                        <a:lnSpc>
                          <a:spcPts val="2175"/>
                        </a:lnSpc>
                        <a:buNone/>
                      </a:pPr>
                      <a:r>
                        <a:rPr lang="en-US" sz="1600" b="1" i="0" u="none" strike="noStrike" noProof="0" dirty="0">
                          <a:solidFill>
                            <a:srgbClr val="FFFFFF"/>
                          </a:solidFill>
                          <a:effectLst/>
                          <a:latin typeface="Calibri"/>
                        </a:rPr>
                        <a:t>Martín-Escudero et al. (2023)</a:t>
                      </a:r>
                      <a:endParaRPr lang="en-US" b="1"/>
                    </a:p>
                  </a:txBody>
                  <a:tcPr marL="68580" marR="68580">
                    <a:lnL w="9524">
                      <a:solidFill>
                        <a:srgbClr val="FFFFFF"/>
                      </a:solidFill>
                    </a:lnL>
                    <a:lnR w="9524">
                      <a:solidFill>
                        <a:srgbClr val="FFFFFF"/>
                      </a:solidFill>
                    </a:lnR>
                    <a:lnT w="9524">
                      <a:solidFill>
                        <a:srgbClr val="FFFFFF"/>
                      </a:solidFill>
                    </a:lnT>
                    <a:lnB w="9524" cap="flat" cmpd="sng" algn="ctr">
                      <a:solidFill>
                        <a:srgbClr val="FFFFFF"/>
                      </a:solidFill>
                      <a:prstDash val="solid"/>
                      <a:round/>
                      <a:headEnd type="none" w="med" len="med"/>
                      <a:tailEnd type="none" w="med" len="med"/>
                    </a:lnB>
                    <a:solidFill>
                      <a:srgbClr val="4472C4"/>
                    </a:solidFill>
                  </a:tcPr>
                </a:tc>
                <a:tc>
                  <a:txBody>
                    <a:bodyPr/>
                    <a:lstStyle/>
                    <a:p>
                      <a:pPr lvl="0">
                        <a:lnSpc>
                          <a:spcPts val="2175"/>
                        </a:lnSpc>
                        <a:buNone/>
                      </a:pPr>
                      <a:r>
                        <a:rPr lang="en-US" sz="1600" b="0" i="0" u="none" strike="noStrike" noProof="0" dirty="0">
                          <a:effectLst/>
                          <a:latin typeface="Calibri"/>
                        </a:rPr>
                        <a:t>Exercise-based HR validation</a:t>
                      </a:r>
                      <a:endParaRPr lang="en-US" dirty="0"/>
                    </a:p>
                  </a:txBody>
                  <a:tcPr marL="68580" marR="68580">
                    <a:lnL w="9524">
                      <a:solidFill>
                        <a:srgbClr val="FFFFFF"/>
                      </a:solidFill>
                    </a:lnL>
                    <a:lnR w="9524">
                      <a:solidFill>
                        <a:srgbClr val="FFFFFF"/>
                      </a:solidFill>
                    </a:lnR>
                    <a:lnT w="9524">
                      <a:solidFill>
                        <a:srgbClr val="FFFFFF"/>
                      </a:solidFill>
                    </a:lnT>
                    <a:lnB w="9524" cap="flat" cmpd="sng" algn="ctr">
                      <a:solidFill>
                        <a:srgbClr val="FFFFFF"/>
                      </a:solidFill>
                      <a:prstDash val="solid"/>
                      <a:round/>
                      <a:headEnd type="none" w="med" len="med"/>
                      <a:tailEnd type="none" w="med" len="med"/>
                    </a:lnB>
                    <a:solidFill>
                      <a:srgbClr val="E9EBF5"/>
                    </a:solidFill>
                  </a:tcPr>
                </a:tc>
                <a:tc>
                  <a:txBody>
                    <a:bodyPr/>
                    <a:lstStyle/>
                    <a:p>
                      <a:pPr lvl="0">
                        <a:lnSpc>
                          <a:spcPts val="2175"/>
                        </a:lnSpc>
                        <a:buNone/>
                      </a:pPr>
                      <a:r>
                        <a:rPr lang="en-US" sz="1600" b="0" i="0" u="none" strike="noStrike" noProof="0" dirty="0">
                          <a:effectLst/>
                          <a:latin typeface="Calibri"/>
                        </a:rPr>
                        <a:t>Compared Polar M600 vs ECG during intense workouts</a:t>
                      </a:r>
                      <a:endParaRPr lang="en-US" dirty="0"/>
                    </a:p>
                  </a:txBody>
                  <a:tcPr marL="68580" marR="68580">
                    <a:lnL w="9524">
                      <a:solidFill>
                        <a:srgbClr val="FFFFFF"/>
                      </a:solidFill>
                    </a:lnL>
                    <a:lnR w="9524">
                      <a:solidFill>
                        <a:srgbClr val="FFFFFF"/>
                      </a:solidFill>
                    </a:lnR>
                    <a:lnT w="9524">
                      <a:solidFill>
                        <a:srgbClr val="FFFFFF"/>
                      </a:solidFill>
                    </a:lnT>
                    <a:lnB w="9524" cap="flat" cmpd="sng" algn="ctr">
                      <a:solidFill>
                        <a:srgbClr val="FFFFFF"/>
                      </a:solidFill>
                      <a:prstDash val="solid"/>
                      <a:round/>
                      <a:headEnd type="none" w="med" len="med"/>
                      <a:tailEnd type="none" w="med" len="med"/>
                    </a:lnB>
                    <a:solidFill>
                      <a:srgbClr val="E9EBF5"/>
                    </a:solidFill>
                  </a:tcPr>
                </a:tc>
                <a:tc>
                  <a:txBody>
                    <a:bodyPr/>
                    <a:lstStyle/>
                    <a:p>
                      <a:pPr lvl="0">
                        <a:lnSpc>
                          <a:spcPts val="2175"/>
                        </a:lnSpc>
                        <a:buNone/>
                      </a:pPr>
                      <a:r>
                        <a:rPr lang="en-US" sz="1600" b="0" i="0" u="none" strike="noStrike" noProof="0" dirty="0">
                          <a:effectLst/>
                          <a:latin typeface="Calibri"/>
                        </a:rPr>
                        <a:t>High-intensity activity dataset</a:t>
                      </a:r>
                      <a:endParaRPr lang="en-US" dirty="0"/>
                    </a:p>
                  </a:txBody>
                  <a:tcPr marL="68580" marR="68580">
                    <a:lnL w="9524">
                      <a:solidFill>
                        <a:srgbClr val="FFFFFF"/>
                      </a:solidFill>
                    </a:lnL>
                    <a:lnR w="9524">
                      <a:solidFill>
                        <a:srgbClr val="FFFFFF"/>
                      </a:solidFill>
                    </a:lnR>
                    <a:lnT w="9524">
                      <a:solidFill>
                        <a:srgbClr val="FFFFFF"/>
                      </a:solidFill>
                    </a:lnT>
                    <a:lnB w="9524" cap="flat" cmpd="sng" algn="ctr">
                      <a:solidFill>
                        <a:srgbClr val="FFFFFF"/>
                      </a:solidFill>
                      <a:prstDash val="solid"/>
                      <a:round/>
                      <a:headEnd type="none" w="med" len="med"/>
                      <a:tailEnd type="none" w="med" len="med"/>
                    </a:lnB>
                    <a:solidFill>
                      <a:srgbClr val="E9EBF5"/>
                    </a:solidFill>
                  </a:tcPr>
                </a:tc>
                <a:tc>
                  <a:txBody>
                    <a:bodyPr/>
                    <a:lstStyle/>
                    <a:p>
                      <a:pPr lvl="0">
                        <a:lnSpc>
                          <a:spcPts val="2175"/>
                        </a:lnSpc>
                        <a:buNone/>
                      </a:pPr>
                      <a:r>
                        <a:rPr lang="en-US" sz="1600" b="0" i="0" u="none" strike="noStrike" noProof="0" dirty="0">
                          <a:effectLst/>
                          <a:latin typeface="Calibri"/>
                        </a:rPr>
                        <a:t>Accuracy drops with intensity</a:t>
                      </a:r>
                      <a:endParaRPr lang="en-US" dirty="0"/>
                    </a:p>
                  </a:txBody>
                  <a:tcPr marL="68580" marR="68580">
                    <a:lnL w="9524">
                      <a:solidFill>
                        <a:srgbClr val="FFFFFF"/>
                      </a:solidFill>
                    </a:lnL>
                    <a:lnR w="9524">
                      <a:solidFill>
                        <a:srgbClr val="FFFFFF"/>
                      </a:solidFill>
                    </a:lnR>
                    <a:lnT w="9524">
                      <a:solidFill>
                        <a:srgbClr val="FFFFFF"/>
                      </a:solidFill>
                    </a:lnT>
                    <a:lnB w="9524"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2614327045"/>
                  </a:ext>
                </a:extLst>
              </a:tr>
              <a:tr h="1047750">
                <a:tc>
                  <a:txBody>
                    <a:bodyPr/>
                    <a:lstStyle/>
                    <a:p>
                      <a:pPr lvl="0">
                        <a:lnSpc>
                          <a:spcPts val="2175"/>
                        </a:lnSpc>
                        <a:buNone/>
                      </a:pPr>
                      <a:r>
                        <a:rPr lang="en-US" sz="1600" b="1" i="0" u="none" strike="noStrike" noProof="0" err="1">
                          <a:solidFill>
                            <a:srgbClr val="FFFFFF"/>
                          </a:solidFill>
                          <a:effectLst/>
                          <a:latin typeface="Calibri"/>
                        </a:rPr>
                        <a:t>Schaffarczyk</a:t>
                      </a:r>
                      <a:r>
                        <a:rPr lang="en-US" sz="1600" b="1" i="0" u="none" strike="noStrike" noProof="0" dirty="0">
                          <a:solidFill>
                            <a:srgbClr val="FFFFFF"/>
                          </a:solidFill>
                          <a:effectLst/>
                          <a:latin typeface="Calibri"/>
                        </a:rPr>
                        <a:t> et al. (2022)</a:t>
                      </a:r>
                      <a:endParaRPr lang="en-US" b="1"/>
                    </a:p>
                  </a:txBody>
                  <a:tcPr marL="68580" marR="68580">
                    <a:lnL w="9524">
                      <a:solidFill>
                        <a:srgbClr val="FFFFFF"/>
                      </a:solidFill>
                    </a:lnL>
                    <a:lnR w="9524">
                      <a:solidFill>
                        <a:srgbClr val="FFFFFF"/>
                      </a:solidFill>
                    </a:lnR>
                    <a:lnT w="9524">
                      <a:solidFill>
                        <a:srgbClr val="FFFFFF"/>
                      </a:solidFill>
                    </a:lnT>
                    <a:lnB w="9524">
                      <a:solidFill>
                        <a:srgbClr val="FFFFFF"/>
                      </a:solidFill>
                    </a:lnB>
                    <a:solidFill>
                      <a:srgbClr val="4472C4"/>
                    </a:solidFill>
                  </a:tcPr>
                </a:tc>
                <a:tc>
                  <a:txBody>
                    <a:bodyPr/>
                    <a:lstStyle/>
                    <a:p>
                      <a:pPr lvl="0">
                        <a:lnSpc>
                          <a:spcPts val="2175"/>
                        </a:lnSpc>
                        <a:buNone/>
                      </a:pPr>
                      <a:r>
                        <a:rPr lang="en-US" sz="1600" b="0" i="0" u="none" strike="noStrike" noProof="0" dirty="0">
                          <a:effectLst/>
                          <a:latin typeface="Calibri"/>
                        </a:rPr>
                        <a:t>HRV chest strap validation</a:t>
                      </a:r>
                      <a:endParaRPr lang="en-US" dirty="0"/>
                    </a:p>
                  </a:txBody>
                  <a:tcPr marL="68580" marR="68580">
                    <a:lnL w="9524">
                      <a:solidFill>
                        <a:srgbClr val="FFFFFF"/>
                      </a:solidFill>
                    </a:lnL>
                    <a:lnR w="9524">
                      <a:solidFill>
                        <a:srgbClr val="FFFFFF"/>
                      </a:solidFill>
                    </a:lnR>
                    <a:lnT w="9524">
                      <a:solidFill>
                        <a:srgbClr val="FFFFFF"/>
                      </a:solidFill>
                    </a:lnT>
                    <a:lnB w="9524">
                      <a:solidFill>
                        <a:srgbClr val="FFFFFF"/>
                      </a:solidFill>
                    </a:lnB>
                    <a:solidFill>
                      <a:srgbClr val="E9EBF5"/>
                    </a:solidFill>
                  </a:tcPr>
                </a:tc>
                <a:tc>
                  <a:txBody>
                    <a:bodyPr/>
                    <a:lstStyle/>
                    <a:p>
                      <a:pPr lvl="0">
                        <a:lnSpc>
                          <a:spcPts val="2175"/>
                        </a:lnSpc>
                        <a:buNone/>
                      </a:pPr>
                      <a:r>
                        <a:rPr lang="en-US" sz="1600" b="0" i="0" u="none" strike="noStrike" noProof="0" dirty="0">
                          <a:effectLst/>
                          <a:latin typeface="Calibri"/>
                        </a:rPr>
                        <a:t>Compared Polar H10 vs ECG during rest and exercise</a:t>
                      </a:r>
                      <a:endParaRPr lang="en-US" dirty="0"/>
                    </a:p>
                  </a:txBody>
                  <a:tcPr marL="68580" marR="68580">
                    <a:lnL w="9524">
                      <a:solidFill>
                        <a:srgbClr val="FFFFFF"/>
                      </a:solidFill>
                    </a:lnL>
                    <a:lnR w="9524">
                      <a:solidFill>
                        <a:srgbClr val="FFFFFF"/>
                      </a:solidFill>
                    </a:lnR>
                    <a:lnT w="9524">
                      <a:solidFill>
                        <a:srgbClr val="FFFFFF"/>
                      </a:solidFill>
                    </a:lnT>
                    <a:lnB w="9524">
                      <a:solidFill>
                        <a:srgbClr val="FFFFFF"/>
                      </a:solidFill>
                    </a:lnB>
                    <a:solidFill>
                      <a:srgbClr val="E9EBF5"/>
                    </a:solidFill>
                  </a:tcPr>
                </a:tc>
                <a:tc>
                  <a:txBody>
                    <a:bodyPr/>
                    <a:lstStyle/>
                    <a:p>
                      <a:pPr lvl="0">
                        <a:lnSpc>
                          <a:spcPts val="2175"/>
                        </a:lnSpc>
                        <a:buNone/>
                      </a:pPr>
                      <a:r>
                        <a:rPr lang="en-US" sz="1600" b="0" i="0" u="none" strike="noStrike" noProof="0" dirty="0">
                          <a:effectLst/>
                          <a:latin typeface="Calibri"/>
                        </a:rPr>
                        <a:t>Recreational men and women</a:t>
                      </a:r>
                      <a:endParaRPr lang="en-US" dirty="0"/>
                    </a:p>
                  </a:txBody>
                  <a:tcPr marL="68580" marR="68580">
                    <a:lnL w="9524">
                      <a:solidFill>
                        <a:srgbClr val="FFFFFF"/>
                      </a:solidFill>
                    </a:lnL>
                    <a:lnR w="9524">
                      <a:solidFill>
                        <a:srgbClr val="FFFFFF"/>
                      </a:solidFill>
                    </a:lnR>
                    <a:lnT w="9524">
                      <a:solidFill>
                        <a:srgbClr val="FFFFFF"/>
                      </a:solidFill>
                    </a:lnT>
                    <a:lnB w="9524">
                      <a:solidFill>
                        <a:srgbClr val="FFFFFF"/>
                      </a:solidFill>
                    </a:lnB>
                    <a:solidFill>
                      <a:srgbClr val="E9EBF5"/>
                    </a:solidFill>
                  </a:tcPr>
                </a:tc>
                <a:tc>
                  <a:txBody>
                    <a:bodyPr/>
                    <a:lstStyle/>
                    <a:p>
                      <a:pPr lvl="0">
                        <a:lnSpc>
                          <a:spcPts val="2175"/>
                        </a:lnSpc>
                        <a:buNone/>
                      </a:pPr>
                      <a:r>
                        <a:rPr lang="en-US" sz="1600" b="0" i="0" u="none" strike="noStrike" noProof="0" dirty="0">
                          <a:effectLst/>
                          <a:latin typeface="Calibri"/>
                        </a:rPr>
                        <a:t>Chest straps less comfortable long-term</a:t>
                      </a:r>
                      <a:endParaRPr lang="en-US" dirty="0"/>
                    </a:p>
                  </a:txBody>
                  <a:tcPr marL="68580" marR="68580">
                    <a:lnL w="9524">
                      <a:solidFill>
                        <a:srgbClr val="FFFFFF"/>
                      </a:solidFill>
                    </a:lnL>
                    <a:lnR w="9524">
                      <a:solidFill>
                        <a:srgbClr val="FFFFFF"/>
                      </a:solidFill>
                    </a:lnR>
                    <a:lnT w="9524">
                      <a:solidFill>
                        <a:srgbClr val="FFFFFF"/>
                      </a:solidFill>
                    </a:lnT>
                    <a:lnB w="9524">
                      <a:solidFill>
                        <a:srgbClr val="FFFFFF"/>
                      </a:solidFill>
                    </a:lnB>
                    <a:solidFill>
                      <a:srgbClr val="E9EBF5"/>
                    </a:solidFill>
                  </a:tcPr>
                </a:tc>
                <a:extLst>
                  <a:ext uri="{0D108BD9-81ED-4DB2-BD59-A6C34878D82A}">
                    <a16:rowId xmlns:a16="http://schemas.microsoft.com/office/drawing/2014/main" val="1135420380"/>
                  </a:ext>
                </a:extLst>
              </a:tr>
            </a:tbl>
          </a:graphicData>
        </a:graphic>
      </p:graphicFrame>
    </p:spTree>
    <p:extLst>
      <p:ext uri="{BB962C8B-B14F-4D97-AF65-F5344CB8AC3E}">
        <p14:creationId xmlns:p14="http://schemas.microsoft.com/office/powerpoint/2010/main" val="869784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15709CD-13A1-338A-03D4-8399EA31DE7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221406B-78F6-BD3F-561B-1A3135309037}"/>
              </a:ext>
            </a:extLst>
          </p:cNvPr>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 name="Date Placeholder 2">
            <a:extLst>
              <a:ext uri="{FF2B5EF4-FFF2-40B4-BE49-F238E27FC236}">
                <a16:creationId xmlns:a16="http://schemas.microsoft.com/office/drawing/2014/main" id="{13908D2F-EC59-1018-9232-CB1B25F06BC8}"/>
              </a:ext>
            </a:extLst>
          </p:cNvPr>
          <p:cNvSpPr>
            <a:spLocks noGrp="1"/>
          </p:cNvSpPr>
          <p:nvPr>
            <p:ph type="dt" sz="half" idx="10"/>
          </p:nvPr>
        </p:nvSpPr>
        <p:spPr>
          <a:xfrm>
            <a:off x="846826" y="6446836"/>
            <a:ext cx="2743200" cy="365125"/>
          </a:xfrm>
        </p:spPr>
        <p:txBody>
          <a:bodyPr/>
          <a:lstStyle/>
          <a:p>
            <a:fld id="{5B7E5161-8080-4FA4-B597-A25847D01AB0}" type="datetime1">
              <a:rPr lang="en-IN" smtClean="0">
                <a:solidFill>
                  <a:schemeClr val="bg1"/>
                </a:solidFill>
              </a:rPr>
              <a:t>20-01-2026</a:t>
            </a:fld>
            <a:endParaRPr lang="en-IN" dirty="0">
              <a:solidFill>
                <a:schemeClr val="bg1"/>
              </a:solidFill>
            </a:endParaRPr>
          </a:p>
        </p:txBody>
      </p:sp>
      <p:sp>
        <p:nvSpPr>
          <p:cNvPr id="5" name="Footer Placeholder 4">
            <a:extLst>
              <a:ext uri="{FF2B5EF4-FFF2-40B4-BE49-F238E27FC236}">
                <a16:creationId xmlns:a16="http://schemas.microsoft.com/office/drawing/2014/main" id="{90DF0E39-A56D-6DDE-DEDC-B3E0E431E8FB}"/>
              </a:ext>
            </a:extLst>
          </p:cNvPr>
          <p:cNvSpPr>
            <a:spLocks noGrp="1"/>
          </p:cNvSpPr>
          <p:nvPr>
            <p:ph type="ftr" sz="quarter" idx="11"/>
          </p:nvPr>
        </p:nvSpPr>
        <p:spPr>
          <a:xfrm>
            <a:off x="4047226" y="6446837"/>
            <a:ext cx="4114800" cy="365125"/>
          </a:xfrm>
        </p:spPr>
        <p:txBody>
          <a:bodyPr/>
          <a:lstStyle/>
          <a:p>
            <a:r>
              <a:rPr lang="en-US" dirty="0">
                <a:solidFill>
                  <a:schemeClr val="bg1"/>
                </a:solidFill>
              </a:rPr>
              <a:t>Department Of Computer Science and Engineering </a:t>
            </a:r>
            <a:endParaRPr lang="en-IN" dirty="0">
              <a:solidFill>
                <a:schemeClr val="bg1"/>
              </a:solidFill>
            </a:endParaRPr>
          </a:p>
        </p:txBody>
      </p:sp>
      <p:sp>
        <p:nvSpPr>
          <p:cNvPr id="6" name="Slide Number Placeholder 5">
            <a:extLst>
              <a:ext uri="{FF2B5EF4-FFF2-40B4-BE49-F238E27FC236}">
                <a16:creationId xmlns:a16="http://schemas.microsoft.com/office/drawing/2014/main" id="{8545523A-9B0A-202C-F65C-79E20E6C8D73}"/>
              </a:ext>
            </a:extLst>
          </p:cNvPr>
          <p:cNvSpPr>
            <a:spLocks noGrp="1"/>
          </p:cNvSpPr>
          <p:nvPr>
            <p:ph type="sldNum" sz="quarter" idx="12"/>
          </p:nvPr>
        </p:nvSpPr>
        <p:spPr>
          <a:xfrm>
            <a:off x="8627852" y="6446837"/>
            <a:ext cx="2743200" cy="365125"/>
          </a:xfrm>
        </p:spPr>
        <p:txBody>
          <a:bodyPr/>
          <a:lstStyle/>
          <a:p>
            <a:fld id="{6B620516-70CF-47FE-AA80-3DABE7EA9D45}" type="slidenum">
              <a:rPr lang="en-IN" smtClean="0">
                <a:solidFill>
                  <a:schemeClr val="bg1"/>
                </a:solidFill>
              </a:rPr>
              <a:t>5</a:t>
            </a:fld>
            <a:endParaRPr lang="en-IN" dirty="0">
              <a:solidFill>
                <a:schemeClr val="bg1"/>
              </a:solidFill>
            </a:endParaRPr>
          </a:p>
        </p:txBody>
      </p:sp>
      <p:sp>
        <p:nvSpPr>
          <p:cNvPr id="8" name="Title 1">
            <a:extLst>
              <a:ext uri="{FF2B5EF4-FFF2-40B4-BE49-F238E27FC236}">
                <a16:creationId xmlns:a16="http://schemas.microsoft.com/office/drawing/2014/main" id="{E270D74C-3175-656D-780F-9DE23EC5D071}"/>
              </a:ext>
            </a:extLst>
          </p:cNvPr>
          <p:cNvSpPr txBox="1"/>
          <p:nvPr/>
        </p:nvSpPr>
        <p:spPr>
          <a:xfrm>
            <a:off x="4047226" y="0"/>
            <a:ext cx="4519283" cy="150966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Literature survey 	</a:t>
            </a:r>
          </a:p>
        </p:txBody>
      </p:sp>
      <p:sp>
        <p:nvSpPr>
          <p:cNvPr id="9" name="Rectangle 1">
            <a:extLst>
              <a:ext uri="{FF2B5EF4-FFF2-40B4-BE49-F238E27FC236}">
                <a16:creationId xmlns:a16="http://schemas.microsoft.com/office/drawing/2014/main" id="{902C9F4D-0D57-F01A-5840-65A5B1D438BB}"/>
              </a:ext>
            </a:extLst>
          </p:cNvPr>
          <p:cNvSpPr>
            <a:spLocks noChangeArrowheads="1"/>
          </p:cNvSpPr>
          <p:nvPr/>
        </p:nvSpPr>
        <p:spPr bwMode="auto">
          <a:xfrm>
            <a:off x="-3184419" y="1825625"/>
            <a:ext cx="3180810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0" name="Table 9">
            <a:extLst>
              <a:ext uri="{FF2B5EF4-FFF2-40B4-BE49-F238E27FC236}">
                <a16:creationId xmlns:a16="http://schemas.microsoft.com/office/drawing/2014/main" id="{D36C8994-65D7-6ADB-D258-B730ED9D74F0}"/>
              </a:ext>
            </a:extLst>
          </p:cNvPr>
          <p:cNvGraphicFramePr>
            <a:graphicFrameLocks noGrp="1"/>
          </p:cNvGraphicFramePr>
          <p:nvPr>
            <p:extLst>
              <p:ext uri="{D42A27DB-BD31-4B8C-83A1-F6EECF244321}">
                <p14:modId xmlns:p14="http://schemas.microsoft.com/office/powerpoint/2010/main" val="2778935582"/>
              </p:ext>
            </p:extLst>
          </p:nvPr>
        </p:nvGraphicFramePr>
        <p:xfrm>
          <a:off x="890587" y="694182"/>
          <a:ext cx="10410825" cy="5593334"/>
        </p:xfrm>
        <a:graphic>
          <a:graphicData uri="http://schemas.openxmlformats.org/drawingml/2006/table">
            <a:tbl>
              <a:tblPr bandRow="1">
                <a:tableStyleId>{5C22544A-7EE6-4342-B048-85BDC9FD1C3A}</a:tableStyleId>
              </a:tblPr>
              <a:tblGrid>
                <a:gridCol w="1495425">
                  <a:extLst>
                    <a:ext uri="{9D8B030D-6E8A-4147-A177-3AD203B41FA5}">
                      <a16:colId xmlns:a16="http://schemas.microsoft.com/office/drawing/2014/main" val="4075241504"/>
                    </a:ext>
                  </a:extLst>
                </a:gridCol>
                <a:gridCol w="1924050">
                  <a:extLst>
                    <a:ext uri="{9D8B030D-6E8A-4147-A177-3AD203B41FA5}">
                      <a16:colId xmlns:a16="http://schemas.microsoft.com/office/drawing/2014/main" val="3757749168"/>
                    </a:ext>
                  </a:extLst>
                </a:gridCol>
                <a:gridCol w="2333625">
                  <a:extLst>
                    <a:ext uri="{9D8B030D-6E8A-4147-A177-3AD203B41FA5}">
                      <a16:colId xmlns:a16="http://schemas.microsoft.com/office/drawing/2014/main" val="1788334037"/>
                    </a:ext>
                  </a:extLst>
                </a:gridCol>
                <a:gridCol w="2609850">
                  <a:extLst>
                    <a:ext uri="{9D8B030D-6E8A-4147-A177-3AD203B41FA5}">
                      <a16:colId xmlns:a16="http://schemas.microsoft.com/office/drawing/2014/main" val="638940869"/>
                    </a:ext>
                  </a:extLst>
                </a:gridCol>
                <a:gridCol w="2047875">
                  <a:extLst>
                    <a:ext uri="{9D8B030D-6E8A-4147-A177-3AD203B41FA5}">
                      <a16:colId xmlns:a16="http://schemas.microsoft.com/office/drawing/2014/main" val="643753354"/>
                    </a:ext>
                  </a:extLst>
                </a:gridCol>
              </a:tblGrid>
              <a:tr h="333375">
                <a:tc>
                  <a:txBody>
                    <a:bodyPr/>
                    <a:lstStyle/>
                    <a:p>
                      <a:pPr fontAlgn="base">
                        <a:lnSpc>
                          <a:spcPts val="2175"/>
                        </a:lnSpc>
                        <a:buNone/>
                      </a:pPr>
                      <a:r>
                        <a:rPr lang="en-US" sz="1600" b="1" dirty="0">
                          <a:solidFill>
                            <a:srgbClr val="FFFFFF"/>
                          </a:solidFill>
                          <a:effectLst/>
                          <a:latin typeface="Calibri"/>
                        </a:rPr>
                        <a:t>Author (Year)</a:t>
                      </a:r>
                      <a:endParaRPr lang="en-US" b="1" dirty="0">
                        <a:solidFill>
                          <a:srgbClr val="FFFFFF"/>
                        </a:solidFill>
                        <a:effectLst/>
                        <a:latin typeface="Calibri"/>
                      </a:endParaRP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4472C4"/>
                    </a:solidFill>
                  </a:tcPr>
                </a:tc>
                <a:tc>
                  <a:txBody>
                    <a:bodyPr/>
                    <a:lstStyle/>
                    <a:p>
                      <a:pPr fontAlgn="base">
                        <a:lnSpc>
                          <a:spcPts val="2175"/>
                        </a:lnSpc>
                        <a:buNone/>
                      </a:pPr>
                      <a:r>
                        <a:rPr lang="en-US" sz="1600" b="1" dirty="0">
                          <a:solidFill>
                            <a:srgbClr val="FFFFFF"/>
                          </a:solidFill>
                          <a:effectLst/>
                          <a:latin typeface="Calibri"/>
                        </a:rPr>
                        <a:t>Approach</a:t>
                      </a:r>
                      <a:endParaRPr lang="en-US" b="1" dirty="0">
                        <a:solidFill>
                          <a:srgbClr val="FFFFFF"/>
                        </a:solidFill>
                        <a:effectLst/>
                        <a:latin typeface="Calibri"/>
                      </a:endParaRP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4472C4"/>
                    </a:solidFill>
                  </a:tcPr>
                </a:tc>
                <a:tc>
                  <a:txBody>
                    <a:bodyPr/>
                    <a:lstStyle/>
                    <a:p>
                      <a:pPr fontAlgn="base">
                        <a:lnSpc>
                          <a:spcPts val="2175"/>
                        </a:lnSpc>
                        <a:buNone/>
                      </a:pPr>
                      <a:r>
                        <a:rPr lang="en-US" sz="1600" b="1" dirty="0">
                          <a:solidFill>
                            <a:srgbClr val="FFFFFF"/>
                          </a:solidFill>
                          <a:effectLst/>
                          <a:latin typeface="Calibri"/>
                        </a:rPr>
                        <a:t>Methodology</a:t>
                      </a:r>
                      <a:endParaRPr lang="en-US" b="1" dirty="0">
                        <a:solidFill>
                          <a:srgbClr val="FFFFFF"/>
                        </a:solidFill>
                        <a:effectLst/>
                        <a:latin typeface="Calibri"/>
                      </a:endParaRP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4472C4"/>
                    </a:solidFill>
                  </a:tcPr>
                </a:tc>
                <a:tc>
                  <a:txBody>
                    <a:bodyPr/>
                    <a:lstStyle/>
                    <a:p>
                      <a:pPr fontAlgn="base">
                        <a:lnSpc>
                          <a:spcPts val="2175"/>
                        </a:lnSpc>
                        <a:buNone/>
                      </a:pPr>
                      <a:r>
                        <a:rPr lang="en-US" sz="1600" b="1" dirty="0">
                          <a:solidFill>
                            <a:srgbClr val="FFFFFF"/>
                          </a:solidFill>
                          <a:effectLst/>
                          <a:latin typeface="Calibri"/>
                        </a:rPr>
                        <a:t>Dataset</a:t>
                      </a:r>
                      <a:endParaRPr lang="en-US" b="1" dirty="0">
                        <a:solidFill>
                          <a:srgbClr val="FFFFFF"/>
                        </a:solidFill>
                        <a:effectLst/>
                        <a:latin typeface="Calibri"/>
                      </a:endParaRP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4472C4"/>
                    </a:solidFill>
                  </a:tcPr>
                </a:tc>
                <a:tc>
                  <a:txBody>
                    <a:bodyPr/>
                    <a:lstStyle/>
                    <a:p>
                      <a:pPr fontAlgn="base">
                        <a:lnSpc>
                          <a:spcPts val="2175"/>
                        </a:lnSpc>
                        <a:buNone/>
                      </a:pPr>
                      <a:r>
                        <a:rPr lang="en-US" sz="1600" b="1" dirty="0">
                          <a:solidFill>
                            <a:srgbClr val="FFFFFF"/>
                          </a:solidFill>
                          <a:effectLst/>
                          <a:latin typeface="Calibri"/>
                        </a:rPr>
                        <a:t>Disadvantages</a:t>
                      </a:r>
                      <a:endParaRPr lang="en-US" b="1" dirty="0">
                        <a:solidFill>
                          <a:srgbClr val="FFFFFF"/>
                        </a:solidFill>
                        <a:effectLst/>
                        <a:latin typeface="Calibri"/>
                      </a:endParaRP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950031942"/>
                  </a:ext>
                </a:extLst>
              </a:tr>
              <a:tr h="1047750">
                <a:tc>
                  <a:txBody>
                    <a:bodyPr/>
                    <a:lstStyle/>
                    <a:p>
                      <a:pPr lvl="0">
                        <a:lnSpc>
                          <a:spcPts val="2175"/>
                        </a:lnSpc>
                        <a:buNone/>
                      </a:pPr>
                      <a:r>
                        <a:rPr lang="en-US" sz="1600" b="1" i="0" u="none" strike="noStrike" noProof="0" dirty="0">
                          <a:solidFill>
                            <a:srgbClr val="FFFFFF"/>
                          </a:solidFill>
                          <a:effectLst/>
                          <a:latin typeface="Calibri"/>
                        </a:rPr>
                        <a:t>Flett et al. (2024)</a:t>
                      </a:r>
                      <a:endParaRPr lang="en-US" b="1"/>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6289"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4472C4"/>
                    </a:solidFill>
                  </a:tcPr>
                </a:tc>
                <a:tc>
                  <a:txBody>
                    <a:bodyPr/>
                    <a:lstStyle/>
                    <a:p>
                      <a:pPr lvl="0">
                        <a:lnSpc>
                          <a:spcPts val="2175"/>
                        </a:lnSpc>
                        <a:buNone/>
                      </a:pPr>
                      <a:r>
                        <a:rPr lang="en-US" sz="1600" b="0" i="0" u="none" strike="noStrike" noProof="0" dirty="0">
                          <a:effectLst/>
                          <a:latin typeface="+mn-lt"/>
                        </a:rPr>
                        <a:t>PPG smartwatch accuracy study</a:t>
                      </a:r>
                      <a:endParaRPr lang="en-US" dirty="0">
                        <a:latin typeface="+mn-lt"/>
                      </a:endParaRP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6289"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CFD5EA"/>
                    </a:solidFill>
                  </a:tcPr>
                </a:tc>
                <a:tc>
                  <a:txBody>
                    <a:bodyPr/>
                    <a:lstStyle/>
                    <a:p>
                      <a:pPr lvl="0">
                        <a:lnSpc>
                          <a:spcPts val="2175"/>
                        </a:lnSpc>
                        <a:buNone/>
                      </a:pPr>
                      <a:r>
                        <a:rPr lang="en-US" sz="1600" b="0" i="0" u="none" strike="noStrike" noProof="0" dirty="0">
                          <a:effectLst/>
                          <a:latin typeface="+mn-lt"/>
                        </a:rPr>
                        <a:t>Compared smartwatch PPG vs ECG chest strap</a:t>
                      </a:r>
                      <a:endParaRPr lang="en-US" dirty="0">
                        <a:latin typeface="+mn-lt"/>
                      </a:endParaRP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6289"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CFD5EA"/>
                    </a:solidFill>
                  </a:tcPr>
                </a:tc>
                <a:tc>
                  <a:txBody>
                    <a:bodyPr/>
                    <a:lstStyle/>
                    <a:p>
                      <a:pPr lvl="0">
                        <a:lnSpc>
                          <a:spcPts val="2175"/>
                        </a:lnSpc>
                        <a:buNone/>
                      </a:pPr>
                      <a:r>
                        <a:rPr lang="en-US" sz="1600" b="0" i="0" u="none" strike="noStrike" noProof="0" dirty="0">
                          <a:effectLst/>
                          <a:latin typeface="+mn-lt"/>
                        </a:rPr>
                        <a:t>Controlled exercise dataset</a:t>
                      </a:r>
                      <a:endParaRPr lang="en-US" dirty="0">
                        <a:latin typeface="+mn-lt"/>
                      </a:endParaRP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6289"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CFD5EA"/>
                    </a:solidFill>
                  </a:tcPr>
                </a:tc>
                <a:tc>
                  <a:txBody>
                    <a:bodyPr/>
                    <a:lstStyle/>
                    <a:p>
                      <a:pPr lvl="0">
                        <a:lnSpc>
                          <a:spcPts val="2175"/>
                        </a:lnSpc>
                        <a:buNone/>
                      </a:pPr>
                      <a:r>
                        <a:rPr lang="en-US" sz="1600" b="0" i="0" u="none" strike="noStrike" noProof="0" dirty="0">
                          <a:effectLst/>
                          <a:latin typeface="+mn-lt"/>
                        </a:rPr>
                        <a:t>Motion artifacts reduce accuracy</a:t>
                      </a:r>
                      <a:endParaRPr lang="en-US" dirty="0">
                        <a:latin typeface="+mn-lt"/>
                      </a:endParaRPr>
                    </a:p>
                  </a:txBody>
                  <a:tcPr marL="68580" marR="6858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6289" cap="flat" cmpd="sng" algn="ctr">
                      <a:solidFill>
                        <a:srgbClr val="FFFFFF"/>
                      </a:solidFill>
                      <a:prstDash val="solid"/>
                      <a:round/>
                      <a:headEnd type="none" w="med" len="med"/>
                      <a:tailEnd type="none" w="med" len="med"/>
                    </a:lnT>
                    <a:lnB w="26289"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3100466628"/>
                  </a:ext>
                </a:extLst>
              </a:tr>
              <a:tr h="1047750">
                <a:tc>
                  <a:txBody>
                    <a:bodyPr/>
                    <a:lstStyle/>
                    <a:p>
                      <a:pPr lvl="0">
                        <a:lnSpc>
                          <a:spcPts val="2175"/>
                        </a:lnSpc>
                        <a:buNone/>
                      </a:pPr>
                      <a:r>
                        <a:rPr lang="en-US" sz="1600" b="1" i="0" u="none" strike="noStrike" noProof="0" dirty="0">
                          <a:solidFill>
                            <a:srgbClr val="FFFFFF"/>
                          </a:solidFill>
                          <a:effectLst/>
                          <a:latin typeface="Calibri"/>
                        </a:rPr>
                        <a:t>Umair et al. (2021)</a:t>
                      </a:r>
                      <a:endParaRPr lang="en-US" b="1"/>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4472C4"/>
                    </a:solidFill>
                  </a:tcPr>
                </a:tc>
                <a:tc>
                  <a:txBody>
                    <a:bodyPr/>
                    <a:lstStyle/>
                    <a:p>
                      <a:pPr lvl="0">
                        <a:lnSpc>
                          <a:spcPts val="2175"/>
                        </a:lnSpc>
                        <a:buNone/>
                      </a:pPr>
                      <a:r>
                        <a:rPr lang="en-US" sz="1600" b="0" i="0" u="none" strike="noStrike" noProof="0" dirty="0">
                          <a:effectLst/>
                          <a:latin typeface="+mn-lt"/>
                        </a:rPr>
                        <a:t>HRV and stress monitoring</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CFD5EA"/>
                    </a:solidFill>
                  </a:tcPr>
                </a:tc>
                <a:tc>
                  <a:txBody>
                    <a:bodyPr/>
                    <a:lstStyle/>
                    <a:p>
                      <a:pPr lvl="0">
                        <a:lnSpc>
                          <a:spcPts val="2175"/>
                        </a:lnSpc>
                        <a:buNone/>
                      </a:pPr>
                      <a:r>
                        <a:rPr lang="en-US" sz="1600" b="0" i="0" u="none" strike="noStrike" noProof="0" dirty="0">
                          <a:effectLst/>
                          <a:latin typeface="+mn-lt"/>
                        </a:rPr>
                        <a:t>Compared chest-strap and wrist sensors for HRV</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CFD5EA"/>
                    </a:solidFill>
                  </a:tcPr>
                </a:tc>
                <a:tc>
                  <a:txBody>
                    <a:bodyPr/>
                    <a:lstStyle/>
                    <a:p>
                      <a:pPr lvl="0">
                        <a:lnSpc>
                          <a:spcPts val="2175"/>
                        </a:lnSpc>
                        <a:buNone/>
                      </a:pPr>
                      <a:r>
                        <a:rPr lang="en-US" sz="1600" b="0" i="0" u="none" strike="noStrike" noProof="0" dirty="0">
                          <a:effectLst/>
                          <a:latin typeface="+mn-lt"/>
                        </a:rPr>
                        <a:t>Controlled stress task dataset</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CFD5EA"/>
                    </a:solidFill>
                  </a:tcPr>
                </a:tc>
                <a:tc>
                  <a:txBody>
                    <a:bodyPr/>
                    <a:lstStyle/>
                    <a:p>
                      <a:pPr lvl="0">
                        <a:lnSpc>
                          <a:spcPts val="2175"/>
                        </a:lnSpc>
                        <a:buNone/>
                      </a:pPr>
                      <a:r>
                        <a:rPr lang="en-US" sz="1600" b="0" i="0" u="none" strike="noStrike" noProof="0" dirty="0">
                          <a:effectLst/>
                          <a:latin typeface="+mn-lt"/>
                        </a:rPr>
                        <a:t>Limited free-living validation</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CFD5EA"/>
                    </a:solidFill>
                  </a:tcPr>
                </a:tc>
                <a:extLst>
                  <a:ext uri="{0D108BD9-81ED-4DB2-BD59-A6C34878D82A}">
                    <a16:rowId xmlns:a16="http://schemas.microsoft.com/office/drawing/2014/main" val="643936704"/>
                  </a:ext>
                </a:extLst>
              </a:tr>
              <a:tr h="1047750">
                <a:tc>
                  <a:txBody>
                    <a:bodyPr/>
                    <a:lstStyle/>
                    <a:p>
                      <a:pPr lvl="0">
                        <a:lnSpc>
                          <a:spcPts val="2175"/>
                        </a:lnSpc>
                        <a:buNone/>
                      </a:pPr>
                      <a:r>
                        <a:rPr lang="en-US" sz="1600" b="1" i="0" u="none" strike="noStrike" noProof="0" dirty="0">
                          <a:solidFill>
                            <a:srgbClr val="FFFFFF"/>
                          </a:solidFill>
                          <a:effectLst/>
                          <a:latin typeface="Calibri"/>
                        </a:rPr>
                        <a:t>Lee et al. (2024)</a:t>
                      </a:r>
                      <a:endParaRPr lang="en-US" b="1"/>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4472C4"/>
                    </a:solidFill>
                  </a:tcPr>
                </a:tc>
                <a:tc>
                  <a:txBody>
                    <a:bodyPr/>
                    <a:lstStyle/>
                    <a:p>
                      <a:pPr lvl="0">
                        <a:lnSpc>
                          <a:spcPts val="2175"/>
                        </a:lnSpc>
                        <a:buNone/>
                      </a:pPr>
                      <a:r>
                        <a:rPr lang="en-US" sz="1600" b="0" i="0" u="none" strike="noStrike" noProof="0" dirty="0">
                          <a:effectLst/>
                          <a:latin typeface="+mn-lt"/>
                        </a:rPr>
                        <a:t>Multicenter wearable validation</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CFD5EA"/>
                    </a:solidFill>
                  </a:tcPr>
                </a:tc>
                <a:tc>
                  <a:txBody>
                    <a:bodyPr/>
                    <a:lstStyle/>
                    <a:p>
                      <a:pPr lvl="0">
                        <a:lnSpc>
                          <a:spcPts val="2175"/>
                        </a:lnSpc>
                        <a:buNone/>
                      </a:pPr>
                      <a:r>
                        <a:rPr lang="en-US" sz="1600" b="0" i="0" u="none" strike="noStrike" noProof="0" dirty="0">
                          <a:effectLst/>
                          <a:latin typeface="+mn-lt"/>
                        </a:rPr>
                        <a:t>Evaluated 11 consumer devices</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CFD5EA"/>
                    </a:solidFill>
                  </a:tcPr>
                </a:tc>
                <a:tc>
                  <a:txBody>
                    <a:bodyPr/>
                    <a:lstStyle/>
                    <a:p>
                      <a:pPr lvl="0">
                        <a:lnSpc>
                          <a:spcPts val="2175"/>
                        </a:lnSpc>
                        <a:buNone/>
                      </a:pPr>
                      <a:r>
                        <a:rPr lang="en-US" sz="1600" b="0" i="0" u="none" strike="noStrike" noProof="0" dirty="0">
                          <a:effectLst/>
                          <a:latin typeface="+mn-lt"/>
                        </a:rPr>
                        <a:t>Multicenter dataset</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CFD5EA"/>
                    </a:solidFill>
                  </a:tcPr>
                </a:tc>
                <a:tc>
                  <a:txBody>
                    <a:bodyPr/>
                    <a:lstStyle/>
                    <a:p>
                      <a:pPr lvl="0">
                        <a:lnSpc>
                          <a:spcPts val="2175"/>
                        </a:lnSpc>
                        <a:buNone/>
                      </a:pPr>
                      <a:r>
                        <a:rPr lang="en-US" sz="1600" b="0" i="0" u="none" strike="noStrike" noProof="0" dirty="0">
                          <a:effectLst/>
                          <a:latin typeface="+mn-lt"/>
                        </a:rPr>
                        <a:t>Performance inconsistent across centers</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CFD5EA"/>
                    </a:solidFill>
                  </a:tcPr>
                </a:tc>
                <a:extLst>
                  <a:ext uri="{0D108BD9-81ED-4DB2-BD59-A6C34878D82A}">
                    <a16:rowId xmlns:a16="http://schemas.microsoft.com/office/drawing/2014/main" val="3353703489"/>
                  </a:ext>
                </a:extLst>
              </a:tr>
              <a:tr h="1047750">
                <a:tc>
                  <a:txBody>
                    <a:bodyPr/>
                    <a:lstStyle/>
                    <a:p>
                      <a:pPr lvl="0">
                        <a:lnSpc>
                          <a:spcPts val="2175"/>
                        </a:lnSpc>
                        <a:buNone/>
                      </a:pPr>
                      <a:r>
                        <a:rPr lang="en-US" sz="1600" b="1" i="0" u="none" strike="noStrike" noProof="0" dirty="0" err="1">
                          <a:solidFill>
                            <a:srgbClr val="FFFFFF"/>
                          </a:solidFill>
                          <a:effectLst/>
                          <a:latin typeface="Calibri"/>
                        </a:rPr>
                        <a:t>Schyvens</a:t>
                      </a:r>
                      <a:r>
                        <a:rPr lang="en-US" sz="1600" b="1" i="0" u="none" strike="noStrike" noProof="0" dirty="0">
                          <a:solidFill>
                            <a:srgbClr val="FFFFFF"/>
                          </a:solidFill>
                          <a:effectLst/>
                          <a:latin typeface="Calibri"/>
                        </a:rPr>
                        <a:t> et al. (2025)</a:t>
                      </a:r>
                      <a:endParaRPr lang="en-US" b="1"/>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4472C4"/>
                    </a:solidFill>
                  </a:tcPr>
                </a:tc>
                <a:tc>
                  <a:txBody>
                    <a:bodyPr/>
                    <a:lstStyle/>
                    <a:p>
                      <a:pPr lvl="0">
                        <a:lnSpc>
                          <a:spcPts val="2175"/>
                        </a:lnSpc>
                        <a:buNone/>
                      </a:pPr>
                      <a:r>
                        <a:rPr lang="en-US" sz="1600" b="0" i="0" u="none" strike="noStrike" noProof="0" dirty="0">
                          <a:effectLst/>
                          <a:latin typeface="+mn-lt"/>
                        </a:rPr>
                        <a:t>Sleep scoring validation</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CFD5EA"/>
                    </a:solidFill>
                  </a:tcPr>
                </a:tc>
                <a:tc>
                  <a:txBody>
                    <a:bodyPr/>
                    <a:lstStyle/>
                    <a:p>
                      <a:pPr lvl="0">
                        <a:lnSpc>
                          <a:spcPts val="2175"/>
                        </a:lnSpc>
                        <a:buNone/>
                      </a:pPr>
                      <a:r>
                        <a:rPr lang="en-US" sz="1600" b="0" i="0" u="none" strike="noStrike" noProof="0" dirty="0">
                          <a:effectLst/>
                          <a:latin typeface="+mn-lt"/>
                        </a:rPr>
                        <a:t>Compared six wrist devices vs PSG</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CFD5EA"/>
                    </a:solidFill>
                  </a:tcPr>
                </a:tc>
                <a:tc>
                  <a:txBody>
                    <a:bodyPr/>
                    <a:lstStyle/>
                    <a:p>
                      <a:pPr lvl="0">
                        <a:lnSpc>
                          <a:spcPts val="2175"/>
                        </a:lnSpc>
                        <a:buNone/>
                      </a:pPr>
                      <a:r>
                        <a:rPr lang="en-US" sz="1600" b="0" i="0" u="none" strike="noStrike" noProof="0" dirty="0">
                          <a:effectLst/>
                          <a:latin typeface="+mn-lt"/>
                        </a:rPr>
                        <a:t>PSG-based sleep dataset</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CFD5EA"/>
                    </a:solidFill>
                  </a:tcPr>
                </a:tc>
                <a:tc>
                  <a:txBody>
                    <a:bodyPr/>
                    <a:lstStyle/>
                    <a:p>
                      <a:pPr lvl="0">
                        <a:lnSpc>
                          <a:spcPts val="2175"/>
                        </a:lnSpc>
                        <a:buNone/>
                      </a:pPr>
                      <a:r>
                        <a:rPr lang="en-US" sz="1600" b="0" i="0" u="none" strike="noStrike" noProof="0" dirty="0">
                          <a:effectLst/>
                          <a:latin typeface="+mn-lt"/>
                        </a:rPr>
                        <a:t>Poor REM and deep sleep detection</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26289">
                      <a:solidFill>
                        <a:srgbClr val="FFFFFF"/>
                      </a:solidFill>
                    </a:lnB>
                    <a:solidFill>
                      <a:srgbClr val="CFD5EA"/>
                    </a:solidFill>
                  </a:tcPr>
                </a:tc>
                <a:extLst>
                  <a:ext uri="{0D108BD9-81ED-4DB2-BD59-A6C34878D82A}">
                    <a16:rowId xmlns:a16="http://schemas.microsoft.com/office/drawing/2014/main" val="1241493903"/>
                  </a:ext>
                </a:extLst>
              </a:tr>
              <a:tr h="1047750">
                <a:tc>
                  <a:txBody>
                    <a:bodyPr/>
                    <a:lstStyle/>
                    <a:p>
                      <a:pPr lvl="0">
                        <a:lnSpc>
                          <a:spcPts val="2175"/>
                        </a:lnSpc>
                        <a:buNone/>
                      </a:pPr>
                      <a:r>
                        <a:rPr lang="en-US" sz="1600" b="1" i="0" u="none" strike="noStrike" noProof="0" dirty="0">
                          <a:solidFill>
                            <a:srgbClr val="FFFFFF"/>
                          </a:solidFill>
                          <a:effectLst/>
                          <a:latin typeface="Calibri"/>
                        </a:rPr>
                        <a:t>Dial et al. (2025)</a:t>
                      </a:r>
                      <a:endParaRPr lang="en-US" b="1"/>
                    </a:p>
                  </a:txBody>
                  <a:tcPr marL="68580" marR="68580">
                    <a:lnL w="9524">
                      <a:solidFill>
                        <a:srgbClr val="FFFFFF"/>
                      </a:solidFill>
                    </a:lnL>
                    <a:lnR w="9524">
                      <a:solidFill>
                        <a:srgbClr val="FFFFFF"/>
                      </a:solidFill>
                    </a:lnR>
                    <a:lnT w="26289">
                      <a:solidFill>
                        <a:srgbClr val="FFFFFF"/>
                      </a:solidFill>
                    </a:lnT>
                    <a:lnB w="9524">
                      <a:solidFill>
                        <a:srgbClr val="FFFFFF"/>
                      </a:solidFill>
                    </a:lnB>
                    <a:solidFill>
                      <a:srgbClr val="4472C4"/>
                    </a:solidFill>
                  </a:tcPr>
                </a:tc>
                <a:tc>
                  <a:txBody>
                    <a:bodyPr/>
                    <a:lstStyle/>
                    <a:p>
                      <a:pPr lvl="0">
                        <a:lnSpc>
                          <a:spcPts val="2175"/>
                        </a:lnSpc>
                        <a:buNone/>
                      </a:pPr>
                      <a:r>
                        <a:rPr lang="en-US" sz="1600" b="0" i="0" u="none" strike="noStrike" noProof="0" dirty="0">
                          <a:effectLst/>
                          <a:latin typeface="+mn-lt"/>
                        </a:rPr>
                        <a:t>Nocturnal HRV validation</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9524">
                      <a:solidFill>
                        <a:srgbClr val="FFFFFF"/>
                      </a:solidFill>
                    </a:lnB>
                    <a:solidFill>
                      <a:srgbClr val="CFD5EA"/>
                    </a:solidFill>
                  </a:tcPr>
                </a:tc>
                <a:tc>
                  <a:txBody>
                    <a:bodyPr/>
                    <a:lstStyle/>
                    <a:p>
                      <a:pPr lvl="0">
                        <a:lnSpc>
                          <a:spcPts val="2175"/>
                        </a:lnSpc>
                        <a:buNone/>
                      </a:pPr>
                      <a:r>
                        <a:rPr lang="en-US" sz="1600" b="0" i="0" u="none" strike="noStrike" noProof="0" dirty="0">
                          <a:effectLst/>
                          <a:latin typeface="+mn-lt"/>
                        </a:rPr>
                        <a:t>Compared Garmin, Oura, Fitbit, Apple, Whoop vs ECG</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9524">
                      <a:solidFill>
                        <a:srgbClr val="FFFFFF"/>
                      </a:solidFill>
                    </a:lnB>
                    <a:solidFill>
                      <a:srgbClr val="CFD5EA"/>
                    </a:solidFill>
                  </a:tcPr>
                </a:tc>
                <a:tc>
                  <a:txBody>
                    <a:bodyPr/>
                    <a:lstStyle/>
                    <a:p>
                      <a:pPr lvl="0">
                        <a:lnSpc>
                          <a:spcPts val="2175"/>
                        </a:lnSpc>
                        <a:buNone/>
                      </a:pPr>
                      <a:r>
                        <a:rPr lang="en-US" sz="1600" b="0" i="0" u="none" strike="noStrike" noProof="0" dirty="0">
                          <a:effectLst/>
                          <a:latin typeface="+mn-lt"/>
                        </a:rPr>
                        <a:t>Nighttime HRV dataset</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9524">
                      <a:solidFill>
                        <a:srgbClr val="FFFFFF"/>
                      </a:solidFill>
                    </a:lnB>
                    <a:solidFill>
                      <a:srgbClr val="CFD5EA"/>
                    </a:solidFill>
                  </a:tcPr>
                </a:tc>
                <a:tc>
                  <a:txBody>
                    <a:bodyPr/>
                    <a:lstStyle/>
                    <a:p>
                      <a:pPr lvl="0">
                        <a:lnSpc>
                          <a:spcPts val="2175"/>
                        </a:lnSpc>
                        <a:buNone/>
                      </a:pPr>
                      <a:r>
                        <a:rPr lang="en-US" sz="1600" b="0" i="0" u="none" strike="noStrike" noProof="0" dirty="0">
                          <a:effectLst/>
                          <a:latin typeface="+mn-lt"/>
                        </a:rPr>
                        <a:t>HRV algorithms inconsistent</a:t>
                      </a:r>
                      <a:endParaRPr lang="en-US" dirty="0">
                        <a:latin typeface="+mn-lt"/>
                      </a:endParaRPr>
                    </a:p>
                  </a:txBody>
                  <a:tcPr marL="68580" marR="68580">
                    <a:lnL w="9524">
                      <a:solidFill>
                        <a:srgbClr val="FFFFFF"/>
                      </a:solidFill>
                    </a:lnL>
                    <a:lnR w="9524">
                      <a:solidFill>
                        <a:srgbClr val="FFFFFF"/>
                      </a:solidFill>
                    </a:lnR>
                    <a:lnT w="26289">
                      <a:solidFill>
                        <a:srgbClr val="FFFFFF"/>
                      </a:solidFill>
                    </a:lnT>
                    <a:lnB w="9524">
                      <a:solidFill>
                        <a:srgbClr val="FFFFFF"/>
                      </a:solidFill>
                    </a:lnB>
                    <a:solidFill>
                      <a:srgbClr val="CFD5EA"/>
                    </a:solidFill>
                  </a:tcPr>
                </a:tc>
                <a:extLst>
                  <a:ext uri="{0D108BD9-81ED-4DB2-BD59-A6C34878D82A}">
                    <a16:rowId xmlns:a16="http://schemas.microsoft.com/office/drawing/2014/main" val="3693963991"/>
                  </a:ext>
                </a:extLst>
              </a:tr>
            </a:tbl>
          </a:graphicData>
        </a:graphic>
      </p:graphicFrame>
    </p:spTree>
    <p:extLst>
      <p:ext uri="{BB962C8B-B14F-4D97-AF65-F5344CB8AC3E}">
        <p14:creationId xmlns:p14="http://schemas.microsoft.com/office/powerpoint/2010/main" val="456030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Rectangle 10"/>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p:cNvSpPr>
            <a:spLocks noGrp="1"/>
          </p:cNvSpPr>
          <p:nvPr>
            <p:ph type="dt" sz="half" idx="10"/>
          </p:nvPr>
        </p:nvSpPr>
        <p:spPr/>
        <p:txBody>
          <a:bodyPr/>
          <a:lstStyle/>
          <a:p>
            <a:fld id="{200412C3-7763-46D3-B58C-AF8DCEF05056}" type="datetime1">
              <a:rPr lang="en-IN" smtClean="0">
                <a:solidFill>
                  <a:schemeClr val="bg1"/>
                </a:solidFill>
              </a:rPr>
              <a:t>20-01-2026</a:t>
            </a:fld>
            <a:endParaRPr lang="en-IN">
              <a:solidFill>
                <a:schemeClr val="bg1"/>
              </a:solidFill>
            </a:endParaRPr>
          </a:p>
        </p:txBody>
      </p:sp>
      <p:sp>
        <p:nvSpPr>
          <p:cNvPr id="5" name="Footer Placeholder 4"/>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p:cNvSpPr>
            <a:spLocks noGrp="1"/>
          </p:cNvSpPr>
          <p:nvPr>
            <p:ph type="sldNum" sz="quarter" idx="12"/>
          </p:nvPr>
        </p:nvSpPr>
        <p:spPr/>
        <p:txBody>
          <a:bodyPr/>
          <a:lstStyle/>
          <a:p>
            <a:fld id="{6B620516-70CF-47FE-AA80-3DABE7EA9D45}" type="slidenum">
              <a:rPr lang="en-IN" smtClean="0">
                <a:solidFill>
                  <a:schemeClr val="bg1"/>
                </a:solidFill>
              </a:rPr>
              <a:t>6</a:t>
            </a:fld>
            <a:endParaRPr lang="en-IN">
              <a:solidFill>
                <a:schemeClr val="bg1"/>
              </a:solidFill>
            </a:endParaRPr>
          </a:p>
        </p:txBody>
      </p:sp>
      <p:sp>
        <p:nvSpPr>
          <p:cNvPr id="8" name="Title 1"/>
          <p:cNvSpPr txBox="1"/>
          <p:nvPr/>
        </p:nvSpPr>
        <p:spPr>
          <a:xfrm>
            <a:off x="2365375" y="-168275"/>
            <a:ext cx="6804660" cy="1509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IN" dirty="0">
                <a:latin typeface="Times New Roman" panose="02020603050405020304" pitchFamily="18" charset="0"/>
                <a:cs typeface="Times New Roman" panose="02020603050405020304" pitchFamily="18" charset="0"/>
              </a:rPr>
              <a:t>Background</a:t>
            </a:r>
            <a:r>
              <a:rPr lang="en-IN" dirty="0">
                <a:latin typeface="Times New Roman" panose="02020603050405020304" pitchFamily="18" charset="0"/>
                <a:cs typeface="Times New Roman" panose="02020603050405020304" pitchFamily="18" charset="0"/>
              </a:rPr>
              <a:t> of the problem</a:t>
            </a:r>
          </a:p>
        </p:txBody>
      </p:sp>
      <p:sp>
        <p:nvSpPr>
          <p:cNvPr id="3" name="TextBox 2">
            <a:extLst>
              <a:ext uri="{FF2B5EF4-FFF2-40B4-BE49-F238E27FC236}">
                <a16:creationId xmlns:a16="http://schemas.microsoft.com/office/drawing/2014/main" id="{E7FD69F4-8BDB-6BC0-C3B1-AC4A595FAA4F}"/>
              </a:ext>
            </a:extLst>
          </p:cNvPr>
          <p:cNvSpPr txBox="1"/>
          <p:nvPr/>
        </p:nvSpPr>
        <p:spPr>
          <a:xfrm>
            <a:off x="838200" y="1006113"/>
            <a:ext cx="10515600" cy="4661276"/>
          </a:xfrm>
          <a:prstGeom prst="rect">
            <a:avLst/>
          </a:prstGeom>
          <a:noFill/>
        </p:spPr>
        <p:txBody>
          <a:bodyPr wrap="square">
            <a:spAutoFit/>
          </a:bodyPr>
          <a:lstStyle/>
          <a:p>
            <a:pPr algn="just">
              <a:lnSpc>
                <a:spcPct val="150000"/>
              </a:lnSpc>
              <a:buNone/>
            </a:pPr>
            <a:r>
              <a:rPr lang="en-US" sz="2000" dirty="0"/>
              <a:t>With the growing popularity of wearable health devices such as the Empatica E4 and Polar H10, continuous monitoring of physiological signals has become a practical way to study human stress levels in real time. These devices can record important </a:t>
            </a:r>
            <a:r>
              <a:rPr lang="en-US" sz="2000" dirty="0" err="1"/>
              <a:t>biosignals</a:t>
            </a:r>
            <a:r>
              <a:rPr lang="en-US" sz="2000" dirty="0"/>
              <a:t> like heart rate, blood volume pulse, and skin temperature, which are closely linked to stress detection. However, while each device has been individually validated for accuracy, there is limited research comparing their performance under the same conditions. Differences in sensor design, data quality, and signal processing make it challenging to determine which device provides more reliable results for stress prediction. Therefore, a comparative study using machine learning techniques is necessary to analyze how both devices perform in detecting stress and to provide a clearer understanding of their effectiveness in health monitoring applications.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4C8B607-FD68-4E0B-54D5-F61E8A19C96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C4EF5E1-07CA-0C50-DBAC-80195A32A2D6}"/>
              </a:ext>
            </a:extLst>
          </p:cNvPr>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a:extLst>
              <a:ext uri="{FF2B5EF4-FFF2-40B4-BE49-F238E27FC236}">
                <a16:creationId xmlns:a16="http://schemas.microsoft.com/office/drawing/2014/main" id="{40329573-8F7D-A361-70B3-5DCED2D230C8}"/>
              </a:ext>
            </a:extLst>
          </p:cNvPr>
          <p:cNvSpPr>
            <a:spLocks noGrp="1"/>
          </p:cNvSpPr>
          <p:nvPr>
            <p:ph type="dt" sz="half" idx="10"/>
          </p:nvPr>
        </p:nvSpPr>
        <p:spPr/>
        <p:txBody>
          <a:bodyPr/>
          <a:lstStyle/>
          <a:p>
            <a:fld id="{35F0CDAF-E002-47AB-B0B1-D1ACBB9FB205}" type="datetime1">
              <a:rPr lang="en-IN" smtClean="0">
                <a:solidFill>
                  <a:schemeClr val="bg1"/>
                </a:solidFill>
              </a:rPr>
              <a:t>20-01-2026</a:t>
            </a:fld>
            <a:endParaRPr lang="en-IN">
              <a:solidFill>
                <a:schemeClr val="bg1"/>
              </a:solidFill>
            </a:endParaRPr>
          </a:p>
        </p:txBody>
      </p:sp>
      <p:sp>
        <p:nvSpPr>
          <p:cNvPr id="5" name="Footer Placeholder 4">
            <a:extLst>
              <a:ext uri="{FF2B5EF4-FFF2-40B4-BE49-F238E27FC236}">
                <a16:creationId xmlns:a16="http://schemas.microsoft.com/office/drawing/2014/main" id="{D52163D2-EB66-5EB0-C4C9-5CCDA4C8730A}"/>
              </a:ext>
            </a:extLst>
          </p:cNvPr>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a:extLst>
              <a:ext uri="{FF2B5EF4-FFF2-40B4-BE49-F238E27FC236}">
                <a16:creationId xmlns:a16="http://schemas.microsoft.com/office/drawing/2014/main" id="{82736ED9-F0BD-967F-107E-D2B2A638E017}"/>
              </a:ext>
            </a:extLst>
          </p:cNvPr>
          <p:cNvSpPr>
            <a:spLocks noGrp="1"/>
          </p:cNvSpPr>
          <p:nvPr>
            <p:ph type="sldNum" sz="quarter" idx="12"/>
          </p:nvPr>
        </p:nvSpPr>
        <p:spPr/>
        <p:txBody>
          <a:bodyPr/>
          <a:lstStyle/>
          <a:p>
            <a:fld id="{6B620516-70CF-47FE-AA80-3DABE7EA9D45}" type="slidenum">
              <a:rPr lang="en-IN" smtClean="0">
                <a:solidFill>
                  <a:schemeClr val="bg1"/>
                </a:solidFill>
              </a:rPr>
              <a:t>7</a:t>
            </a:fld>
            <a:endParaRPr lang="en-IN">
              <a:solidFill>
                <a:schemeClr val="bg1"/>
              </a:solidFill>
            </a:endParaRPr>
          </a:p>
        </p:txBody>
      </p:sp>
      <p:sp>
        <p:nvSpPr>
          <p:cNvPr id="9" name="Title 1">
            <a:extLst>
              <a:ext uri="{FF2B5EF4-FFF2-40B4-BE49-F238E27FC236}">
                <a16:creationId xmlns:a16="http://schemas.microsoft.com/office/drawing/2014/main" id="{98AC3CE5-6A58-051F-94D2-C59ABCC66A7D}"/>
              </a:ext>
            </a:extLst>
          </p:cNvPr>
          <p:cNvSpPr txBox="1"/>
          <p:nvPr/>
        </p:nvSpPr>
        <p:spPr>
          <a:xfrm>
            <a:off x="3905370" y="-261808"/>
            <a:ext cx="4381260" cy="150966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Different solutions</a:t>
            </a:r>
          </a:p>
        </p:txBody>
      </p:sp>
      <p:sp>
        <p:nvSpPr>
          <p:cNvPr id="3" name="TextBox 2">
            <a:extLst>
              <a:ext uri="{FF2B5EF4-FFF2-40B4-BE49-F238E27FC236}">
                <a16:creationId xmlns:a16="http://schemas.microsoft.com/office/drawing/2014/main" id="{2246B3A2-0BEE-CD9C-9D77-B7578757CCFE}"/>
              </a:ext>
            </a:extLst>
          </p:cNvPr>
          <p:cNvSpPr txBox="1"/>
          <p:nvPr/>
        </p:nvSpPr>
        <p:spPr>
          <a:xfrm>
            <a:off x="670367" y="820480"/>
            <a:ext cx="10683433" cy="6647974"/>
          </a:xfrm>
          <a:prstGeom prst="rect">
            <a:avLst/>
          </a:prstGeom>
          <a:noFill/>
        </p:spPr>
        <p:txBody>
          <a:bodyPr wrap="square">
            <a:spAutoFit/>
          </a:bodyPr>
          <a:lstStyle/>
          <a:p>
            <a:r>
              <a:rPr lang="en-US" b="1" dirty="0"/>
              <a:t>1. Comparison of Consumer Smart Devices</a:t>
            </a:r>
          </a:p>
          <a:p>
            <a:r>
              <a:rPr lang="en-US" b="1" dirty="0"/>
              <a:t>Devices Used:</a:t>
            </a:r>
            <a:r>
              <a:rPr lang="en-US" dirty="0"/>
              <a:t> Garmin, Mi, Huawei, Apple Watch, Polar H10, Empatica, Fitbit.</a:t>
            </a:r>
            <a:br>
              <a:rPr lang="en-US" dirty="0"/>
            </a:br>
            <a:r>
              <a:rPr lang="en-US" b="1" dirty="0"/>
              <a:t>Solution:</a:t>
            </a:r>
            <a:r>
              <a:rPr lang="en-US" dirty="0"/>
              <a:t> Real-world validation of physiological signals (heart rate, HRV, PPG) to estimate stress levels.</a:t>
            </a:r>
            <a:br>
              <a:rPr lang="en-US" dirty="0"/>
            </a:br>
            <a:r>
              <a:rPr lang="en-US" b="1" dirty="0"/>
              <a:t>Technique:</a:t>
            </a:r>
            <a:r>
              <a:rPr lang="en-US" dirty="0"/>
              <a:t> Comparison of wearable readings against gold-standard ECG to detect physiological variations linked to stress.</a:t>
            </a:r>
          </a:p>
          <a:p>
            <a:br>
              <a:rPr lang="en-US" dirty="0"/>
            </a:br>
            <a:endParaRPr lang="en-US" dirty="0"/>
          </a:p>
          <a:p>
            <a:r>
              <a:rPr lang="en-US" b="1" dirty="0"/>
              <a:t>2. Heart Rate Variability (HRV) Analysis</a:t>
            </a:r>
          </a:p>
          <a:p>
            <a:r>
              <a:rPr lang="en-US" b="1" dirty="0"/>
              <a:t>Devices Used:</a:t>
            </a:r>
            <a:r>
              <a:rPr lang="en-US" dirty="0"/>
              <a:t> Polar H10, Fitbit, Oura Ring, Whoop, Garmin.</a:t>
            </a:r>
            <a:br>
              <a:rPr lang="en-US" dirty="0"/>
            </a:br>
            <a:r>
              <a:rPr lang="en-US" b="1" dirty="0"/>
              <a:t>Solution:</a:t>
            </a:r>
            <a:r>
              <a:rPr lang="en-US" dirty="0"/>
              <a:t> HRV features such as LF/HF ratio are used as key indicators of stress response.</a:t>
            </a:r>
            <a:br>
              <a:rPr lang="en-US" dirty="0"/>
            </a:br>
            <a:r>
              <a:rPr lang="en-US" b="1" dirty="0"/>
              <a:t>Technique:</a:t>
            </a:r>
            <a:r>
              <a:rPr lang="en-US" dirty="0"/>
              <a:t> HRV time-domain and frequency-domain features computed from ECG or PPG data for stress classification.</a:t>
            </a:r>
          </a:p>
          <a:p>
            <a:br>
              <a:rPr lang="en-US" dirty="0"/>
            </a:br>
            <a:endParaRPr lang="en-US" dirty="0"/>
          </a:p>
          <a:p>
            <a:r>
              <a:rPr lang="en-US" b="1" dirty="0"/>
              <a:t>3. Photoplethysmography (PPG) Signal Processing</a:t>
            </a:r>
          </a:p>
          <a:p>
            <a:r>
              <a:rPr lang="en-US" b="1" dirty="0"/>
              <a:t>Devices Used:</a:t>
            </a:r>
            <a:r>
              <a:rPr lang="en-US" dirty="0"/>
              <a:t> Smartwatches and wristbands with optical sensors (Apple, Garmin, Huawei).</a:t>
            </a:r>
            <a:br>
              <a:rPr lang="en-US" dirty="0"/>
            </a:br>
            <a:r>
              <a:rPr lang="en-US" b="1" dirty="0"/>
              <a:t>Solution:</a:t>
            </a:r>
            <a:r>
              <a:rPr lang="en-US" dirty="0"/>
              <a:t> Detection of stress using pulse wave amplitude, heart rate, and variability in PPG signals.</a:t>
            </a:r>
            <a:br>
              <a:rPr lang="en-US" dirty="0"/>
            </a:br>
            <a:r>
              <a:rPr lang="en-US" b="1" dirty="0"/>
              <a:t>Technique:</a:t>
            </a:r>
            <a:r>
              <a:rPr lang="en-US" dirty="0"/>
              <a:t> Noise removal and signal smoothing followed by machine learning classification of stress vs. non-stress states.</a:t>
            </a:r>
          </a:p>
          <a:p>
            <a:br>
              <a:rPr lang="en-US" dirty="0"/>
            </a:br>
            <a:endParaRPr lang="en-US" dirty="0"/>
          </a:p>
          <a:p>
            <a:br>
              <a:rPr lang="en-US" sz="1600" dirty="0"/>
            </a:br>
            <a:endParaRPr lang="en-US" sz="1600" dirty="0"/>
          </a:p>
          <a:p>
            <a:endParaRPr lang="en-US" sz="1600" dirty="0"/>
          </a:p>
        </p:txBody>
      </p:sp>
    </p:spTree>
    <p:extLst>
      <p:ext uri="{BB962C8B-B14F-4D97-AF65-F5344CB8AC3E}">
        <p14:creationId xmlns:p14="http://schemas.microsoft.com/office/powerpoint/2010/main" val="3272459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44DDE5-6ABB-B16F-F26E-157B323D739D}"/>
              </a:ext>
            </a:extLst>
          </p:cNvPr>
          <p:cNvSpPr>
            <a:spLocks noGrp="1"/>
          </p:cNvSpPr>
          <p:nvPr>
            <p:ph idx="1"/>
          </p:nvPr>
        </p:nvSpPr>
        <p:spPr>
          <a:xfrm>
            <a:off x="838200" y="136526"/>
            <a:ext cx="10515600" cy="6040438"/>
          </a:xfrm>
        </p:spPr>
        <p:txBody>
          <a:bodyPr>
            <a:normAutofit fontScale="25000" lnSpcReduction="20000"/>
          </a:bodyPr>
          <a:lstStyle/>
          <a:p>
            <a:endParaRPr lang="en-US" b="1" dirty="0"/>
          </a:p>
          <a:p>
            <a:pPr marL="0" indent="0">
              <a:buNone/>
            </a:pPr>
            <a:endParaRPr lang="en-US" sz="6400" dirty="0"/>
          </a:p>
          <a:p>
            <a:pPr marL="0" indent="0">
              <a:lnSpc>
                <a:spcPct val="120000"/>
              </a:lnSpc>
              <a:buNone/>
            </a:pPr>
            <a:r>
              <a:rPr lang="en-US" sz="6400" b="1" dirty="0"/>
              <a:t>4. Multimodal Physiological Data Fusion</a:t>
            </a:r>
          </a:p>
          <a:p>
            <a:pPr marL="0" indent="0">
              <a:lnSpc>
                <a:spcPct val="120000"/>
              </a:lnSpc>
              <a:buNone/>
            </a:pPr>
            <a:r>
              <a:rPr lang="en-US" sz="6400" b="1" dirty="0"/>
              <a:t>Devices Used:</a:t>
            </a:r>
            <a:r>
              <a:rPr lang="en-US" sz="6400" dirty="0"/>
              <a:t> Empatica E4 (BVP, EDA, temperature, accelerometer), Polar H10 (ECG, HR).</a:t>
            </a:r>
            <a:br>
              <a:rPr lang="en-US" sz="6400" dirty="0"/>
            </a:br>
            <a:r>
              <a:rPr lang="en-US" sz="6400" b="1" dirty="0"/>
              <a:t>Solution:</a:t>
            </a:r>
            <a:r>
              <a:rPr lang="en-US" sz="6400" dirty="0"/>
              <a:t> Integration of multiple physiological parameters (EDA, HRV, skin temperature) to enhance stress detection accuracy.</a:t>
            </a:r>
            <a:br>
              <a:rPr lang="en-US" sz="6400" dirty="0"/>
            </a:br>
            <a:r>
              <a:rPr lang="en-US" sz="6400" b="1" dirty="0"/>
              <a:t>Technique:</a:t>
            </a:r>
            <a:r>
              <a:rPr lang="en-US" sz="6400" dirty="0"/>
              <a:t> Feature extraction and fusion of </a:t>
            </a:r>
            <a:r>
              <a:rPr lang="en-US" sz="6400" dirty="0" err="1"/>
              <a:t>biosignals</a:t>
            </a:r>
            <a:r>
              <a:rPr lang="en-US" sz="6400" dirty="0"/>
              <a:t> analyzed using supervised ML algorithms like SVM and Random Forest.</a:t>
            </a:r>
          </a:p>
          <a:p>
            <a:pPr marL="0" indent="0">
              <a:lnSpc>
                <a:spcPct val="120000"/>
              </a:lnSpc>
              <a:buNone/>
            </a:pPr>
            <a:br>
              <a:rPr lang="en-US" sz="6400" dirty="0"/>
            </a:br>
            <a:r>
              <a:rPr lang="en-US" sz="6400" b="1" dirty="0"/>
              <a:t>5. Supervised Machine Learning Models</a:t>
            </a:r>
          </a:p>
          <a:p>
            <a:pPr marL="0" indent="0">
              <a:lnSpc>
                <a:spcPct val="120000"/>
              </a:lnSpc>
              <a:buNone/>
            </a:pPr>
            <a:r>
              <a:rPr lang="en-US" sz="6400" b="1" dirty="0"/>
              <a:t>Approach:</a:t>
            </a:r>
            <a:r>
              <a:rPr lang="en-US" sz="6400" dirty="0"/>
              <a:t> Stress classification using labeled physiological datasets.</a:t>
            </a:r>
            <a:br>
              <a:rPr lang="en-US" sz="6400" dirty="0"/>
            </a:br>
            <a:r>
              <a:rPr lang="en-US" sz="6400" b="1" dirty="0"/>
              <a:t>Techniques Used:</a:t>
            </a:r>
            <a:r>
              <a:rPr lang="en-US" sz="6400" dirty="0"/>
              <a:t> Support Vector Machine (SVM), Random Forest (RF), Logistic Regression (LR), k-Nearest Neighbors (</a:t>
            </a:r>
            <a:r>
              <a:rPr lang="en-US" sz="6400" dirty="0" err="1"/>
              <a:t>kNN</a:t>
            </a:r>
            <a:r>
              <a:rPr lang="en-US" sz="6400" dirty="0"/>
              <a:t>).</a:t>
            </a:r>
            <a:br>
              <a:rPr lang="en-US" sz="6400" dirty="0"/>
            </a:br>
            <a:r>
              <a:rPr lang="en-US" sz="6400" b="1" dirty="0"/>
              <a:t>Input Features:</a:t>
            </a:r>
            <a:r>
              <a:rPr lang="en-US" sz="6400" dirty="0"/>
              <a:t> Heart rate, HRV metrics, EDA peaks, temperature variation, and motion activity for stress prediction.</a:t>
            </a:r>
          </a:p>
          <a:p>
            <a:pPr marL="0" indent="0">
              <a:lnSpc>
                <a:spcPct val="120000"/>
              </a:lnSpc>
              <a:buNone/>
            </a:pPr>
            <a:br>
              <a:rPr lang="en-US" sz="6400" dirty="0"/>
            </a:br>
            <a:r>
              <a:rPr lang="en-US" sz="6400" b="1" dirty="0"/>
              <a:t>6. Sleep and Activity-Based Stress Prediction</a:t>
            </a:r>
          </a:p>
          <a:p>
            <a:pPr marL="0" indent="0">
              <a:lnSpc>
                <a:spcPct val="120000"/>
              </a:lnSpc>
              <a:buNone/>
            </a:pPr>
            <a:r>
              <a:rPr lang="en-US" sz="6400" b="1" dirty="0"/>
              <a:t>Devices Used:</a:t>
            </a:r>
            <a:r>
              <a:rPr lang="en-US" sz="6400" dirty="0"/>
              <a:t> Oura Ring, Fitbit, Polar M600.</a:t>
            </a:r>
            <a:br>
              <a:rPr lang="en-US" sz="6400" dirty="0"/>
            </a:br>
            <a:r>
              <a:rPr lang="en-US" sz="6400" b="1" dirty="0"/>
              <a:t>Solution:</a:t>
            </a:r>
            <a:r>
              <a:rPr lang="en-US" sz="6400" dirty="0"/>
              <a:t> Identifying stress indirectly through changes in sleep quality and daily activity levels.</a:t>
            </a:r>
            <a:br>
              <a:rPr lang="en-US" sz="6400" dirty="0"/>
            </a:br>
            <a:r>
              <a:rPr lang="en-US" sz="6400" b="1" dirty="0"/>
              <a:t>Technique:</a:t>
            </a:r>
            <a:r>
              <a:rPr lang="en-US" sz="6400" dirty="0"/>
              <a:t> Actigraphy-based monitoring and sleep–wake cycle analysis to detect deviations linked with stress.</a:t>
            </a:r>
          </a:p>
          <a:p>
            <a:pPr marL="0" indent="0">
              <a:lnSpc>
                <a:spcPct val="120000"/>
              </a:lnSpc>
              <a:buNone/>
            </a:pPr>
            <a:br>
              <a:rPr lang="en-US" sz="6400" dirty="0"/>
            </a:br>
            <a:r>
              <a:rPr lang="en-US" sz="6400" b="1" dirty="0"/>
              <a:t>7. Comparative Device Validation</a:t>
            </a:r>
          </a:p>
          <a:p>
            <a:pPr marL="0" indent="0">
              <a:lnSpc>
                <a:spcPct val="120000"/>
              </a:lnSpc>
              <a:buNone/>
            </a:pPr>
            <a:r>
              <a:rPr lang="en-US" sz="6400" b="1" dirty="0"/>
              <a:t>Devices Compared:</a:t>
            </a:r>
            <a:r>
              <a:rPr lang="en-US" sz="6400" dirty="0"/>
              <a:t> Chest straps (Polar H10, H7), armbands (Polar OH1), and wrist sensors.</a:t>
            </a:r>
            <a:br>
              <a:rPr lang="en-US" sz="6400" dirty="0"/>
            </a:br>
            <a:r>
              <a:rPr lang="en-US" sz="6400" b="1" dirty="0"/>
              <a:t>Solution:</a:t>
            </a:r>
            <a:r>
              <a:rPr lang="en-US" sz="6400" dirty="0"/>
              <a:t> Evaluating the reliability of stress-related physiological parameters across sensor placements.</a:t>
            </a:r>
            <a:br>
              <a:rPr lang="en-US" sz="6400" dirty="0"/>
            </a:br>
            <a:r>
              <a:rPr lang="en-US" sz="6400" b="1" dirty="0"/>
              <a:t>Technique:</a:t>
            </a:r>
            <a:r>
              <a:rPr lang="en-US" sz="6400" dirty="0"/>
              <a:t> Signal synchronization and correlation with ECG under rest, activity, and induced stress conditions.</a:t>
            </a:r>
          </a:p>
          <a:p>
            <a:endParaRPr lang="en-US" dirty="0"/>
          </a:p>
        </p:txBody>
      </p:sp>
      <p:sp>
        <p:nvSpPr>
          <p:cNvPr id="4" name="Date Placeholder 3">
            <a:extLst>
              <a:ext uri="{FF2B5EF4-FFF2-40B4-BE49-F238E27FC236}">
                <a16:creationId xmlns:a16="http://schemas.microsoft.com/office/drawing/2014/main" id="{BDD60B4F-1BB4-D158-C0EF-2FE756354A1B}"/>
              </a:ext>
            </a:extLst>
          </p:cNvPr>
          <p:cNvSpPr>
            <a:spLocks noGrp="1"/>
          </p:cNvSpPr>
          <p:nvPr>
            <p:ph type="dt" sz="half" idx="10"/>
          </p:nvPr>
        </p:nvSpPr>
        <p:spPr/>
        <p:txBody>
          <a:bodyPr/>
          <a:lstStyle/>
          <a:p>
            <a:fld id="{0875A309-5F11-4E8C-AD32-FD268A91700E}" type="datetime1">
              <a:rPr lang="en-IN" smtClean="0"/>
              <a:t>20-01-2026</a:t>
            </a:fld>
            <a:endParaRPr lang="en-IN"/>
          </a:p>
        </p:txBody>
      </p:sp>
      <p:sp>
        <p:nvSpPr>
          <p:cNvPr id="5" name="Footer Placeholder 4">
            <a:extLst>
              <a:ext uri="{FF2B5EF4-FFF2-40B4-BE49-F238E27FC236}">
                <a16:creationId xmlns:a16="http://schemas.microsoft.com/office/drawing/2014/main" id="{32C99401-211A-7587-A6DD-150B6DB11C09}"/>
              </a:ext>
            </a:extLst>
          </p:cNvPr>
          <p:cNvSpPr>
            <a:spLocks noGrp="1"/>
          </p:cNvSpPr>
          <p:nvPr>
            <p:ph type="ftr" sz="quarter" idx="11"/>
          </p:nvPr>
        </p:nvSpPr>
        <p:spPr/>
        <p:txBody>
          <a:bodyPr/>
          <a:lstStyle/>
          <a:p>
            <a:r>
              <a:rPr lang="en-US"/>
              <a:t>Department Of Computer Science and Engineering </a:t>
            </a:r>
            <a:endParaRPr lang="en-IN"/>
          </a:p>
        </p:txBody>
      </p:sp>
      <p:sp>
        <p:nvSpPr>
          <p:cNvPr id="6" name="Slide Number Placeholder 5">
            <a:extLst>
              <a:ext uri="{FF2B5EF4-FFF2-40B4-BE49-F238E27FC236}">
                <a16:creationId xmlns:a16="http://schemas.microsoft.com/office/drawing/2014/main" id="{7D2C682C-6761-9D6B-0538-D7A150FA97C5}"/>
              </a:ext>
            </a:extLst>
          </p:cNvPr>
          <p:cNvSpPr>
            <a:spLocks noGrp="1"/>
          </p:cNvSpPr>
          <p:nvPr>
            <p:ph type="sldNum" sz="quarter" idx="12"/>
          </p:nvPr>
        </p:nvSpPr>
        <p:spPr/>
        <p:txBody>
          <a:bodyPr/>
          <a:lstStyle/>
          <a:p>
            <a:fld id="{6B620516-70CF-47FE-AA80-3DABE7EA9D45}" type="slidenum">
              <a:rPr lang="en-IN" smtClean="0"/>
              <a:t>8</a:t>
            </a:fld>
            <a:endParaRPr lang="en-IN"/>
          </a:p>
        </p:txBody>
      </p:sp>
    </p:spTree>
    <p:extLst>
      <p:ext uri="{BB962C8B-B14F-4D97-AF65-F5344CB8AC3E}">
        <p14:creationId xmlns:p14="http://schemas.microsoft.com/office/powerpoint/2010/main" val="464403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464C1-5E65-0A2F-32D6-1B8F82A6FDB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30A08A6-689B-434C-A73A-5853AE789076}"/>
              </a:ext>
            </a:extLst>
          </p:cNvPr>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a:extLst>
              <a:ext uri="{FF2B5EF4-FFF2-40B4-BE49-F238E27FC236}">
                <a16:creationId xmlns:a16="http://schemas.microsoft.com/office/drawing/2014/main" id="{F18BD384-442D-D5D1-93AD-70CC2B9AC53C}"/>
              </a:ext>
            </a:extLst>
          </p:cNvPr>
          <p:cNvSpPr>
            <a:spLocks noGrp="1"/>
          </p:cNvSpPr>
          <p:nvPr>
            <p:ph type="dt" sz="half" idx="10"/>
          </p:nvPr>
        </p:nvSpPr>
        <p:spPr/>
        <p:txBody>
          <a:bodyPr/>
          <a:lstStyle/>
          <a:p>
            <a:fld id="{35F0CDAF-E002-47AB-B0B1-D1ACBB9FB205}" type="datetime1">
              <a:rPr lang="en-IN" smtClean="0">
                <a:solidFill>
                  <a:schemeClr val="bg1"/>
                </a:solidFill>
              </a:rPr>
              <a:t>20-01-2026</a:t>
            </a:fld>
            <a:endParaRPr lang="en-IN">
              <a:solidFill>
                <a:schemeClr val="bg1"/>
              </a:solidFill>
            </a:endParaRPr>
          </a:p>
        </p:txBody>
      </p:sp>
      <p:sp>
        <p:nvSpPr>
          <p:cNvPr id="5" name="Footer Placeholder 4">
            <a:extLst>
              <a:ext uri="{FF2B5EF4-FFF2-40B4-BE49-F238E27FC236}">
                <a16:creationId xmlns:a16="http://schemas.microsoft.com/office/drawing/2014/main" id="{9EEDEBB8-3B70-1D89-D1D9-44FA0243847D}"/>
              </a:ext>
            </a:extLst>
          </p:cNvPr>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a:extLst>
              <a:ext uri="{FF2B5EF4-FFF2-40B4-BE49-F238E27FC236}">
                <a16:creationId xmlns:a16="http://schemas.microsoft.com/office/drawing/2014/main" id="{1CBC54B9-6BFB-F161-6246-40491B559D8D}"/>
              </a:ext>
            </a:extLst>
          </p:cNvPr>
          <p:cNvSpPr>
            <a:spLocks noGrp="1"/>
          </p:cNvSpPr>
          <p:nvPr>
            <p:ph type="sldNum" sz="quarter" idx="12"/>
          </p:nvPr>
        </p:nvSpPr>
        <p:spPr/>
        <p:txBody>
          <a:bodyPr/>
          <a:lstStyle/>
          <a:p>
            <a:fld id="{6B620516-70CF-47FE-AA80-3DABE7EA9D45}" type="slidenum">
              <a:rPr lang="en-IN" smtClean="0">
                <a:solidFill>
                  <a:schemeClr val="bg1"/>
                </a:solidFill>
              </a:rPr>
              <a:t>9</a:t>
            </a:fld>
            <a:endParaRPr lang="en-IN">
              <a:solidFill>
                <a:schemeClr val="bg1"/>
              </a:solidFill>
            </a:endParaRPr>
          </a:p>
        </p:txBody>
      </p:sp>
      <p:sp>
        <p:nvSpPr>
          <p:cNvPr id="9" name="Title 1">
            <a:extLst>
              <a:ext uri="{FF2B5EF4-FFF2-40B4-BE49-F238E27FC236}">
                <a16:creationId xmlns:a16="http://schemas.microsoft.com/office/drawing/2014/main" id="{AD0E4B16-0839-8ED6-2BEC-EE44C00FD770}"/>
              </a:ext>
            </a:extLst>
          </p:cNvPr>
          <p:cNvSpPr txBox="1"/>
          <p:nvPr/>
        </p:nvSpPr>
        <p:spPr>
          <a:xfrm>
            <a:off x="3905370" y="-261808"/>
            <a:ext cx="4381260" cy="150966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Objectives</a:t>
            </a:r>
          </a:p>
        </p:txBody>
      </p:sp>
      <p:sp>
        <p:nvSpPr>
          <p:cNvPr id="7" name="TextBox 6">
            <a:extLst>
              <a:ext uri="{FF2B5EF4-FFF2-40B4-BE49-F238E27FC236}">
                <a16:creationId xmlns:a16="http://schemas.microsoft.com/office/drawing/2014/main" id="{993C6E54-94A9-E5D9-2230-79541089791E}"/>
              </a:ext>
            </a:extLst>
          </p:cNvPr>
          <p:cNvSpPr txBox="1"/>
          <p:nvPr/>
        </p:nvSpPr>
        <p:spPr>
          <a:xfrm>
            <a:off x="1054352" y="1292303"/>
            <a:ext cx="10083296" cy="4154984"/>
          </a:xfrm>
          <a:prstGeom prst="rect">
            <a:avLst/>
          </a:prstGeom>
          <a:noFill/>
        </p:spPr>
        <p:txBody>
          <a:bodyPr wrap="square" lIns="91440" tIns="45720" rIns="91440" bIns="45720" anchor="t">
            <a:spAutoFit/>
          </a:bodyPr>
          <a:lstStyle/>
          <a:p>
            <a:pPr marL="342900" lvl="0" indent="-342900" algn="just"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To design </a:t>
            </a:r>
            <a:r>
              <a:rPr lang="en-US" altLang="en-US" dirty="0">
                <a:latin typeface="Arial" panose="020B0604020202020204" pitchFamily="34" charset="0"/>
              </a:rPr>
              <a:t>a framework to compare physiological signals collected from Empatica E4 and Polar H10 for effective stress detection.</a:t>
            </a:r>
          </a:p>
          <a:p>
            <a:pPr marL="342900" lvl="0" indent="-342900" algn="just"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To develop </a:t>
            </a:r>
            <a:r>
              <a:rPr lang="en-US" altLang="en-US" dirty="0">
                <a:latin typeface="Arial" panose="020B0604020202020204" pitchFamily="34" charset="0"/>
              </a:rPr>
              <a:t>a preprocessing pipeline that includes resampling, merging, handling missing data, and feature extraction to prepare high-quality input data for analysis.</a:t>
            </a:r>
          </a:p>
          <a:p>
            <a:pPr marL="342900" lvl="0" indent="-342900" algn="just"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To implement </a:t>
            </a:r>
            <a:r>
              <a:rPr lang="en-US" altLang="en-US" dirty="0">
                <a:latin typeface="Arial" panose="020B0604020202020204" pitchFamily="34" charset="0"/>
              </a:rPr>
              <a:t>supervised machine learning models  including Random Forest, Logistic Regression, Decision Tree, </a:t>
            </a:r>
            <a:r>
              <a:rPr lang="en-US" altLang="en-US" dirty="0" err="1">
                <a:latin typeface="Arial" panose="020B0604020202020204" pitchFamily="34" charset="0"/>
              </a:rPr>
              <a:t>XGBoost</a:t>
            </a:r>
            <a:r>
              <a:rPr lang="en-US" altLang="en-US" dirty="0">
                <a:latin typeface="Arial" panose="020B0604020202020204" pitchFamily="34" charset="0"/>
              </a:rPr>
              <a:t>, </a:t>
            </a:r>
            <a:r>
              <a:rPr lang="en-US" altLang="en-US" dirty="0" err="1">
                <a:latin typeface="Arial" panose="020B0604020202020204" pitchFamily="34" charset="0"/>
              </a:rPr>
              <a:t>CatBoost</a:t>
            </a:r>
            <a:r>
              <a:rPr lang="en-US" altLang="en-US" dirty="0">
                <a:latin typeface="Arial" panose="020B0604020202020204" pitchFamily="34" charset="0"/>
              </a:rPr>
              <a:t> Classifiers ,</a:t>
            </a:r>
            <a:r>
              <a:rPr lang="fr-FR" altLang="en-US" dirty="0">
                <a:latin typeface="Arial" panose="020B0604020202020204" pitchFamily="34" charset="0"/>
              </a:rPr>
              <a:t> </a:t>
            </a:r>
            <a:r>
              <a:rPr lang="fr-FR" altLang="en-US" dirty="0" err="1">
                <a:latin typeface="Arial" panose="020B0604020202020204" pitchFamily="34" charset="0"/>
              </a:rPr>
              <a:t>LightGBM</a:t>
            </a:r>
            <a:r>
              <a:rPr lang="fr-FR" altLang="en-US" dirty="0">
                <a:latin typeface="Arial" panose="020B0604020202020204" pitchFamily="34" charset="0"/>
              </a:rPr>
              <a:t> Classifier ,MLP Classifier and Deep MLP Classifier</a:t>
            </a:r>
            <a:r>
              <a:rPr lang="en-US" altLang="en-US" dirty="0">
                <a:latin typeface="Arial" panose="020B0604020202020204" pitchFamily="34" charset="0"/>
              </a:rPr>
              <a:t> for accurate stress level classification and comparison between devices.</a:t>
            </a:r>
          </a:p>
          <a:p>
            <a:pPr marL="342900" indent="-342900" algn="just">
              <a:buFont typeface="Arial" panose="020B0604020202020204" pitchFamily="34" charset="0"/>
              <a:buChar char="•"/>
            </a:pPr>
            <a:endParaRPr lang="en-US" sz="2000" dirty="0">
              <a:ea typeface="+mn-lt"/>
              <a:cs typeface="+mn-lt"/>
            </a:endParaRPr>
          </a:p>
          <a:p>
            <a:pPr marL="342900" indent="-342900" algn="just">
              <a:buFont typeface="Arial" panose="020B0604020202020204" pitchFamily="34" charset="0"/>
              <a:buChar char="•"/>
            </a:pPr>
            <a:r>
              <a:rPr lang="en-US" sz="2000" b="1" dirty="0"/>
              <a:t>To evaluate </a:t>
            </a:r>
            <a:r>
              <a:rPr lang="en-US" sz="2000" dirty="0"/>
              <a:t>supervised models using metrics like Accuracy,  Weighted F1-Score for effective stress detection between Empatica E4 and Polar H10.</a:t>
            </a:r>
          </a:p>
          <a:p>
            <a:endParaRPr lang="en-US" sz="2400" dirty="0">
              <a:ea typeface="+mn-lt"/>
              <a:cs typeface="+mn-lt"/>
            </a:endParaRPr>
          </a:p>
        </p:txBody>
      </p:sp>
    </p:spTree>
    <p:extLst>
      <p:ext uri="{BB962C8B-B14F-4D97-AF65-F5344CB8AC3E}">
        <p14:creationId xmlns:p14="http://schemas.microsoft.com/office/powerpoint/2010/main" val="59376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3D268-19A2-8B08-CF93-97CE36B2A6C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8F5B3AD-4A0C-17F6-AE12-2790FC6DA64D}"/>
              </a:ext>
            </a:extLst>
          </p:cNvPr>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a:extLst>
              <a:ext uri="{FF2B5EF4-FFF2-40B4-BE49-F238E27FC236}">
                <a16:creationId xmlns:a16="http://schemas.microsoft.com/office/drawing/2014/main" id="{49202827-6FCC-B308-0DF0-332B1FA64345}"/>
              </a:ext>
            </a:extLst>
          </p:cNvPr>
          <p:cNvSpPr>
            <a:spLocks noGrp="1"/>
          </p:cNvSpPr>
          <p:nvPr>
            <p:ph type="dt" sz="half" idx="10"/>
          </p:nvPr>
        </p:nvSpPr>
        <p:spPr/>
        <p:txBody>
          <a:bodyPr/>
          <a:lstStyle/>
          <a:p>
            <a:fld id="{35F0CDAF-E002-47AB-B0B1-D1ACBB9FB205}" type="datetime1">
              <a:rPr lang="en-IN" smtClean="0">
                <a:solidFill>
                  <a:schemeClr val="bg1"/>
                </a:solidFill>
              </a:rPr>
              <a:t>20-01-2026</a:t>
            </a:fld>
            <a:endParaRPr lang="en-IN">
              <a:solidFill>
                <a:schemeClr val="bg1"/>
              </a:solidFill>
            </a:endParaRPr>
          </a:p>
        </p:txBody>
      </p:sp>
      <p:sp>
        <p:nvSpPr>
          <p:cNvPr id="5" name="Footer Placeholder 4">
            <a:extLst>
              <a:ext uri="{FF2B5EF4-FFF2-40B4-BE49-F238E27FC236}">
                <a16:creationId xmlns:a16="http://schemas.microsoft.com/office/drawing/2014/main" id="{34A03BCF-D895-A026-4CCD-40BC144FA27C}"/>
              </a:ext>
            </a:extLst>
          </p:cNvPr>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a:extLst>
              <a:ext uri="{FF2B5EF4-FFF2-40B4-BE49-F238E27FC236}">
                <a16:creationId xmlns:a16="http://schemas.microsoft.com/office/drawing/2014/main" id="{038B8419-2417-27E6-77FC-2BAD49D2B5C2}"/>
              </a:ext>
            </a:extLst>
          </p:cNvPr>
          <p:cNvSpPr>
            <a:spLocks noGrp="1"/>
          </p:cNvSpPr>
          <p:nvPr>
            <p:ph type="sldNum" sz="quarter" idx="12"/>
          </p:nvPr>
        </p:nvSpPr>
        <p:spPr/>
        <p:txBody>
          <a:bodyPr/>
          <a:lstStyle/>
          <a:p>
            <a:fld id="{6B620516-70CF-47FE-AA80-3DABE7EA9D45}" type="slidenum">
              <a:rPr lang="en-IN" smtClean="0">
                <a:solidFill>
                  <a:schemeClr val="bg1"/>
                </a:solidFill>
              </a:rPr>
              <a:t>10</a:t>
            </a:fld>
            <a:endParaRPr lang="en-IN">
              <a:solidFill>
                <a:schemeClr val="bg1"/>
              </a:solidFill>
            </a:endParaRPr>
          </a:p>
        </p:txBody>
      </p:sp>
      <p:sp>
        <p:nvSpPr>
          <p:cNvPr id="9" name="Title 1">
            <a:extLst>
              <a:ext uri="{FF2B5EF4-FFF2-40B4-BE49-F238E27FC236}">
                <a16:creationId xmlns:a16="http://schemas.microsoft.com/office/drawing/2014/main" id="{8E2237E3-42F4-2905-6D1B-69DF21EFB5D7}"/>
              </a:ext>
            </a:extLst>
          </p:cNvPr>
          <p:cNvSpPr txBox="1"/>
          <p:nvPr/>
        </p:nvSpPr>
        <p:spPr>
          <a:xfrm>
            <a:off x="3123657" y="-169210"/>
            <a:ext cx="5944686" cy="150966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Base Paper for Research</a:t>
            </a:r>
          </a:p>
        </p:txBody>
      </p:sp>
      <p:sp>
        <p:nvSpPr>
          <p:cNvPr id="11" name="TextBox 10">
            <a:extLst>
              <a:ext uri="{FF2B5EF4-FFF2-40B4-BE49-F238E27FC236}">
                <a16:creationId xmlns:a16="http://schemas.microsoft.com/office/drawing/2014/main" id="{FD72A4A1-0567-BFA9-A698-4C0F33CB17E8}"/>
              </a:ext>
            </a:extLst>
          </p:cNvPr>
          <p:cNvSpPr txBox="1"/>
          <p:nvPr/>
        </p:nvSpPr>
        <p:spPr>
          <a:xfrm>
            <a:off x="531845" y="1335570"/>
            <a:ext cx="10991461" cy="3970318"/>
          </a:xfrm>
          <a:prstGeom prst="rect">
            <a:avLst/>
          </a:prstGeom>
          <a:noFill/>
        </p:spPr>
        <p:txBody>
          <a:bodyPr wrap="square" lIns="91440" tIns="45720" rIns="91440" bIns="45720" anchor="t">
            <a:spAutoFit/>
          </a:bodyPr>
          <a:lstStyle/>
          <a:p>
            <a:pPr algn="just"/>
            <a:r>
              <a:rPr lang="en-US" sz="2800" b="1" dirty="0">
                <a:ea typeface="+mn-lt"/>
                <a:cs typeface="+mn-lt"/>
              </a:rPr>
              <a:t>Dataset:</a:t>
            </a:r>
            <a:r>
              <a:rPr lang="en-US" sz="2800" dirty="0">
                <a:ea typeface="+mn-lt"/>
                <a:cs typeface="+mn-lt"/>
              </a:rPr>
              <a:t> 32 participants, each wearing six heart rate sensors (ECG[</a:t>
            </a:r>
            <a:r>
              <a:rPr lang="en-US" sz="2800" dirty="0"/>
              <a:t>Electrocardiogram]</a:t>
            </a:r>
            <a:r>
              <a:rPr lang="en-US" sz="2800" dirty="0">
                <a:ea typeface="+mn-lt"/>
                <a:cs typeface="+mn-lt"/>
              </a:rPr>
              <a:t>,PPG[</a:t>
            </a:r>
            <a:r>
              <a:rPr lang="en-US" sz="2800" dirty="0"/>
              <a:t>Photoplethysmography]</a:t>
            </a:r>
            <a:r>
              <a:rPr lang="en-US" sz="2800" dirty="0">
                <a:ea typeface="+mn-lt"/>
                <a:cs typeface="+mn-lt"/>
              </a:rPr>
              <a:t>, EDA[</a:t>
            </a:r>
            <a:r>
              <a:rPr lang="en-US" sz="2800" dirty="0"/>
              <a:t>Electrodermal Activity]</a:t>
            </a:r>
            <a:r>
              <a:rPr lang="en-US" sz="2800" dirty="0">
                <a:ea typeface="+mn-lt"/>
                <a:cs typeface="+mn-lt"/>
              </a:rPr>
              <a:t>) during 70-minute stress and activity sessions.</a:t>
            </a:r>
            <a:endParaRPr lang="en-US" sz="2400" dirty="0">
              <a:ea typeface="+mn-lt"/>
              <a:cs typeface="+mn-lt"/>
            </a:endParaRPr>
          </a:p>
          <a:p>
            <a:pPr algn="just"/>
            <a:r>
              <a:rPr lang="en-US" sz="2800" b="1" dirty="0">
                <a:ea typeface="+mn-lt"/>
                <a:cs typeface="+mn-lt"/>
              </a:rPr>
              <a:t>Models used:</a:t>
            </a:r>
            <a:r>
              <a:rPr lang="en-US" sz="2800" dirty="0">
                <a:ea typeface="+mn-lt"/>
                <a:cs typeface="+mn-lt"/>
              </a:rPr>
              <a:t> K-Means, </a:t>
            </a:r>
            <a:r>
              <a:rPr lang="en-US" sz="2800" dirty="0" err="1">
                <a:ea typeface="+mn-lt"/>
                <a:cs typeface="+mn-lt"/>
              </a:rPr>
              <a:t>Hierarchial</a:t>
            </a:r>
            <a:r>
              <a:rPr lang="en-US" sz="2800" dirty="0">
                <a:ea typeface="+mn-lt"/>
                <a:cs typeface="+mn-lt"/>
              </a:rPr>
              <a:t> Clustering.</a:t>
            </a:r>
            <a:endParaRPr lang="en-US" sz="2400" dirty="0"/>
          </a:p>
          <a:p>
            <a:pPr algn="just"/>
            <a:r>
              <a:rPr lang="en-US" sz="2800" b="1" dirty="0">
                <a:ea typeface="+mn-lt"/>
                <a:cs typeface="+mn-lt"/>
              </a:rPr>
              <a:t>Key predictors:</a:t>
            </a:r>
            <a:r>
              <a:rPr lang="en-US" sz="2800" dirty="0">
                <a:ea typeface="+mn-lt"/>
                <a:cs typeface="+mn-lt"/>
              </a:rPr>
              <a:t> HRV features (time-domain, frequency-domain, nonlinear measures).</a:t>
            </a:r>
            <a:endParaRPr lang="en-US" sz="2400" dirty="0">
              <a:ea typeface="+mn-lt"/>
              <a:cs typeface="+mn-lt"/>
            </a:endParaRPr>
          </a:p>
          <a:p>
            <a:pPr algn="just"/>
            <a:r>
              <a:rPr lang="en-US" sz="2800" b="1" dirty="0">
                <a:ea typeface="+mn-lt"/>
                <a:cs typeface="+mn-lt"/>
              </a:rPr>
              <a:t>Methodology:</a:t>
            </a:r>
            <a:r>
              <a:rPr lang="en-US" sz="2800" dirty="0">
                <a:ea typeface="+mn-lt"/>
                <a:cs typeface="+mn-lt"/>
              </a:rPr>
              <a:t> Quantitative Analysis (Pearson and Spearman Correlation).</a:t>
            </a:r>
            <a:endParaRPr lang="en-US" sz="2400" dirty="0">
              <a:ea typeface="+mn-lt"/>
              <a:cs typeface="+mn-lt"/>
            </a:endParaRPr>
          </a:p>
          <a:p>
            <a:pPr algn="just"/>
            <a:r>
              <a:rPr lang="en-US" sz="2800" b="1" dirty="0">
                <a:ea typeface="+mn-lt"/>
                <a:cs typeface="+mn-lt"/>
              </a:rPr>
              <a:t>Limitations:</a:t>
            </a:r>
            <a:r>
              <a:rPr lang="en-US" sz="2800" dirty="0">
                <a:ea typeface="+mn-lt"/>
                <a:cs typeface="+mn-lt"/>
              </a:rPr>
              <a:t> Only a few classifiers were tested; multimodal models could provide better accuracy. </a:t>
            </a:r>
            <a:endParaRPr lang="en-US" sz="2400" dirty="0">
              <a:ea typeface="+mn-lt"/>
              <a:cs typeface="+mn-lt"/>
            </a:endParaRPr>
          </a:p>
        </p:txBody>
      </p:sp>
    </p:spTree>
    <p:extLst>
      <p:ext uri="{BB962C8B-B14F-4D97-AF65-F5344CB8AC3E}">
        <p14:creationId xmlns:p14="http://schemas.microsoft.com/office/powerpoint/2010/main" val="3877449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p:cNvSpPr>
            <a:spLocks noGrp="1"/>
          </p:cNvSpPr>
          <p:nvPr>
            <p:ph type="dt" sz="half" idx="10"/>
          </p:nvPr>
        </p:nvSpPr>
        <p:spPr/>
        <p:txBody>
          <a:bodyPr/>
          <a:lstStyle/>
          <a:p>
            <a:fld id="{35F0CDAF-E002-47AB-B0B1-D1ACBB9FB205}" type="datetime1">
              <a:rPr lang="en-IN" smtClean="0">
                <a:solidFill>
                  <a:schemeClr val="bg1"/>
                </a:solidFill>
              </a:rPr>
              <a:t>20-01-2026</a:t>
            </a:fld>
            <a:endParaRPr lang="en-IN">
              <a:solidFill>
                <a:schemeClr val="bg1"/>
              </a:solidFill>
            </a:endParaRPr>
          </a:p>
        </p:txBody>
      </p:sp>
      <p:sp>
        <p:nvSpPr>
          <p:cNvPr id="5" name="Footer Placeholder 4"/>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p:cNvSpPr>
            <a:spLocks noGrp="1"/>
          </p:cNvSpPr>
          <p:nvPr>
            <p:ph type="sldNum" sz="quarter" idx="12"/>
          </p:nvPr>
        </p:nvSpPr>
        <p:spPr/>
        <p:txBody>
          <a:bodyPr/>
          <a:lstStyle/>
          <a:p>
            <a:fld id="{6B620516-70CF-47FE-AA80-3DABE7EA9D45}" type="slidenum">
              <a:rPr lang="en-IN" smtClean="0">
                <a:solidFill>
                  <a:schemeClr val="bg1"/>
                </a:solidFill>
              </a:rPr>
              <a:t>11</a:t>
            </a:fld>
            <a:endParaRPr lang="en-IN">
              <a:solidFill>
                <a:schemeClr val="bg1"/>
              </a:solidFill>
            </a:endParaRPr>
          </a:p>
        </p:txBody>
      </p:sp>
      <p:sp>
        <p:nvSpPr>
          <p:cNvPr id="9" name="Title 1"/>
          <p:cNvSpPr txBox="1"/>
          <p:nvPr/>
        </p:nvSpPr>
        <p:spPr>
          <a:xfrm>
            <a:off x="4563613" y="-201423"/>
            <a:ext cx="3589787" cy="150966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Tool learning</a:t>
            </a:r>
          </a:p>
        </p:txBody>
      </p:sp>
      <p:sp>
        <p:nvSpPr>
          <p:cNvPr id="3" name="TextBox 2">
            <a:extLst>
              <a:ext uri="{FF2B5EF4-FFF2-40B4-BE49-F238E27FC236}">
                <a16:creationId xmlns:a16="http://schemas.microsoft.com/office/drawing/2014/main" id="{625A4645-2977-6397-EAB8-474D6C0A4B2B}"/>
              </a:ext>
            </a:extLst>
          </p:cNvPr>
          <p:cNvSpPr txBox="1"/>
          <p:nvPr/>
        </p:nvSpPr>
        <p:spPr>
          <a:xfrm>
            <a:off x="838200" y="1329194"/>
            <a:ext cx="10834396" cy="391305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b="1" dirty="0" err="1"/>
              <a:t>Jupyter</a:t>
            </a:r>
            <a:r>
              <a:rPr lang="en-US" sz="2400" b="1" dirty="0"/>
              <a:t> Notebook </a:t>
            </a:r>
            <a:r>
              <a:rPr lang="en-US" sz="2400" dirty="0"/>
              <a:t>→ for experimentation, prototyping, and visualization.</a:t>
            </a:r>
          </a:p>
          <a:p>
            <a:pPr marL="285750" indent="-285750">
              <a:lnSpc>
                <a:spcPct val="150000"/>
              </a:lnSpc>
              <a:buFont typeface="Arial" panose="020B0604020202020204" pitchFamily="34" charset="0"/>
              <a:buChar char="•"/>
            </a:pPr>
            <a:r>
              <a:rPr lang="en-US" sz="2400" b="1" dirty="0"/>
              <a:t>Python </a:t>
            </a:r>
            <a:r>
              <a:rPr lang="en-US" sz="2400" dirty="0"/>
              <a:t>→ the go-to programming language for ML.</a:t>
            </a:r>
          </a:p>
          <a:p>
            <a:pPr marL="285750" indent="-285750">
              <a:lnSpc>
                <a:spcPct val="150000"/>
              </a:lnSpc>
              <a:buFont typeface="Arial" panose="020B0604020202020204" pitchFamily="34" charset="0"/>
              <a:buChar char="•"/>
            </a:pPr>
            <a:r>
              <a:rPr lang="en-US" sz="2400" b="1" dirty="0"/>
              <a:t>scikit-learn</a:t>
            </a:r>
            <a:r>
              <a:rPr lang="en-US" sz="2400" dirty="0"/>
              <a:t> → classic ML algorithms (regression, classification, clustering, etc.).</a:t>
            </a:r>
          </a:p>
          <a:p>
            <a:pPr marL="285750" indent="-285750">
              <a:lnSpc>
                <a:spcPct val="150000"/>
              </a:lnSpc>
              <a:buFont typeface="Arial" panose="020B0604020202020204" pitchFamily="34" charset="0"/>
              <a:buChar char="•"/>
            </a:pPr>
            <a:r>
              <a:rPr lang="en-US" sz="2400" b="1" dirty="0"/>
              <a:t>NumPy &amp; Pandas </a:t>
            </a:r>
            <a:r>
              <a:rPr lang="en-US" sz="2400" dirty="0"/>
              <a:t>→ data manipulation, preprocessing, and matrix operations.</a:t>
            </a:r>
          </a:p>
          <a:p>
            <a:pPr marL="285750" indent="-285750">
              <a:lnSpc>
                <a:spcPct val="150000"/>
              </a:lnSpc>
              <a:buFont typeface="Arial" panose="020B0604020202020204" pitchFamily="34" charset="0"/>
              <a:buChar char="•"/>
            </a:pPr>
            <a:r>
              <a:rPr lang="en-US" sz="2400" b="1" dirty="0"/>
              <a:t>Matplotlib &amp; Seaborn </a:t>
            </a:r>
            <a:r>
              <a:rPr lang="en-US" sz="2400" dirty="0"/>
              <a:t>→ data visualization and exploratory data analysis.</a:t>
            </a:r>
          </a:p>
          <a:p>
            <a:pPr marL="285750" indent="-285750">
              <a:lnSpc>
                <a:spcPct val="150000"/>
              </a:lnSpc>
              <a:buFont typeface="Arial" panose="020B0604020202020204" pitchFamily="34" charset="0"/>
              <a:buChar char="•"/>
            </a:pPr>
            <a:r>
              <a:rPr lang="en-US" sz="2400" b="1" dirty="0"/>
              <a:t>TensorFlow</a:t>
            </a:r>
            <a:r>
              <a:rPr lang="en-US" sz="2400" dirty="0"/>
              <a:t> → popular frameworks for neural networks.</a:t>
            </a:r>
          </a:p>
          <a:p>
            <a:pPr marL="285750" indent="-285750">
              <a:lnSpc>
                <a:spcPct val="150000"/>
              </a:lnSpc>
              <a:buFont typeface="Arial" panose="020B0604020202020204" pitchFamily="34" charset="0"/>
              <a:buChar char="•"/>
            </a:pPr>
            <a:r>
              <a:rPr lang="en-US" sz="2400" b="1" dirty="0" err="1"/>
              <a:t>PyTorch</a:t>
            </a:r>
            <a:r>
              <a:rPr lang="en-US" sz="2400" b="1" dirty="0"/>
              <a:t> </a:t>
            </a:r>
            <a:r>
              <a:rPr lang="en-US" sz="2400" dirty="0"/>
              <a:t>→ flexible and widely used in research and production.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p:cNvSpPr>
            <a:spLocks noGrp="1"/>
          </p:cNvSpPr>
          <p:nvPr>
            <p:ph type="dt" sz="half" idx="10"/>
          </p:nvPr>
        </p:nvSpPr>
        <p:spPr/>
        <p:txBody>
          <a:bodyPr/>
          <a:lstStyle/>
          <a:p>
            <a:fld id="{35F0CDAF-E002-47AB-B0B1-D1ACBB9FB205}" type="datetime1">
              <a:rPr lang="en-IN" smtClean="0">
                <a:solidFill>
                  <a:schemeClr val="bg1"/>
                </a:solidFill>
              </a:rPr>
              <a:t>20-01-2026</a:t>
            </a:fld>
            <a:endParaRPr lang="en-IN">
              <a:solidFill>
                <a:schemeClr val="bg1"/>
              </a:solidFill>
            </a:endParaRPr>
          </a:p>
        </p:txBody>
      </p:sp>
      <p:sp>
        <p:nvSpPr>
          <p:cNvPr id="5" name="Footer Placeholder 4"/>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p:cNvSpPr>
            <a:spLocks noGrp="1"/>
          </p:cNvSpPr>
          <p:nvPr>
            <p:ph type="sldNum" sz="quarter" idx="12"/>
          </p:nvPr>
        </p:nvSpPr>
        <p:spPr/>
        <p:txBody>
          <a:bodyPr/>
          <a:lstStyle/>
          <a:p>
            <a:fld id="{6B620516-70CF-47FE-AA80-3DABE7EA9D45}" type="slidenum">
              <a:rPr lang="en-IN" smtClean="0">
                <a:solidFill>
                  <a:schemeClr val="bg1"/>
                </a:solidFill>
              </a:rPr>
              <a:t>12</a:t>
            </a:fld>
            <a:endParaRPr lang="en-IN">
              <a:solidFill>
                <a:schemeClr val="bg1"/>
              </a:solidFill>
            </a:endParaRPr>
          </a:p>
        </p:txBody>
      </p:sp>
      <p:sp>
        <p:nvSpPr>
          <p:cNvPr id="9" name="Title 1"/>
          <p:cNvSpPr txBox="1"/>
          <p:nvPr/>
        </p:nvSpPr>
        <p:spPr>
          <a:xfrm>
            <a:off x="4038600" y="-201423"/>
            <a:ext cx="4924245" cy="150966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Dataset Description</a:t>
            </a:r>
          </a:p>
        </p:txBody>
      </p:sp>
      <p:sp>
        <p:nvSpPr>
          <p:cNvPr id="3" name="TextBox 2">
            <a:extLst>
              <a:ext uri="{FF2B5EF4-FFF2-40B4-BE49-F238E27FC236}">
                <a16:creationId xmlns:a16="http://schemas.microsoft.com/office/drawing/2014/main" id="{D121D5EF-6A7F-A849-D7E1-CE2D4EF19B01}"/>
              </a:ext>
            </a:extLst>
          </p:cNvPr>
          <p:cNvSpPr txBox="1"/>
          <p:nvPr/>
        </p:nvSpPr>
        <p:spPr>
          <a:xfrm>
            <a:off x="760128" y="896382"/>
            <a:ext cx="10444829" cy="2542363"/>
          </a:xfrm>
          <a:prstGeom prst="rect">
            <a:avLst/>
          </a:prstGeom>
          <a:noFill/>
        </p:spPr>
        <p:txBody>
          <a:bodyPr wrap="square" lIns="91440" tIns="45720" rIns="91440" bIns="45720" anchor="t">
            <a:spAutoFit/>
          </a:bodyPr>
          <a:lstStyle/>
          <a:p>
            <a:pPr marL="285750" indent="-285750">
              <a:lnSpc>
                <a:spcPct val="150000"/>
              </a:lnSpc>
              <a:buFont typeface="Arial" panose="020B0604020202020204" pitchFamily="34" charset="0"/>
              <a:buChar char="•"/>
            </a:pPr>
            <a:r>
              <a:rPr lang="en-US" dirty="0"/>
              <a:t>Multimodal dataset collected from 24 participants using 2 wearable devices.</a:t>
            </a:r>
            <a:endParaRPr lang="en-US" dirty="0">
              <a:ea typeface="Calibri"/>
              <a:cs typeface="Calibri"/>
            </a:endParaRPr>
          </a:p>
          <a:p>
            <a:pPr marL="285750" indent="-285750">
              <a:lnSpc>
                <a:spcPct val="150000"/>
              </a:lnSpc>
              <a:buFont typeface="Arial" panose="020B0604020202020204" pitchFamily="34" charset="0"/>
              <a:buChar char="•"/>
            </a:pPr>
            <a:r>
              <a:rPr lang="en-US" dirty="0"/>
              <a:t>Devices include a chest-belts, wristbands.</a:t>
            </a:r>
            <a:endParaRPr lang="en-US" dirty="0">
              <a:ea typeface="Calibri"/>
              <a:cs typeface="Calibri"/>
            </a:endParaRPr>
          </a:p>
          <a:p>
            <a:pPr marL="285750" indent="-285750">
              <a:lnSpc>
                <a:spcPct val="150000"/>
              </a:lnSpc>
              <a:buFont typeface="Arial" panose="020B0604020202020204" pitchFamily="34" charset="0"/>
              <a:buChar char="•"/>
            </a:pPr>
            <a:r>
              <a:rPr lang="en-US" dirty="0"/>
              <a:t>Activities performed: resting, cycling, running – each for 10 minutes at two intensity levels.</a:t>
            </a:r>
          </a:p>
          <a:p>
            <a:pPr marL="285750" indent="-285750">
              <a:lnSpc>
                <a:spcPct val="150000"/>
              </a:lnSpc>
              <a:buFont typeface="Arial" panose="020B0604020202020204" pitchFamily="34" charset="0"/>
              <a:buChar char="•"/>
            </a:pPr>
            <a:r>
              <a:rPr lang="en-US" dirty="0"/>
              <a:t>Covers light, moderate, and vigorous movement intensities.</a:t>
            </a:r>
          </a:p>
          <a:p>
            <a:pPr marL="285750" indent="-285750">
              <a:lnSpc>
                <a:spcPct val="150000"/>
              </a:lnSpc>
              <a:buFont typeface="Arial" panose="020B0604020202020204" pitchFamily="34" charset="0"/>
              <a:buChar char="•"/>
            </a:pPr>
            <a:r>
              <a:rPr lang="en-US" dirty="0"/>
              <a:t>Sensors capture HR, BVP, ACC, ECG, TEMP, IBI</a:t>
            </a:r>
            <a:endParaRPr lang="en-US" dirty="0">
              <a:ea typeface="Calibri"/>
              <a:cs typeface="Calibri"/>
            </a:endParaRPr>
          </a:p>
          <a:p>
            <a:pPr marL="285750" indent="-285750">
              <a:lnSpc>
                <a:spcPct val="150000"/>
              </a:lnSpc>
              <a:buFont typeface="Arial" panose="020B0604020202020204" pitchFamily="34" charset="0"/>
              <a:buChar char="•"/>
            </a:pPr>
            <a:r>
              <a:rPr lang="en-US" dirty="0">
                <a:ea typeface="+mn-lt"/>
                <a:cs typeface="+mn-lt"/>
              </a:rPr>
              <a:t>Dataset Link : </a:t>
            </a:r>
            <a:r>
              <a:rPr lang="en-US" dirty="0">
                <a:ea typeface="+mn-lt"/>
                <a:cs typeface="+mn-lt"/>
                <a:hlinkClick r:id="rId2"/>
              </a:rPr>
              <a:t>https://zenodo.org/records/14635823</a:t>
            </a:r>
            <a:endParaRPr lang="en-US">
              <a:ea typeface="Calibri"/>
              <a:cs typeface="Calibri"/>
            </a:endParaRPr>
          </a:p>
        </p:txBody>
      </p:sp>
      <p:pic>
        <p:nvPicPr>
          <p:cNvPr id="7" name="Picture 6" descr="A table of numbers and letters&#10;&#10;AI-generated content may be incorrect.">
            <a:extLst>
              <a:ext uri="{FF2B5EF4-FFF2-40B4-BE49-F238E27FC236}">
                <a16:creationId xmlns:a16="http://schemas.microsoft.com/office/drawing/2014/main" id="{B631A9B5-C2D8-CE18-C881-E5FA937D7104}"/>
              </a:ext>
            </a:extLst>
          </p:cNvPr>
          <p:cNvPicPr>
            <a:picLocks noChangeAspect="1"/>
          </p:cNvPicPr>
          <p:nvPr/>
        </p:nvPicPr>
        <p:blipFill>
          <a:blip r:embed="rId3"/>
          <a:srcRect r="-86" b="52265"/>
          <a:stretch>
            <a:fillRect/>
          </a:stretch>
        </p:blipFill>
        <p:spPr>
          <a:xfrm>
            <a:off x="268941" y="3437980"/>
            <a:ext cx="11418037" cy="253726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p:cNvSpPr>
            <a:spLocks noGrp="1"/>
          </p:cNvSpPr>
          <p:nvPr>
            <p:ph type="dt" sz="half" idx="10"/>
          </p:nvPr>
        </p:nvSpPr>
        <p:spPr/>
        <p:txBody>
          <a:bodyPr/>
          <a:lstStyle/>
          <a:p>
            <a:fld id="{35F0CDAF-E002-47AB-B0B1-D1ACBB9FB205}" type="datetime1">
              <a:rPr lang="en-IN" smtClean="0">
                <a:solidFill>
                  <a:schemeClr val="bg1"/>
                </a:solidFill>
              </a:rPr>
              <a:t>20-01-2026</a:t>
            </a:fld>
            <a:endParaRPr lang="en-IN">
              <a:solidFill>
                <a:schemeClr val="bg1"/>
              </a:solidFill>
            </a:endParaRPr>
          </a:p>
        </p:txBody>
      </p:sp>
      <p:sp>
        <p:nvSpPr>
          <p:cNvPr id="5" name="Footer Placeholder 4"/>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p:cNvSpPr>
            <a:spLocks noGrp="1"/>
          </p:cNvSpPr>
          <p:nvPr>
            <p:ph type="sldNum" sz="quarter" idx="12"/>
          </p:nvPr>
        </p:nvSpPr>
        <p:spPr/>
        <p:txBody>
          <a:bodyPr/>
          <a:lstStyle/>
          <a:p>
            <a:fld id="{6B620516-70CF-47FE-AA80-3DABE7EA9D45}" type="slidenum">
              <a:rPr lang="en-IN" smtClean="0">
                <a:solidFill>
                  <a:schemeClr val="bg1"/>
                </a:solidFill>
              </a:rPr>
              <a:t>13</a:t>
            </a:fld>
            <a:endParaRPr lang="en-IN">
              <a:solidFill>
                <a:schemeClr val="bg1"/>
              </a:solidFill>
            </a:endParaRPr>
          </a:p>
        </p:txBody>
      </p:sp>
      <p:sp>
        <p:nvSpPr>
          <p:cNvPr id="9" name="Title 1"/>
          <p:cNvSpPr txBox="1"/>
          <p:nvPr/>
        </p:nvSpPr>
        <p:spPr>
          <a:xfrm>
            <a:off x="3864634" y="-287687"/>
            <a:ext cx="5160033" cy="150966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Requirement Analysis </a:t>
            </a:r>
          </a:p>
        </p:txBody>
      </p:sp>
      <p:sp>
        <p:nvSpPr>
          <p:cNvPr id="3" name="TextBox 2">
            <a:extLst>
              <a:ext uri="{FF2B5EF4-FFF2-40B4-BE49-F238E27FC236}">
                <a16:creationId xmlns:a16="http://schemas.microsoft.com/office/drawing/2014/main" id="{9750355D-9AF1-9EF1-4869-0F73231FA276}"/>
              </a:ext>
            </a:extLst>
          </p:cNvPr>
          <p:cNvSpPr txBox="1"/>
          <p:nvPr/>
        </p:nvSpPr>
        <p:spPr>
          <a:xfrm>
            <a:off x="326572" y="785594"/>
            <a:ext cx="11681926" cy="5847755"/>
          </a:xfrm>
          <a:prstGeom prst="rect">
            <a:avLst/>
          </a:prstGeom>
          <a:noFill/>
        </p:spPr>
        <p:txBody>
          <a:bodyPr wrap="square">
            <a:spAutoFit/>
          </a:bodyPr>
          <a:lstStyle/>
          <a:p>
            <a:pPr algn="just"/>
            <a:r>
              <a:rPr lang="en-US" sz="1700" b="1" dirty="0"/>
              <a:t>1) Data Collection Needs</a:t>
            </a:r>
          </a:p>
          <a:p>
            <a:pPr algn="just"/>
            <a:r>
              <a:rPr lang="en-US" sz="1700" dirty="0"/>
              <a:t>Collect signals from </a:t>
            </a:r>
            <a:r>
              <a:rPr lang="en-US" sz="1700" b="1" dirty="0"/>
              <a:t>Polar H10 (HR </a:t>
            </a:r>
            <a:r>
              <a:rPr lang="en-US" sz="1700" dirty="0"/>
              <a:t>(</a:t>
            </a:r>
            <a:r>
              <a:rPr lang="en-US" altLang="en-US" sz="1700" dirty="0">
                <a:latin typeface="Arial" panose="020B0604020202020204" pitchFamily="34" charset="0"/>
              </a:rPr>
              <a:t>Heart Rate</a:t>
            </a:r>
            <a:r>
              <a:rPr lang="en-US" sz="1700" b="1" dirty="0"/>
              <a:t>),IBI </a:t>
            </a:r>
            <a:r>
              <a:rPr lang="en-US" sz="1700" dirty="0"/>
              <a:t>(</a:t>
            </a:r>
            <a:r>
              <a:rPr lang="en-US" altLang="en-US" sz="1700" dirty="0">
                <a:latin typeface="Arial" panose="020B0604020202020204" pitchFamily="34" charset="0"/>
              </a:rPr>
              <a:t>Inter-Beat Interval</a:t>
            </a:r>
            <a:r>
              <a:rPr lang="en-US" sz="1700" b="1" dirty="0"/>
              <a:t>),ECG </a:t>
            </a:r>
            <a:r>
              <a:rPr lang="en-US" sz="1700" dirty="0"/>
              <a:t>(</a:t>
            </a:r>
            <a:r>
              <a:rPr lang="en-US" altLang="en-US" sz="1700" dirty="0">
                <a:latin typeface="Arial" panose="020B0604020202020204" pitchFamily="34" charset="0"/>
              </a:rPr>
              <a:t>Electrocardiogram),</a:t>
            </a:r>
          </a:p>
          <a:p>
            <a:pPr algn="just"/>
            <a:r>
              <a:rPr lang="en-US" sz="1700" b="1" dirty="0"/>
              <a:t>ACC </a:t>
            </a:r>
            <a:r>
              <a:rPr lang="en-US" sz="1700" dirty="0"/>
              <a:t>(</a:t>
            </a:r>
            <a:r>
              <a:rPr lang="en-US" altLang="en-US" sz="1700" dirty="0">
                <a:latin typeface="Arial" panose="020B0604020202020204" pitchFamily="34" charset="0"/>
              </a:rPr>
              <a:t>Accelerometer)</a:t>
            </a:r>
            <a:r>
              <a:rPr lang="en-US" sz="1700" b="1" dirty="0"/>
              <a:t>)</a:t>
            </a:r>
            <a:r>
              <a:rPr lang="en-US" sz="1700" dirty="0"/>
              <a:t> and </a:t>
            </a:r>
            <a:r>
              <a:rPr lang="en-US" sz="1700" b="1" dirty="0"/>
              <a:t>Empatica E4 (HR,IBI,BVP</a:t>
            </a:r>
            <a:r>
              <a:rPr lang="en-US" sz="1700" dirty="0"/>
              <a:t>(Blood Volume Pulse),</a:t>
            </a:r>
            <a:r>
              <a:rPr lang="en-US" sz="1700" b="1" dirty="0"/>
              <a:t>ACC)</a:t>
            </a:r>
            <a:r>
              <a:rPr lang="en-US" sz="1700" dirty="0"/>
              <a:t>.</a:t>
            </a:r>
          </a:p>
          <a:p>
            <a:pPr algn="just"/>
            <a:r>
              <a:rPr lang="en-US" sz="1700" dirty="0"/>
              <a:t>Record data during </a:t>
            </a:r>
            <a:r>
              <a:rPr lang="en-US" sz="1700" b="1" dirty="0"/>
              <a:t>rest, light activity, and stress tasks</a:t>
            </a:r>
            <a:r>
              <a:rPr lang="en-US" sz="1700" dirty="0"/>
              <a:t>.</a:t>
            </a:r>
          </a:p>
          <a:p>
            <a:pPr algn="just"/>
            <a:r>
              <a:rPr lang="en-US" sz="1700" dirty="0"/>
              <a:t> </a:t>
            </a:r>
            <a:br>
              <a:rPr lang="en-US" sz="1700" dirty="0"/>
            </a:br>
            <a:r>
              <a:rPr lang="en-US" sz="1700" dirty="0"/>
              <a:t> 2) </a:t>
            </a:r>
            <a:r>
              <a:rPr lang="en-US" sz="1700" b="1" dirty="0"/>
              <a:t>System / Processing Requirements</a:t>
            </a:r>
          </a:p>
          <a:p>
            <a:pPr algn="just"/>
            <a:r>
              <a:rPr lang="en-US" sz="1700" b="1" dirty="0"/>
              <a:t>Clean data</a:t>
            </a:r>
            <a:r>
              <a:rPr lang="en-US" sz="1700" dirty="0"/>
              <a:t> using resampling and noise removal.</a:t>
            </a:r>
          </a:p>
          <a:p>
            <a:pPr algn="just"/>
            <a:r>
              <a:rPr lang="en-US" sz="1700" b="1" dirty="0"/>
              <a:t>Extract features</a:t>
            </a:r>
            <a:r>
              <a:rPr lang="en-US" sz="1700" dirty="0"/>
              <a:t> such as </a:t>
            </a:r>
            <a:r>
              <a:rPr lang="en-US" sz="1700" b="1" dirty="0"/>
              <a:t>HR, HRV changes</a:t>
            </a:r>
            <a:r>
              <a:rPr lang="en-US" sz="1700" dirty="0"/>
              <a:t>.</a:t>
            </a:r>
          </a:p>
          <a:p>
            <a:pPr algn="just"/>
            <a:endParaRPr lang="en-US" sz="1700" dirty="0"/>
          </a:p>
          <a:p>
            <a:pPr algn="just"/>
            <a:r>
              <a:rPr lang="en-US" sz="1700" dirty="0"/>
              <a:t>3)</a:t>
            </a:r>
            <a:r>
              <a:rPr lang="en-US" sz="1700" b="1" dirty="0"/>
              <a:t>Evaluation Requirements</a:t>
            </a:r>
          </a:p>
          <a:p>
            <a:pPr algn="just"/>
            <a:r>
              <a:rPr lang="en-US" sz="1700" dirty="0"/>
              <a:t>Measure model performance using </a:t>
            </a:r>
            <a:r>
              <a:rPr lang="en-US" sz="1700" b="1" dirty="0"/>
              <a:t>Accuracy, Weighted F1-Score.</a:t>
            </a:r>
            <a:endParaRPr lang="en-US" sz="1700" dirty="0"/>
          </a:p>
          <a:p>
            <a:pPr algn="just"/>
            <a:r>
              <a:rPr lang="en-US" sz="1700" b="1" dirty="0"/>
              <a:t>Compare results</a:t>
            </a:r>
            <a:r>
              <a:rPr lang="en-US" sz="1700" dirty="0"/>
              <a:t> between Empatica E4 and Polar H10.</a:t>
            </a:r>
          </a:p>
          <a:p>
            <a:pPr algn="just"/>
            <a:r>
              <a:rPr lang="en-US" sz="1700" b="1" dirty="0"/>
              <a:t>Test reliability</a:t>
            </a:r>
            <a:r>
              <a:rPr lang="en-US" sz="1700" dirty="0"/>
              <a:t> across different people, activities, and stress levels.</a:t>
            </a:r>
          </a:p>
          <a:p>
            <a:pPr algn="just"/>
            <a:endParaRPr lang="en-US" sz="1700" dirty="0"/>
          </a:p>
          <a:p>
            <a:pPr algn="just"/>
            <a:r>
              <a:rPr lang="en-US" sz="1700" b="1" dirty="0"/>
              <a:t>4) Stress Level Analysis</a:t>
            </a:r>
          </a:p>
          <a:p>
            <a:pPr algn="just"/>
            <a:r>
              <a:rPr lang="en-US" sz="1700" dirty="0"/>
              <a:t>The proposed work assigns stress levels using simple thresholds based on well-known physiological signals linked to stress. Studies indicate that </a:t>
            </a:r>
            <a:r>
              <a:rPr lang="en-US" sz="1700" b="1" dirty="0"/>
              <a:t>lower heart rate variability </a:t>
            </a:r>
            <a:r>
              <a:rPr lang="en-US" sz="1700" dirty="0"/>
              <a:t>(both the mean and variation) correlates significantly with </a:t>
            </a:r>
            <a:r>
              <a:rPr lang="en-US" sz="1700" b="1" dirty="0"/>
              <a:t>increased stress levels</a:t>
            </a:r>
            <a:r>
              <a:rPr lang="en-US" sz="1700" dirty="0"/>
              <a:t>, and that a </a:t>
            </a:r>
            <a:r>
              <a:rPr lang="en-US" sz="1700" b="1" dirty="0"/>
              <a:t>reduced inter-beat interval </a:t>
            </a:r>
            <a:r>
              <a:rPr lang="en-US" sz="1700" dirty="0"/>
              <a:t>signifies an </a:t>
            </a:r>
            <a:r>
              <a:rPr lang="en-US" sz="1700" b="1" dirty="0"/>
              <a:t>increased heart rate</a:t>
            </a:r>
            <a:r>
              <a:rPr lang="en-US" sz="1700" dirty="0"/>
              <a:t>, another prevalent indicator of stress. The </a:t>
            </a:r>
            <a:r>
              <a:rPr lang="en-US" sz="1700" dirty="0" err="1"/>
              <a:t>Empatica</a:t>
            </a:r>
            <a:r>
              <a:rPr lang="en-US" sz="1700" dirty="0"/>
              <a:t> E4 does not measure HRV, so the study uses skin temperature instead. Skin temperature tends to drop when a person is stressed because blood flow to the skin decreases. Based on these patterns, values below</a:t>
            </a:r>
            <a:r>
              <a:rPr lang="en-US" sz="1700" b="1" dirty="0"/>
              <a:t> -0.5 </a:t>
            </a:r>
            <a:r>
              <a:rPr lang="en-US" sz="1700" dirty="0"/>
              <a:t>were labeled as </a:t>
            </a:r>
            <a:r>
              <a:rPr lang="en-US" sz="1700" b="1" dirty="0"/>
              <a:t>High stress</a:t>
            </a:r>
            <a:r>
              <a:rPr lang="en-US" sz="1700" dirty="0"/>
              <a:t>, values above </a:t>
            </a:r>
            <a:r>
              <a:rPr lang="en-US" sz="1700" b="1" dirty="0"/>
              <a:t>+0.5 </a:t>
            </a:r>
            <a:r>
              <a:rPr lang="en-US" sz="1700" dirty="0"/>
              <a:t>were labeled as </a:t>
            </a:r>
            <a:r>
              <a:rPr lang="en-US" sz="1700" b="1" dirty="0"/>
              <a:t>Low stress</a:t>
            </a:r>
            <a:r>
              <a:rPr lang="en-US" sz="1700" dirty="0"/>
              <a:t>, and anything in between is marked as </a:t>
            </a:r>
            <a:r>
              <a:rPr lang="en-US" sz="1700" b="1" dirty="0"/>
              <a:t>Medium stress</a:t>
            </a:r>
            <a:r>
              <a:rPr lang="en-US" sz="1700" dirty="0"/>
              <a:t>.</a:t>
            </a:r>
          </a:p>
          <a:p>
            <a:pPr algn="just"/>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p:cNvSpPr>
            <a:spLocks noGrp="1"/>
          </p:cNvSpPr>
          <p:nvPr>
            <p:ph type="dt" sz="half" idx="10"/>
          </p:nvPr>
        </p:nvSpPr>
        <p:spPr/>
        <p:txBody>
          <a:bodyPr/>
          <a:lstStyle/>
          <a:p>
            <a:fld id="{09868C32-08C2-42CD-82DD-51FFDCAF9CB3}" type="datetime1">
              <a:rPr lang="en-IN" smtClean="0">
                <a:solidFill>
                  <a:schemeClr val="bg1"/>
                </a:solidFill>
              </a:rPr>
              <a:t>20-01-2026</a:t>
            </a:fld>
            <a:endParaRPr lang="en-IN">
              <a:solidFill>
                <a:schemeClr val="bg1"/>
              </a:solidFill>
            </a:endParaRPr>
          </a:p>
        </p:txBody>
      </p:sp>
      <p:sp>
        <p:nvSpPr>
          <p:cNvPr id="5" name="Footer Placeholder 4"/>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p:cNvSpPr>
            <a:spLocks noGrp="1"/>
          </p:cNvSpPr>
          <p:nvPr>
            <p:ph type="sldNum" sz="quarter" idx="12"/>
          </p:nvPr>
        </p:nvSpPr>
        <p:spPr/>
        <p:txBody>
          <a:bodyPr/>
          <a:lstStyle/>
          <a:p>
            <a:fld id="{6B620516-70CF-47FE-AA80-3DABE7EA9D45}" type="slidenum">
              <a:rPr lang="en-IN" smtClean="0">
                <a:solidFill>
                  <a:schemeClr val="bg1"/>
                </a:solidFill>
              </a:rPr>
              <a:t>14</a:t>
            </a:fld>
            <a:endParaRPr lang="en-IN">
              <a:solidFill>
                <a:schemeClr val="bg1"/>
              </a:solidFill>
            </a:endParaRPr>
          </a:p>
        </p:txBody>
      </p:sp>
      <p:sp>
        <p:nvSpPr>
          <p:cNvPr id="7" name="Title 1"/>
          <p:cNvSpPr txBox="1"/>
          <p:nvPr/>
        </p:nvSpPr>
        <p:spPr>
          <a:xfrm>
            <a:off x="903605" y="-167640"/>
            <a:ext cx="9975889" cy="1509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IN" dirty="0">
                <a:latin typeface="Times New Roman" panose="02020603050405020304" pitchFamily="18" charset="0"/>
                <a:cs typeface="Times New Roman" panose="02020603050405020304" pitchFamily="18" charset="0"/>
              </a:rPr>
              <a:t> Block diagram of proposed methodology</a:t>
            </a:r>
          </a:p>
        </p:txBody>
      </p:sp>
      <p:pic>
        <p:nvPicPr>
          <p:cNvPr id="2" name="Picture 1">
            <a:extLst>
              <a:ext uri="{FF2B5EF4-FFF2-40B4-BE49-F238E27FC236}">
                <a16:creationId xmlns:a16="http://schemas.microsoft.com/office/drawing/2014/main" id="{CE46DA9C-DC29-3D64-5303-9AB4E4012197}"/>
              </a:ext>
            </a:extLst>
          </p:cNvPr>
          <p:cNvPicPr>
            <a:picLocks noChangeAspect="1"/>
          </p:cNvPicPr>
          <p:nvPr/>
        </p:nvPicPr>
        <p:blipFill>
          <a:blip r:embed="rId2"/>
          <a:stretch>
            <a:fillRect/>
          </a:stretch>
        </p:blipFill>
        <p:spPr>
          <a:xfrm>
            <a:off x="514349" y="1341755"/>
            <a:ext cx="11229491" cy="43685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8812D-5F80-1076-BAAB-9446B23A485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48468C1C-90A7-F45C-0FA6-9B793B824E81}"/>
              </a:ext>
            </a:extLst>
          </p:cNvPr>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a:extLst>
              <a:ext uri="{FF2B5EF4-FFF2-40B4-BE49-F238E27FC236}">
                <a16:creationId xmlns:a16="http://schemas.microsoft.com/office/drawing/2014/main" id="{15D61E52-9D7F-6295-98AF-BC9AC7D23B82}"/>
              </a:ext>
            </a:extLst>
          </p:cNvPr>
          <p:cNvSpPr>
            <a:spLocks noGrp="1"/>
          </p:cNvSpPr>
          <p:nvPr>
            <p:ph type="dt" sz="half" idx="10"/>
          </p:nvPr>
        </p:nvSpPr>
        <p:spPr/>
        <p:txBody>
          <a:bodyPr/>
          <a:lstStyle/>
          <a:p>
            <a:fld id="{09868C32-08C2-42CD-82DD-51FFDCAF9CB3}" type="datetime1">
              <a:rPr lang="en-IN" smtClean="0">
                <a:solidFill>
                  <a:schemeClr val="bg1"/>
                </a:solidFill>
              </a:rPr>
              <a:t>20-01-2026</a:t>
            </a:fld>
            <a:endParaRPr lang="en-IN">
              <a:solidFill>
                <a:schemeClr val="bg1"/>
              </a:solidFill>
            </a:endParaRPr>
          </a:p>
        </p:txBody>
      </p:sp>
      <p:sp>
        <p:nvSpPr>
          <p:cNvPr id="5" name="Footer Placeholder 4">
            <a:extLst>
              <a:ext uri="{FF2B5EF4-FFF2-40B4-BE49-F238E27FC236}">
                <a16:creationId xmlns:a16="http://schemas.microsoft.com/office/drawing/2014/main" id="{09AE8F70-C00F-B56A-2626-CB575EDBE6DD}"/>
              </a:ext>
            </a:extLst>
          </p:cNvPr>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a:extLst>
              <a:ext uri="{FF2B5EF4-FFF2-40B4-BE49-F238E27FC236}">
                <a16:creationId xmlns:a16="http://schemas.microsoft.com/office/drawing/2014/main" id="{A9A920D8-5E64-9D4E-B00C-CBDB5B1FF6E2}"/>
              </a:ext>
            </a:extLst>
          </p:cNvPr>
          <p:cNvSpPr>
            <a:spLocks noGrp="1"/>
          </p:cNvSpPr>
          <p:nvPr>
            <p:ph type="sldNum" sz="quarter" idx="12"/>
          </p:nvPr>
        </p:nvSpPr>
        <p:spPr/>
        <p:txBody>
          <a:bodyPr/>
          <a:lstStyle/>
          <a:p>
            <a:fld id="{6B620516-70CF-47FE-AA80-3DABE7EA9D45}" type="slidenum">
              <a:rPr lang="en-IN" smtClean="0">
                <a:solidFill>
                  <a:schemeClr val="bg1"/>
                </a:solidFill>
              </a:rPr>
              <a:t>15</a:t>
            </a:fld>
            <a:endParaRPr lang="en-IN">
              <a:solidFill>
                <a:schemeClr val="bg1"/>
              </a:solidFill>
            </a:endParaRPr>
          </a:p>
        </p:txBody>
      </p:sp>
      <p:sp>
        <p:nvSpPr>
          <p:cNvPr id="7" name="Title 1">
            <a:extLst>
              <a:ext uri="{FF2B5EF4-FFF2-40B4-BE49-F238E27FC236}">
                <a16:creationId xmlns:a16="http://schemas.microsoft.com/office/drawing/2014/main" id="{5A1A34BB-DCEC-4749-42FB-5AD86C565713}"/>
              </a:ext>
            </a:extLst>
          </p:cNvPr>
          <p:cNvSpPr txBox="1"/>
          <p:nvPr/>
        </p:nvSpPr>
        <p:spPr>
          <a:xfrm>
            <a:off x="1032115" y="-195632"/>
            <a:ext cx="9586595" cy="1509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IN" sz="3000" dirty="0">
                <a:latin typeface="Times New Roman" panose="02020603050405020304" pitchFamily="18" charset="0"/>
                <a:cs typeface="Times New Roman" panose="02020603050405020304" pitchFamily="18" charset="0"/>
              </a:rPr>
              <a:t>Model Architecture 1 (Decision Tree Classifier)</a:t>
            </a:r>
          </a:p>
        </p:txBody>
      </p:sp>
      <p:sp>
        <p:nvSpPr>
          <p:cNvPr id="2" name="AutoShape 2">
            <a:extLst>
              <a:ext uri="{FF2B5EF4-FFF2-40B4-BE49-F238E27FC236}">
                <a16:creationId xmlns:a16="http://schemas.microsoft.com/office/drawing/2014/main" id="{A9C559A6-7E39-E878-733F-A777AC92E97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a:extLst>
              <a:ext uri="{FF2B5EF4-FFF2-40B4-BE49-F238E27FC236}">
                <a16:creationId xmlns:a16="http://schemas.microsoft.com/office/drawing/2014/main" id="{B6AE7217-9691-A58D-283F-AFD10326AB1A}"/>
              </a:ext>
            </a:extLst>
          </p:cNvPr>
          <p:cNvSpPr>
            <a:spLocks noChangeAspect="1" noChangeArrowheads="1"/>
          </p:cNvSpPr>
          <p:nvPr/>
        </p:nvSpPr>
        <p:spPr bwMode="auto">
          <a:xfrm>
            <a:off x="2892491" y="1586204"/>
            <a:ext cx="5505060" cy="214759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6">
            <a:extLst>
              <a:ext uri="{FF2B5EF4-FFF2-40B4-BE49-F238E27FC236}">
                <a16:creationId xmlns:a16="http://schemas.microsoft.com/office/drawing/2014/main" id="{90F1E8C1-784C-90A8-DF2D-27D2A18E78B1}"/>
              </a:ext>
            </a:extLst>
          </p:cNvPr>
          <p:cNvSpPr>
            <a:spLocks noChangeAspect="1" noChangeArrowheads="1"/>
          </p:cNvSpPr>
          <p:nvPr/>
        </p:nvSpPr>
        <p:spPr bwMode="auto">
          <a:xfrm>
            <a:off x="2892491" y="2090057"/>
            <a:ext cx="6774023" cy="2390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8" name="Picture 17">
            <a:extLst>
              <a:ext uri="{FF2B5EF4-FFF2-40B4-BE49-F238E27FC236}">
                <a16:creationId xmlns:a16="http://schemas.microsoft.com/office/drawing/2014/main" id="{3320BBCC-D94D-1234-E753-D63ED049FDBF}"/>
              </a:ext>
            </a:extLst>
          </p:cNvPr>
          <p:cNvPicPr>
            <a:picLocks noChangeAspect="1"/>
          </p:cNvPicPr>
          <p:nvPr/>
        </p:nvPicPr>
        <p:blipFill>
          <a:blip r:embed="rId2"/>
          <a:stretch>
            <a:fillRect/>
          </a:stretch>
        </p:blipFill>
        <p:spPr>
          <a:xfrm>
            <a:off x="2286000" y="1156996"/>
            <a:ext cx="7620000" cy="4879910"/>
          </a:xfrm>
          <a:prstGeom prst="rect">
            <a:avLst/>
          </a:prstGeom>
        </p:spPr>
      </p:pic>
    </p:spTree>
    <p:extLst>
      <p:ext uri="{BB962C8B-B14F-4D97-AF65-F5344CB8AC3E}">
        <p14:creationId xmlns:p14="http://schemas.microsoft.com/office/powerpoint/2010/main" val="3319207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2BE49-D93A-D75D-1970-3A33DF21EF32}"/>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6A917DC7-03C7-BF46-03C7-B0EDBB532F51}"/>
              </a:ext>
            </a:extLst>
          </p:cNvPr>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a:extLst>
              <a:ext uri="{FF2B5EF4-FFF2-40B4-BE49-F238E27FC236}">
                <a16:creationId xmlns:a16="http://schemas.microsoft.com/office/drawing/2014/main" id="{46FA8A19-5214-0DB9-0184-87D9BE7CC9CF}"/>
              </a:ext>
            </a:extLst>
          </p:cNvPr>
          <p:cNvSpPr>
            <a:spLocks noGrp="1"/>
          </p:cNvSpPr>
          <p:nvPr>
            <p:ph type="dt" sz="half" idx="10"/>
          </p:nvPr>
        </p:nvSpPr>
        <p:spPr/>
        <p:txBody>
          <a:bodyPr/>
          <a:lstStyle/>
          <a:p>
            <a:fld id="{09868C32-08C2-42CD-82DD-51FFDCAF9CB3}" type="datetime1">
              <a:rPr lang="en-IN" smtClean="0">
                <a:solidFill>
                  <a:schemeClr val="bg1"/>
                </a:solidFill>
              </a:rPr>
              <a:t>20-01-2026</a:t>
            </a:fld>
            <a:endParaRPr lang="en-IN">
              <a:solidFill>
                <a:schemeClr val="bg1"/>
              </a:solidFill>
            </a:endParaRPr>
          </a:p>
        </p:txBody>
      </p:sp>
      <p:sp>
        <p:nvSpPr>
          <p:cNvPr id="5" name="Footer Placeholder 4">
            <a:extLst>
              <a:ext uri="{FF2B5EF4-FFF2-40B4-BE49-F238E27FC236}">
                <a16:creationId xmlns:a16="http://schemas.microsoft.com/office/drawing/2014/main" id="{E84D4C18-C1CB-05E0-82AF-FA57E1DA6601}"/>
              </a:ext>
            </a:extLst>
          </p:cNvPr>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a:extLst>
              <a:ext uri="{FF2B5EF4-FFF2-40B4-BE49-F238E27FC236}">
                <a16:creationId xmlns:a16="http://schemas.microsoft.com/office/drawing/2014/main" id="{51C38E5F-84E1-4565-47E5-9055115E2BAF}"/>
              </a:ext>
            </a:extLst>
          </p:cNvPr>
          <p:cNvSpPr>
            <a:spLocks noGrp="1"/>
          </p:cNvSpPr>
          <p:nvPr>
            <p:ph type="sldNum" sz="quarter" idx="12"/>
          </p:nvPr>
        </p:nvSpPr>
        <p:spPr/>
        <p:txBody>
          <a:bodyPr/>
          <a:lstStyle/>
          <a:p>
            <a:fld id="{6B620516-70CF-47FE-AA80-3DABE7EA9D45}" type="slidenum">
              <a:rPr lang="en-IN" smtClean="0">
                <a:solidFill>
                  <a:schemeClr val="bg1"/>
                </a:solidFill>
              </a:rPr>
              <a:t>16</a:t>
            </a:fld>
            <a:endParaRPr lang="en-IN">
              <a:solidFill>
                <a:schemeClr val="bg1"/>
              </a:solidFill>
            </a:endParaRPr>
          </a:p>
        </p:txBody>
      </p:sp>
      <p:sp>
        <p:nvSpPr>
          <p:cNvPr id="7" name="Title 1">
            <a:extLst>
              <a:ext uri="{FF2B5EF4-FFF2-40B4-BE49-F238E27FC236}">
                <a16:creationId xmlns:a16="http://schemas.microsoft.com/office/drawing/2014/main" id="{EECC4BB0-B3A6-2522-8872-924D2208751A}"/>
              </a:ext>
            </a:extLst>
          </p:cNvPr>
          <p:cNvSpPr txBox="1"/>
          <p:nvPr/>
        </p:nvSpPr>
        <p:spPr>
          <a:xfrm>
            <a:off x="1032115" y="-195632"/>
            <a:ext cx="9586595" cy="1509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IN" sz="3000" dirty="0">
                <a:latin typeface="Times New Roman" panose="02020603050405020304" pitchFamily="18" charset="0"/>
                <a:cs typeface="Times New Roman" panose="02020603050405020304" pitchFamily="18" charset="0"/>
              </a:rPr>
              <a:t>Model Architecture 2 (Random Forest Classifier)</a:t>
            </a:r>
          </a:p>
        </p:txBody>
      </p:sp>
      <p:pic>
        <p:nvPicPr>
          <p:cNvPr id="2" name="Picture 1">
            <a:extLst>
              <a:ext uri="{FF2B5EF4-FFF2-40B4-BE49-F238E27FC236}">
                <a16:creationId xmlns:a16="http://schemas.microsoft.com/office/drawing/2014/main" id="{DCA3B377-C47A-7B0D-D643-42E321F43362}"/>
              </a:ext>
            </a:extLst>
          </p:cNvPr>
          <p:cNvPicPr>
            <a:picLocks noChangeAspect="1"/>
          </p:cNvPicPr>
          <p:nvPr/>
        </p:nvPicPr>
        <p:blipFill>
          <a:blip r:embed="rId2"/>
          <a:stretch>
            <a:fillRect/>
          </a:stretch>
        </p:blipFill>
        <p:spPr>
          <a:xfrm>
            <a:off x="2286000" y="1063691"/>
            <a:ext cx="7620000" cy="5156134"/>
          </a:xfrm>
          <a:prstGeom prst="rect">
            <a:avLst/>
          </a:prstGeom>
        </p:spPr>
      </p:pic>
    </p:spTree>
    <p:extLst>
      <p:ext uri="{BB962C8B-B14F-4D97-AF65-F5344CB8AC3E}">
        <p14:creationId xmlns:p14="http://schemas.microsoft.com/office/powerpoint/2010/main" val="1011583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1BCFD73-AAB0-D1D4-ED0A-34AEEB292691}"/>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A5F7C0EC-454B-FF02-B864-01844238409F}"/>
              </a:ext>
            </a:extLst>
          </p:cNvPr>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a:extLst>
              <a:ext uri="{FF2B5EF4-FFF2-40B4-BE49-F238E27FC236}">
                <a16:creationId xmlns:a16="http://schemas.microsoft.com/office/drawing/2014/main" id="{2A9677E4-3813-4CAD-DE0F-24A52CF6E6AE}"/>
              </a:ext>
            </a:extLst>
          </p:cNvPr>
          <p:cNvSpPr>
            <a:spLocks noGrp="1"/>
          </p:cNvSpPr>
          <p:nvPr>
            <p:ph type="dt" sz="half" idx="10"/>
          </p:nvPr>
        </p:nvSpPr>
        <p:spPr/>
        <p:txBody>
          <a:bodyPr/>
          <a:lstStyle/>
          <a:p>
            <a:fld id="{09868C32-08C2-42CD-82DD-51FFDCAF9CB3}" type="datetime1">
              <a:rPr lang="en-IN" smtClean="0">
                <a:solidFill>
                  <a:schemeClr val="bg1"/>
                </a:solidFill>
              </a:rPr>
              <a:t>20-01-2026</a:t>
            </a:fld>
            <a:endParaRPr lang="en-IN">
              <a:solidFill>
                <a:schemeClr val="bg1"/>
              </a:solidFill>
            </a:endParaRPr>
          </a:p>
        </p:txBody>
      </p:sp>
      <p:sp>
        <p:nvSpPr>
          <p:cNvPr id="5" name="Footer Placeholder 4">
            <a:extLst>
              <a:ext uri="{FF2B5EF4-FFF2-40B4-BE49-F238E27FC236}">
                <a16:creationId xmlns:a16="http://schemas.microsoft.com/office/drawing/2014/main" id="{3E38DF72-683A-CD22-C475-5CB77BDB5DB6}"/>
              </a:ext>
            </a:extLst>
          </p:cNvPr>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a:extLst>
              <a:ext uri="{FF2B5EF4-FFF2-40B4-BE49-F238E27FC236}">
                <a16:creationId xmlns:a16="http://schemas.microsoft.com/office/drawing/2014/main" id="{58CC3BFB-4F59-5524-67BB-029001D03844}"/>
              </a:ext>
            </a:extLst>
          </p:cNvPr>
          <p:cNvSpPr>
            <a:spLocks noGrp="1"/>
          </p:cNvSpPr>
          <p:nvPr>
            <p:ph type="sldNum" sz="quarter" idx="12"/>
          </p:nvPr>
        </p:nvSpPr>
        <p:spPr/>
        <p:txBody>
          <a:bodyPr/>
          <a:lstStyle/>
          <a:p>
            <a:fld id="{6B620516-70CF-47FE-AA80-3DABE7EA9D45}" type="slidenum">
              <a:rPr lang="en-IN" smtClean="0">
                <a:solidFill>
                  <a:schemeClr val="bg1"/>
                </a:solidFill>
              </a:rPr>
              <a:t>17</a:t>
            </a:fld>
            <a:endParaRPr lang="en-IN">
              <a:solidFill>
                <a:schemeClr val="bg1"/>
              </a:solidFill>
            </a:endParaRPr>
          </a:p>
        </p:txBody>
      </p:sp>
      <p:sp>
        <p:nvSpPr>
          <p:cNvPr id="7" name="Title 1">
            <a:extLst>
              <a:ext uri="{FF2B5EF4-FFF2-40B4-BE49-F238E27FC236}">
                <a16:creationId xmlns:a16="http://schemas.microsoft.com/office/drawing/2014/main" id="{C2897318-4376-3DA7-8944-E97D88696892}"/>
              </a:ext>
            </a:extLst>
          </p:cNvPr>
          <p:cNvSpPr txBox="1"/>
          <p:nvPr/>
        </p:nvSpPr>
        <p:spPr>
          <a:xfrm>
            <a:off x="1032115" y="-195632"/>
            <a:ext cx="9586595" cy="1509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IN" sz="3000" dirty="0">
                <a:latin typeface="Times New Roman" panose="02020603050405020304" pitchFamily="18" charset="0"/>
                <a:cs typeface="Times New Roman" panose="02020603050405020304" pitchFamily="18" charset="0"/>
              </a:rPr>
              <a:t>Model Architecture 3 (Deep MLP)</a:t>
            </a:r>
          </a:p>
        </p:txBody>
      </p:sp>
      <p:pic>
        <p:nvPicPr>
          <p:cNvPr id="3" name="Picture 2">
            <a:extLst>
              <a:ext uri="{FF2B5EF4-FFF2-40B4-BE49-F238E27FC236}">
                <a16:creationId xmlns:a16="http://schemas.microsoft.com/office/drawing/2014/main" id="{05958307-223A-4654-D9D2-1083C2F7B5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4718" y="1015383"/>
            <a:ext cx="7222564" cy="4993531"/>
          </a:xfrm>
          <a:prstGeom prst="rect">
            <a:avLst/>
          </a:prstGeom>
        </p:spPr>
      </p:pic>
    </p:spTree>
    <p:extLst>
      <p:ext uri="{BB962C8B-B14F-4D97-AF65-F5344CB8AC3E}">
        <p14:creationId xmlns:p14="http://schemas.microsoft.com/office/powerpoint/2010/main" val="2314834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79142-0246-833F-0C0D-547AE11E391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0D95B318-5F40-DCB7-C3A8-A284E0F9250E}"/>
              </a:ext>
            </a:extLst>
          </p:cNvPr>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a:extLst>
              <a:ext uri="{FF2B5EF4-FFF2-40B4-BE49-F238E27FC236}">
                <a16:creationId xmlns:a16="http://schemas.microsoft.com/office/drawing/2014/main" id="{12CDB68F-D3DF-CCC2-5ACF-99675A258511}"/>
              </a:ext>
            </a:extLst>
          </p:cNvPr>
          <p:cNvSpPr>
            <a:spLocks noGrp="1"/>
          </p:cNvSpPr>
          <p:nvPr>
            <p:ph type="dt" sz="half" idx="10"/>
          </p:nvPr>
        </p:nvSpPr>
        <p:spPr/>
        <p:txBody>
          <a:bodyPr/>
          <a:lstStyle/>
          <a:p>
            <a:fld id="{09868C32-08C2-42CD-82DD-51FFDCAF9CB3}" type="datetime1">
              <a:rPr lang="en-IN" smtClean="0">
                <a:solidFill>
                  <a:schemeClr val="bg1"/>
                </a:solidFill>
              </a:rPr>
              <a:t>20-01-2026</a:t>
            </a:fld>
            <a:endParaRPr lang="en-IN">
              <a:solidFill>
                <a:schemeClr val="bg1"/>
              </a:solidFill>
            </a:endParaRPr>
          </a:p>
        </p:txBody>
      </p:sp>
      <p:sp>
        <p:nvSpPr>
          <p:cNvPr id="5" name="Footer Placeholder 4">
            <a:extLst>
              <a:ext uri="{FF2B5EF4-FFF2-40B4-BE49-F238E27FC236}">
                <a16:creationId xmlns:a16="http://schemas.microsoft.com/office/drawing/2014/main" id="{C65B4035-BEC3-F711-1B44-F32163484038}"/>
              </a:ext>
            </a:extLst>
          </p:cNvPr>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a:extLst>
              <a:ext uri="{FF2B5EF4-FFF2-40B4-BE49-F238E27FC236}">
                <a16:creationId xmlns:a16="http://schemas.microsoft.com/office/drawing/2014/main" id="{1CD2D562-560F-4B14-90C1-E6D54646F48B}"/>
              </a:ext>
            </a:extLst>
          </p:cNvPr>
          <p:cNvSpPr>
            <a:spLocks noGrp="1"/>
          </p:cNvSpPr>
          <p:nvPr>
            <p:ph type="sldNum" sz="quarter" idx="12"/>
          </p:nvPr>
        </p:nvSpPr>
        <p:spPr/>
        <p:txBody>
          <a:bodyPr/>
          <a:lstStyle/>
          <a:p>
            <a:fld id="{6B620516-70CF-47FE-AA80-3DABE7EA9D45}" type="slidenum">
              <a:rPr lang="en-IN" smtClean="0">
                <a:solidFill>
                  <a:schemeClr val="bg1"/>
                </a:solidFill>
              </a:rPr>
              <a:t>18</a:t>
            </a:fld>
            <a:endParaRPr lang="en-IN">
              <a:solidFill>
                <a:schemeClr val="bg1"/>
              </a:solidFill>
            </a:endParaRPr>
          </a:p>
        </p:txBody>
      </p:sp>
      <p:sp>
        <p:nvSpPr>
          <p:cNvPr id="7" name="Title 1">
            <a:extLst>
              <a:ext uri="{FF2B5EF4-FFF2-40B4-BE49-F238E27FC236}">
                <a16:creationId xmlns:a16="http://schemas.microsoft.com/office/drawing/2014/main" id="{B6BCB71F-1D53-E88E-23CE-4CA15B432C4C}"/>
              </a:ext>
            </a:extLst>
          </p:cNvPr>
          <p:cNvSpPr txBox="1"/>
          <p:nvPr/>
        </p:nvSpPr>
        <p:spPr>
          <a:xfrm>
            <a:off x="1032115" y="-195632"/>
            <a:ext cx="9586595" cy="1509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IN" sz="3000" dirty="0">
                <a:latin typeface="Times New Roman" panose="02020603050405020304" pitchFamily="18" charset="0"/>
                <a:cs typeface="Times New Roman" panose="02020603050405020304" pitchFamily="18" charset="0"/>
              </a:rPr>
              <a:t>Model Architecture 4 (</a:t>
            </a:r>
            <a:r>
              <a:rPr lang="en-US" altLang="en-IN" sz="3000" dirty="0" err="1">
                <a:latin typeface="Times New Roman" panose="02020603050405020304" pitchFamily="18" charset="0"/>
                <a:cs typeface="Times New Roman" panose="02020603050405020304" pitchFamily="18" charset="0"/>
              </a:rPr>
              <a:t>CatBoost</a:t>
            </a:r>
            <a:r>
              <a:rPr lang="en-US" altLang="en-IN" sz="3000" dirty="0">
                <a:latin typeface="Times New Roman" panose="02020603050405020304" pitchFamily="18" charset="0"/>
                <a:cs typeface="Times New Roman" panose="02020603050405020304" pitchFamily="18" charset="0"/>
              </a:rPr>
              <a:t> Classifier)</a:t>
            </a:r>
          </a:p>
        </p:txBody>
      </p:sp>
      <p:pic>
        <p:nvPicPr>
          <p:cNvPr id="2" name="Picture 1">
            <a:extLst>
              <a:ext uri="{FF2B5EF4-FFF2-40B4-BE49-F238E27FC236}">
                <a16:creationId xmlns:a16="http://schemas.microsoft.com/office/drawing/2014/main" id="{0D1A1AD4-F599-5727-4D47-EBC3CCF5E947}"/>
              </a:ext>
            </a:extLst>
          </p:cNvPr>
          <p:cNvPicPr>
            <a:picLocks noChangeAspect="1"/>
          </p:cNvPicPr>
          <p:nvPr/>
        </p:nvPicPr>
        <p:blipFill>
          <a:blip r:embed="rId2"/>
          <a:stretch>
            <a:fillRect/>
          </a:stretch>
        </p:blipFill>
        <p:spPr>
          <a:xfrm>
            <a:off x="3227250" y="998376"/>
            <a:ext cx="5737500" cy="5131836"/>
          </a:xfrm>
          <a:prstGeom prst="rect">
            <a:avLst/>
          </a:prstGeom>
        </p:spPr>
      </p:pic>
    </p:spTree>
    <p:extLst>
      <p:ext uri="{BB962C8B-B14F-4D97-AF65-F5344CB8AC3E}">
        <p14:creationId xmlns:p14="http://schemas.microsoft.com/office/powerpoint/2010/main" val="1425254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9AF12-47D6-CCCC-91E1-AC1C31DF5FA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0D2E07E3-35AB-47F1-15F6-0C04B9BF7BE1}"/>
              </a:ext>
            </a:extLst>
          </p:cNvPr>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a:extLst>
              <a:ext uri="{FF2B5EF4-FFF2-40B4-BE49-F238E27FC236}">
                <a16:creationId xmlns:a16="http://schemas.microsoft.com/office/drawing/2014/main" id="{B12B33BE-67AF-03A2-6321-40B2CDD0944A}"/>
              </a:ext>
            </a:extLst>
          </p:cNvPr>
          <p:cNvSpPr>
            <a:spLocks noGrp="1"/>
          </p:cNvSpPr>
          <p:nvPr>
            <p:ph type="dt" sz="half" idx="10"/>
          </p:nvPr>
        </p:nvSpPr>
        <p:spPr/>
        <p:txBody>
          <a:bodyPr/>
          <a:lstStyle/>
          <a:p>
            <a:fld id="{09868C32-08C2-42CD-82DD-51FFDCAF9CB3}" type="datetime1">
              <a:rPr lang="en-IN" smtClean="0">
                <a:solidFill>
                  <a:schemeClr val="bg1"/>
                </a:solidFill>
              </a:rPr>
              <a:t>20-01-2026</a:t>
            </a:fld>
            <a:endParaRPr lang="en-IN">
              <a:solidFill>
                <a:schemeClr val="bg1"/>
              </a:solidFill>
            </a:endParaRPr>
          </a:p>
        </p:txBody>
      </p:sp>
      <p:sp>
        <p:nvSpPr>
          <p:cNvPr id="5" name="Footer Placeholder 4">
            <a:extLst>
              <a:ext uri="{FF2B5EF4-FFF2-40B4-BE49-F238E27FC236}">
                <a16:creationId xmlns:a16="http://schemas.microsoft.com/office/drawing/2014/main" id="{CA50468C-AED7-815E-2EF8-346034786892}"/>
              </a:ext>
            </a:extLst>
          </p:cNvPr>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a:extLst>
              <a:ext uri="{FF2B5EF4-FFF2-40B4-BE49-F238E27FC236}">
                <a16:creationId xmlns:a16="http://schemas.microsoft.com/office/drawing/2014/main" id="{4B9B3DC5-756A-9B77-61B9-05A35D0C7AB7}"/>
              </a:ext>
            </a:extLst>
          </p:cNvPr>
          <p:cNvSpPr>
            <a:spLocks noGrp="1"/>
          </p:cNvSpPr>
          <p:nvPr>
            <p:ph type="sldNum" sz="quarter" idx="12"/>
          </p:nvPr>
        </p:nvSpPr>
        <p:spPr/>
        <p:txBody>
          <a:bodyPr/>
          <a:lstStyle/>
          <a:p>
            <a:fld id="{6B620516-70CF-47FE-AA80-3DABE7EA9D45}" type="slidenum">
              <a:rPr lang="en-IN" smtClean="0">
                <a:solidFill>
                  <a:schemeClr val="bg1"/>
                </a:solidFill>
              </a:rPr>
              <a:t>19</a:t>
            </a:fld>
            <a:endParaRPr lang="en-IN">
              <a:solidFill>
                <a:schemeClr val="bg1"/>
              </a:solidFill>
            </a:endParaRPr>
          </a:p>
        </p:txBody>
      </p:sp>
      <p:sp>
        <p:nvSpPr>
          <p:cNvPr id="7" name="Title 1">
            <a:extLst>
              <a:ext uri="{FF2B5EF4-FFF2-40B4-BE49-F238E27FC236}">
                <a16:creationId xmlns:a16="http://schemas.microsoft.com/office/drawing/2014/main" id="{F5651D7E-D535-59D5-35FF-836BC35D0EAE}"/>
              </a:ext>
            </a:extLst>
          </p:cNvPr>
          <p:cNvSpPr txBox="1"/>
          <p:nvPr/>
        </p:nvSpPr>
        <p:spPr>
          <a:xfrm>
            <a:off x="903605" y="-167640"/>
            <a:ext cx="9586595" cy="1509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IN" dirty="0">
                <a:latin typeface="Times New Roman" panose="02020603050405020304" pitchFamily="18" charset="0"/>
                <a:cs typeface="Times New Roman" panose="02020603050405020304" pitchFamily="18" charset="0"/>
              </a:rPr>
              <a:t>         Graph of Empatica E4</a:t>
            </a:r>
          </a:p>
        </p:txBody>
      </p:sp>
      <p:pic>
        <p:nvPicPr>
          <p:cNvPr id="2" name="Picture 1">
            <a:extLst>
              <a:ext uri="{FF2B5EF4-FFF2-40B4-BE49-F238E27FC236}">
                <a16:creationId xmlns:a16="http://schemas.microsoft.com/office/drawing/2014/main" id="{812E9CA2-8898-E268-4048-646C4CCE11E8}"/>
              </a:ext>
            </a:extLst>
          </p:cNvPr>
          <p:cNvPicPr>
            <a:picLocks noChangeAspect="1"/>
          </p:cNvPicPr>
          <p:nvPr/>
        </p:nvPicPr>
        <p:blipFill>
          <a:blip r:embed="rId2"/>
          <a:srcRect t="3507" b="7056"/>
          <a:stretch>
            <a:fillRect/>
          </a:stretch>
        </p:blipFill>
        <p:spPr>
          <a:xfrm>
            <a:off x="0" y="979714"/>
            <a:ext cx="12110766" cy="5001207"/>
          </a:xfrm>
          <a:prstGeom prst="rect">
            <a:avLst/>
          </a:prstGeom>
        </p:spPr>
      </p:pic>
    </p:spTree>
    <p:extLst>
      <p:ext uri="{BB962C8B-B14F-4D97-AF65-F5344CB8AC3E}">
        <p14:creationId xmlns:p14="http://schemas.microsoft.com/office/powerpoint/2010/main" val="1061818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741F-C5CB-C56C-4C1C-B0A6521C65DF}"/>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700D234E-7818-1003-25A9-3340F845DF62}"/>
              </a:ext>
            </a:extLst>
          </p:cNvPr>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a:extLst>
              <a:ext uri="{FF2B5EF4-FFF2-40B4-BE49-F238E27FC236}">
                <a16:creationId xmlns:a16="http://schemas.microsoft.com/office/drawing/2014/main" id="{C39CF826-6551-7900-0A57-7051799922E4}"/>
              </a:ext>
            </a:extLst>
          </p:cNvPr>
          <p:cNvSpPr>
            <a:spLocks noGrp="1"/>
          </p:cNvSpPr>
          <p:nvPr>
            <p:ph type="dt" sz="half" idx="10"/>
          </p:nvPr>
        </p:nvSpPr>
        <p:spPr/>
        <p:txBody>
          <a:bodyPr/>
          <a:lstStyle/>
          <a:p>
            <a:fld id="{09868C32-08C2-42CD-82DD-51FFDCAF9CB3}" type="datetime1">
              <a:rPr lang="en-IN" smtClean="0">
                <a:solidFill>
                  <a:schemeClr val="bg1"/>
                </a:solidFill>
              </a:rPr>
              <a:t>20-01-2026</a:t>
            </a:fld>
            <a:endParaRPr lang="en-IN">
              <a:solidFill>
                <a:schemeClr val="bg1"/>
              </a:solidFill>
            </a:endParaRPr>
          </a:p>
        </p:txBody>
      </p:sp>
      <p:sp>
        <p:nvSpPr>
          <p:cNvPr id="5" name="Footer Placeholder 4">
            <a:extLst>
              <a:ext uri="{FF2B5EF4-FFF2-40B4-BE49-F238E27FC236}">
                <a16:creationId xmlns:a16="http://schemas.microsoft.com/office/drawing/2014/main" id="{836FBFF1-8B75-3DC8-37A1-C9995897AE2F}"/>
              </a:ext>
            </a:extLst>
          </p:cNvPr>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a:extLst>
              <a:ext uri="{FF2B5EF4-FFF2-40B4-BE49-F238E27FC236}">
                <a16:creationId xmlns:a16="http://schemas.microsoft.com/office/drawing/2014/main" id="{240B971A-4833-376D-B977-6B85CDBD2CAF}"/>
              </a:ext>
            </a:extLst>
          </p:cNvPr>
          <p:cNvSpPr>
            <a:spLocks noGrp="1"/>
          </p:cNvSpPr>
          <p:nvPr>
            <p:ph type="sldNum" sz="quarter" idx="12"/>
          </p:nvPr>
        </p:nvSpPr>
        <p:spPr/>
        <p:txBody>
          <a:bodyPr/>
          <a:lstStyle/>
          <a:p>
            <a:fld id="{6B620516-70CF-47FE-AA80-3DABE7EA9D45}" type="slidenum">
              <a:rPr lang="en-IN" smtClean="0">
                <a:solidFill>
                  <a:schemeClr val="bg1"/>
                </a:solidFill>
              </a:rPr>
              <a:t>20</a:t>
            </a:fld>
            <a:endParaRPr lang="en-IN">
              <a:solidFill>
                <a:schemeClr val="bg1"/>
              </a:solidFill>
            </a:endParaRPr>
          </a:p>
        </p:txBody>
      </p:sp>
      <p:sp>
        <p:nvSpPr>
          <p:cNvPr id="7" name="Title 1">
            <a:extLst>
              <a:ext uri="{FF2B5EF4-FFF2-40B4-BE49-F238E27FC236}">
                <a16:creationId xmlns:a16="http://schemas.microsoft.com/office/drawing/2014/main" id="{EAFE8A94-078F-D63F-6B77-B3F87334D36A}"/>
              </a:ext>
            </a:extLst>
          </p:cNvPr>
          <p:cNvSpPr txBox="1"/>
          <p:nvPr/>
        </p:nvSpPr>
        <p:spPr>
          <a:xfrm>
            <a:off x="903605" y="-167640"/>
            <a:ext cx="9586595" cy="1509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IN" dirty="0">
                <a:latin typeface="Times New Roman" panose="02020603050405020304" pitchFamily="18" charset="0"/>
                <a:cs typeface="Times New Roman" panose="02020603050405020304" pitchFamily="18" charset="0"/>
              </a:rPr>
              <a:t>          Graph of Polar H10</a:t>
            </a:r>
          </a:p>
        </p:txBody>
      </p:sp>
      <p:pic>
        <p:nvPicPr>
          <p:cNvPr id="2" name="Picture 1">
            <a:extLst>
              <a:ext uri="{FF2B5EF4-FFF2-40B4-BE49-F238E27FC236}">
                <a16:creationId xmlns:a16="http://schemas.microsoft.com/office/drawing/2014/main" id="{3CA6D7DA-A8CA-31B8-DF9F-E450CB43AFD0}"/>
              </a:ext>
            </a:extLst>
          </p:cNvPr>
          <p:cNvPicPr>
            <a:picLocks noChangeAspect="1"/>
          </p:cNvPicPr>
          <p:nvPr/>
        </p:nvPicPr>
        <p:blipFill>
          <a:blip r:embed="rId2"/>
          <a:srcRect t="2756" b="7820"/>
          <a:stretch>
            <a:fillRect/>
          </a:stretch>
        </p:blipFill>
        <p:spPr>
          <a:xfrm>
            <a:off x="192833" y="858416"/>
            <a:ext cx="11806111" cy="5122506"/>
          </a:xfrm>
          <a:prstGeom prst="rect">
            <a:avLst/>
          </a:prstGeom>
        </p:spPr>
      </p:pic>
    </p:spTree>
    <p:extLst>
      <p:ext uri="{BB962C8B-B14F-4D97-AF65-F5344CB8AC3E}">
        <p14:creationId xmlns:p14="http://schemas.microsoft.com/office/powerpoint/2010/main" val="1330205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77BBD-DD72-F7AC-73F1-9A7F44EF47C5}"/>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85069548-2EEB-BEB0-C8C4-84CF0A26BB83}"/>
              </a:ext>
            </a:extLst>
          </p:cNvPr>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a:extLst>
              <a:ext uri="{FF2B5EF4-FFF2-40B4-BE49-F238E27FC236}">
                <a16:creationId xmlns:a16="http://schemas.microsoft.com/office/drawing/2014/main" id="{2FF15D14-CB63-E105-56E8-4B0C622F866C}"/>
              </a:ext>
            </a:extLst>
          </p:cNvPr>
          <p:cNvSpPr>
            <a:spLocks noGrp="1"/>
          </p:cNvSpPr>
          <p:nvPr>
            <p:ph type="dt" sz="half" idx="10"/>
          </p:nvPr>
        </p:nvSpPr>
        <p:spPr/>
        <p:txBody>
          <a:bodyPr/>
          <a:lstStyle/>
          <a:p>
            <a:fld id="{09868C32-08C2-42CD-82DD-51FFDCAF9CB3}" type="datetime1">
              <a:rPr lang="en-IN" smtClean="0">
                <a:solidFill>
                  <a:schemeClr val="bg1"/>
                </a:solidFill>
              </a:rPr>
              <a:t>20-01-2026</a:t>
            </a:fld>
            <a:endParaRPr lang="en-IN">
              <a:solidFill>
                <a:schemeClr val="bg1"/>
              </a:solidFill>
            </a:endParaRPr>
          </a:p>
        </p:txBody>
      </p:sp>
      <p:sp>
        <p:nvSpPr>
          <p:cNvPr id="5" name="Footer Placeholder 4">
            <a:extLst>
              <a:ext uri="{FF2B5EF4-FFF2-40B4-BE49-F238E27FC236}">
                <a16:creationId xmlns:a16="http://schemas.microsoft.com/office/drawing/2014/main" id="{3439E569-7DA4-A160-BEF3-989373A4A2C5}"/>
              </a:ext>
            </a:extLst>
          </p:cNvPr>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a:extLst>
              <a:ext uri="{FF2B5EF4-FFF2-40B4-BE49-F238E27FC236}">
                <a16:creationId xmlns:a16="http://schemas.microsoft.com/office/drawing/2014/main" id="{6F9890A4-3E09-C267-4BE9-DB9B143880F4}"/>
              </a:ext>
            </a:extLst>
          </p:cNvPr>
          <p:cNvSpPr>
            <a:spLocks noGrp="1"/>
          </p:cNvSpPr>
          <p:nvPr>
            <p:ph type="sldNum" sz="quarter" idx="12"/>
          </p:nvPr>
        </p:nvSpPr>
        <p:spPr/>
        <p:txBody>
          <a:bodyPr/>
          <a:lstStyle/>
          <a:p>
            <a:fld id="{6B620516-70CF-47FE-AA80-3DABE7EA9D45}" type="slidenum">
              <a:rPr lang="en-IN" smtClean="0">
                <a:solidFill>
                  <a:schemeClr val="bg1"/>
                </a:solidFill>
              </a:rPr>
              <a:t>21</a:t>
            </a:fld>
            <a:endParaRPr lang="en-IN">
              <a:solidFill>
                <a:schemeClr val="bg1"/>
              </a:solidFill>
            </a:endParaRPr>
          </a:p>
        </p:txBody>
      </p:sp>
      <p:sp>
        <p:nvSpPr>
          <p:cNvPr id="7" name="Title 1">
            <a:extLst>
              <a:ext uri="{FF2B5EF4-FFF2-40B4-BE49-F238E27FC236}">
                <a16:creationId xmlns:a16="http://schemas.microsoft.com/office/drawing/2014/main" id="{55FB3967-F647-62DD-748E-A7907C56E9D3}"/>
              </a:ext>
            </a:extLst>
          </p:cNvPr>
          <p:cNvSpPr txBox="1"/>
          <p:nvPr/>
        </p:nvSpPr>
        <p:spPr>
          <a:xfrm>
            <a:off x="903605" y="-167640"/>
            <a:ext cx="9586595" cy="1509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IN" dirty="0">
                <a:latin typeface="Times New Roman" panose="02020603050405020304" pitchFamily="18" charset="0"/>
                <a:cs typeface="Times New Roman" panose="02020603050405020304" pitchFamily="18" charset="0"/>
              </a:rPr>
              <a:t>Empatica E4 Evaluation matrices table</a:t>
            </a:r>
          </a:p>
        </p:txBody>
      </p:sp>
      <p:graphicFrame>
        <p:nvGraphicFramePr>
          <p:cNvPr id="2" name="Table 1">
            <a:extLst>
              <a:ext uri="{FF2B5EF4-FFF2-40B4-BE49-F238E27FC236}">
                <a16:creationId xmlns:a16="http://schemas.microsoft.com/office/drawing/2014/main" id="{D7B87D84-CA7B-74DC-9AC1-1946CE9F8C0E}"/>
              </a:ext>
            </a:extLst>
          </p:cNvPr>
          <p:cNvGraphicFramePr>
            <a:graphicFrameLocks noGrp="1"/>
          </p:cNvGraphicFramePr>
          <p:nvPr>
            <p:extLst>
              <p:ext uri="{D42A27DB-BD31-4B8C-83A1-F6EECF244321}">
                <p14:modId xmlns:p14="http://schemas.microsoft.com/office/powerpoint/2010/main" val="3301783839"/>
              </p:ext>
            </p:extLst>
          </p:nvPr>
        </p:nvGraphicFramePr>
        <p:xfrm>
          <a:off x="1138335" y="1212980"/>
          <a:ext cx="10598020" cy="4917232"/>
        </p:xfrm>
        <a:graphic>
          <a:graphicData uri="http://schemas.openxmlformats.org/drawingml/2006/table">
            <a:tbl>
              <a:tblPr/>
              <a:tblGrid>
                <a:gridCol w="3587620">
                  <a:extLst>
                    <a:ext uri="{9D8B030D-6E8A-4147-A177-3AD203B41FA5}">
                      <a16:colId xmlns:a16="http://schemas.microsoft.com/office/drawing/2014/main" val="1365312395"/>
                    </a:ext>
                  </a:extLst>
                </a:gridCol>
                <a:gridCol w="3505200">
                  <a:extLst>
                    <a:ext uri="{9D8B030D-6E8A-4147-A177-3AD203B41FA5}">
                      <a16:colId xmlns:a16="http://schemas.microsoft.com/office/drawing/2014/main" val="2832186844"/>
                    </a:ext>
                  </a:extLst>
                </a:gridCol>
                <a:gridCol w="3505200">
                  <a:extLst>
                    <a:ext uri="{9D8B030D-6E8A-4147-A177-3AD203B41FA5}">
                      <a16:colId xmlns:a16="http://schemas.microsoft.com/office/drawing/2014/main" val="944055015"/>
                    </a:ext>
                  </a:extLst>
                </a:gridCol>
              </a:tblGrid>
              <a:tr h="532882">
                <a:tc>
                  <a:txBody>
                    <a:bodyPr/>
                    <a:lstStyle/>
                    <a:p>
                      <a:pPr>
                        <a:buNone/>
                      </a:pPr>
                      <a:r>
                        <a:rPr lang="en-US" b="1" dirty="0"/>
                        <a:t>ML Models</a:t>
                      </a:r>
                      <a:endParaRPr lang="en-US" dirty="0"/>
                    </a:p>
                  </a:txBody>
                  <a:tcPr anchor="ctr">
                    <a:lnL>
                      <a:noFill/>
                    </a:lnL>
                    <a:lnR>
                      <a:noFill/>
                    </a:lnR>
                    <a:lnT>
                      <a:noFill/>
                    </a:lnT>
                    <a:lnB>
                      <a:noFill/>
                    </a:lnB>
                    <a:noFill/>
                  </a:tcPr>
                </a:tc>
                <a:tc>
                  <a:txBody>
                    <a:bodyPr/>
                    <a:lstStyle/>
                    <a:p>
                      <a:pPr>
                        <a:buNone/>
                      </a:pPr>
                      <a:r>
                        <a:rPr lang="en-US" b="1" dirty="0"/>
                        <a:t>Accuracy (%)</a:t>
                      </a:r>
                      <a:endParaRPr lang="en-US" dirty="0"/>
                    </a:p>
                  </a:txBody>
                  <a:tcPr anchor="ctr">
                    <a:lnL>
                      <a:noFill/>
                    </a:lnL>
                    <a:lnR>
                      <a:noFill/>
                    </a:lnR>
                    <a:lnT>
                      <a:noFill/>
                    </a:lnT>
                    <a:lnB>
                      <a:noFill/>
                    </a:lnB>
                    <a:noFill/>
                  </a:tcPr>
                </a:tc>
                <a:tc>
                  <a:txBody>
                    <a:bodyPr/>
                    <a:lstStyle/>
                    <a:p>
                      <a:pPr>
                        <a:buNone/>
                      </a:pPr>
                      <a:r>
                        <a:rPr lang="en-US" b="1"/>
                        <a:t>Weighted F1 Score (%)</a:t>
                      </a:r>
                      <a:endParaRPr lang="en-US"/>
                    </a:p>
                  </a:txBody>
                  <a:tcPr anchor="ctr">
                    <a:lnL>
                      <a:noFill/>
                    </a:lnL>
                    <a:lnR>
                      <a:noFill/>
                    </a:lnR>
                    <a:lnT>
                      <a:noFill/>
                    </a:lnT>
                    <a:lnB>
                      <a:noFill/>
                    </a:lnB>
                    <a:noFill/>
                  </a:tcPr>
                </a:tc>
                <a:extLst>
                  <a:ext uri="{0D108BD9-81ED-4DB2-BD59-A6C34878D82A}">
                    <a16:rowId xmlns:a16="http://schemas.microsoft.com/office/drawing/2014/main" val="324952397"/>
                  </a:ext>
                </a:extLst>
              </a:tr>
              <a:tr h="532882">
                <a:tc>
                  <a:txBody>
                    <a:bodyPr/>
                    <a:lstStyle/>
                    <a:p>
                      <a:pPr>
                        <a:buNone/>
                      </a:pPr>
                      <a:r>
                        <a:rPr lang="en-US"/>
                        <a:t>Random Forest Classifier</a:t>
                      </a:r>
                    </a:p>
                  </a:txBody>
                  <a:tcPr anchor="ctr">
                    <a:lnL>
                      <a:noFill/>
                    </a:lnL>
                    <a:lnR>
                      <a:noFill/>
                    </a:lnR>
                    <a:lnT>
                      <a:noFill/>
                    </a:lnT>
                    <a:lnB>
                      <a:noFill/>
                    </a:lnB>
                    <a:noFill/>
                  </a:tcPr>
                </a:tc>
                <a:tc>
                  <a:txBody>
                    <a:bodyPr/>
                    <a:lstStyle/>
                    <a:p>
                      <a:pPr>
                        <a:buNone/>
                      </a:pPr>
                      <a:r>
                        <a:rPr lang="en-US" dirty="0"/>
                        <a:t>66.60</a:t>
                      </a:r>
                    </a:p>
                  </a:txBody>
                  <a:tcPr anchor="ctr">
                    <a:lnL>
                      <a:noFill/>
                    </a:lnL>
                    <a:lnR>
                      <a:noFill/>
                    </a:lnR>
                    <a:lnT>
                      <a:noFill/>
                    </a:lnT>
                    <a:lnB>
                      <a:noFill/>
                    </a:lnB>
                    <a:noFill/>
                  </a:tcPr>
                </a:tc>
                <a:tc>
                  <a:txBody>
                    <a:bodyPr/>
                    <a:lstStyle/>
                    <a:p>
                      <a:pPr>
                        <a:buNone/>
                      </a:pPr>
                      <a:r>
                        <a:rPr lang="en-US"/>
                        <a:t>70.12</a:t>
                      </a:r>
                    </a:p>
                  </a:txBody>
                  <a:tcPr anchor="ctr">
                    <a:lnL>
                      <a:noFill/>
                    </a:lnL>
                    <a:lnR>
                      <a:noFill/>
                    </a:lnR>
                    <a:lnT>
                      <a:noFill/>
                    </a:lnT>
                    <a:lnB>
                      <a:noFill/>
                    </a:lnB>
                    <a:noFill/>
                  </a:tcPr>
                </a:tc>
                <a:extLst>
                  <a:ext uri="{0D108BD9-81ED-4DB2-BD59-A6C34878D82A}">
                    <a16:rowId xmlns:a16="http://schemas.microsoft.com/office/drawing/2014/main" val="3790416511"/>
                  </a:ext>
                </a:extLst>
              </a:tr>
              <a:tr h="532882">
                <a:tc>
                  <a:txBody>
                    <a:bodyPr/>
                    <a:lstStyle/>
                    <a:p>
                      <a:pPr>
                        <a:buNone/>
                      </a:pPr>
                      <a:r>
                        <a:rPr lang="en-US" dirty="0"/>
                        <a:t>Logistic Regression</a:t>
                      </a:r>
                    </a:p>
                  </a:txBody>
                  <a:tcPr anchor="ctr">
                    <a:lnL>
                      <a:noFill/>
                    </a:lnL>
                    <a:lnR>
                      <a:noFill/>
                    </a:lnR>
                    <a:lnT>
                      <a:noFill/>
                    </a:lnT>
                    <a:lnB>
                      <a:noFill/>
                    </a:lnB>
                    <a:noFill/>
                  </a:tcPr>
                </a:tc>
                <a:tc>
                  <a:txBody>
                    <a:bodyPr/>
                    <a:lstStyle/>
                    <a:p>
                      <a:pPr>
                        <a:buNone/>
                      </a:pPr>
                      <a:r>
                        <a:rPr lang="en-US" dirty="0"/>
                        <a:t>66.49</a:t>
                      </a:r>
                    </a:p>
                  </a:txBody>
                  <a:tcPr anchor="ctr">
                    <a:lnL>
                      <a:noFill/>
                    </a:lnL>
                    <a:lnR>
                      <a:noFill/>
                    </a:lnR>
                    <a:lnT>
                      <a:noFill/>
                    </a:lnT>
                    <a:lnB>
                      <a:noFill/>
                    </a:lnB>
                    <a:noFill/>
                  </a:tcPr>
                </a:tc>
                <a:tc>
                  <a:txBody>
                    <a:bodyPr/>
                    <a:lstStyle/>
                    <a:p>
                      <a:pPr>
                        <a:buNone/>
                      </a:pPr>
                      <a:r>
                        <a:rPr lang="en-US"/>
                        <a:t>69.00</a:t>
                      </a:r>
                    </a:p>
                  </a:txBody>
                  <a:tcPr anchor="ctr">
                    <a:lnL>
                      <a:noFill/>
                    </a:lnL>
                    <a:lnR>
                      <a:noFill/>
                    </a:lnR>
                    <a:lnT>
                      <a:noFill/>
                    </a:lnT>
                    <a:lnB>
                      <a:noFill/>
                    </a:lnB>
                    <a:noFill/>
                  </a:tcPr>
                </a:tc>
                <a:extLst>
                  <a:ext uri="{0D108BD9-81ED-4DB2-BD59-A6C34878D82A}">
                    <a16:rowId xmlns:a16="http://schemas.microsoft.com/office/drawing/2014/main" val="4057218131"/>
                  </a:ext>
                </a:extLst>
              </a:tr>
              <a:tr h="532882">
                <a:tc>
                  <a:txBody>
                    <a:bodyPr/>
                    <a:lstStyle/>
                    <a:p>
                      <a:pPr>
                        <a:buNone/>
                      </a:pPr>
                      <a:r>
                        <a:rPr lang="en-US"/>
                        <a:t>Decision Tree Classifier</a:t>
                      </a:r>
                    </a:p>
                  </a:txBody>
                  <a:tcPr anchor="ctr">
                    <a:lnL>
                      <a:noFill/>
                    </a:lnL>
                    <a:lnR>
                      <a:noFill/>
                    </a:lnR>
                    <a:lnT>
                      <a:noFill/>
                    </a:lnT>
                    <a:lnB>
                      <a:noFill/>
                    </a:lnB>
                    <a:noFill/>
                  </a:tcPr>
                </a:tc>
                <a:tc>
                  <a:txBody>
                    <a:bodyPr/>
                    <a:lstStyle/>
                    <a:p>
                      <a:pPr>
                        <a:buNone/>
                      </a:pPr>
                      <a:r>
                        <a:rPr lang="en-US" dirty="0"/>
                        <a:t>67.71</a:t>
                      </a:r>
                    </a:p>
                  </a:txBody>
                  <a:tcPr anchor="ctr">
                    <a:lnL>
                      <a:noFill/>
                    </a:lnL>
                    <a:lnR>
                      <a:noFill/>
                    </a:lnR>
                    <a:lnT>
                      <a:noFill/>
                    </a:lnT>
                    <a:lnB>
                      <a:noFill/>
                    </a:lnB>
                    <a:noFill/>
                  </a:tcPr>
                </a:tc>
                <a:tc>
                  <a:txBody>
                    <a:bodyPr/>
                    <a:lstStyle/>
                    <a:p>
                      <a:pPr>
                        <a:buNone/>
                      </a:pPr>
                      <a:r>
                        <a:rPr lang="en-US"/>
                        <a:t>70.70</a:t>
                      </a:r>
                    </a:p>
                  </a:txBody>
                  <a:tcPr anchor="ctr">
                    <a:lnL>
                      <a:noFill/>
                    </a:lnL>
                    <a:lnR>
                      <a:noFill/>
                    </a:lnR>
                    <a:lnT>
                      <a:noFill/>
                    </a:lnT>
                    <a:lnB>
                      <a:noFill/>
                    </a:lnB>
                    <a:noFill/>
                  </a:tcPr>
                </a:tc>
                <a:extLst>
                  <a:ext uri="{0D108BD9-81ED-4DB2-BD59-A6C34878D82A}">
                    <a16:rowId xmlns:a16="http://schemas.microsoft.com/office/drawing/2014/main" val="2639651588"/>
                  </a:ext>
                </a:extLst>
              </a:tr>
              <a:tr h="532882">
                <a:tc>
                  <a:txBody>
                    <a:bodyPr/>
                    <a:lstStyle/>
                    <a:p>
                      <a:pPr>
                        <a:buNone/>
                      </a:pPr>
                      <a:r>
                        <a:rPr lang="en-US"/>
                        <a:t>XGBoost Classifier</a:t>
                      </a:r>
                    </a:p>
                  </a:txBody>
                  <a:tcPr anchor="ctr">
                    <a:lnL>
                      <a:noFill/>
                    </a:lnL>
                    <a:lnR>
                      <a:noFill/>
                    </a:lnR>
                    <a:lnT>
                      <a:noFill/>
                    </a:lnT>
                    <a:lnB>
                      <a:noFill/>
                    </a:lnB>
                    <a:noFill/>
                  </a:tcPr>
                </a:tc>
                <a:tc>
                  <a:txBody>
                    <a:bodyPr/>
                    <a:lstStyle/>
                    <a:p>
                      <a:pPr>
                        <a:buNone/>
                      </a:pPr>
                      <a:r>
                        <a:rPr lang="en-US"/>
                        <a:t>71.33</a:t>
                      </a:r>
                    </a:p>
                  </a:txBody>
                  <a:tcPr anchor="ctr">
                    <a:lnL>
                      <a:noFill/>
                    </a:lnL>
                    <a:lnR>
                      <a:noFill/>
                    </a:lnR>
                    <a:lnT>
                      <a:noFill/>
                    </a:lnT>
                    <a:lnB>
                      <a:noFill/>
                    </a:lnB>
                    <a:noFill/>
                  </a:tcPr>
                </a:tc>
                <a:tc>
                  <a:txBody>
                    <a:bodyPr/>
                    <a:lstStyle/>
                    <a:p>
                      <a:pPr>
                        <a:buNone/>
                      </a:pPr>
                      <a:r>
                        <a:rPr lang="en-US"/>
                        <a:t>70.62</a:t>
                      </a:r>
                    </a:p>
                  </a:txBody>
                  <a:tcPr anchor="ctr">
                    <a:lnL>
                      <a:noFill/>
                    </a:lnL>
                    <a:lnR>
                      <a:noFill/>
                    </a:lnR>
                    <a:lnT>
                      <a:noFill/>
                    </a:lnT>
                    <a:lnB>
                      <a:noFill/>
                    </a:lnB>
                    <a:noFill/>
                  </a:tcPr>
                </a:tc>
                <a:extLst>
                  <a:ext uri="{0D108BD9-81ED-4DB2-BD59-A6C34878D82A}">
                    <a16:rowId xmlns:a16="http://schemas.microsoft.com/office/drawing/2014/main" val="3527319827"/>
                  </a:ext>
                </a:extLst>
              </a:tr>
              <a:tr h="532882">
                <a:tc>
                  <a:txBody>
                    <a:bodyPr/>
                    <a:lstStyle/>
                    <a:p>
                      <a:pPr>
                        <a:buNone/>
                      </a:pPr>
                      <a:r>
                        <a:rPr lang="en-US" dirty="0" err="1"/>
                        <a:t>CatBoost</a:t>
                      </a:r>
                      <a:r>
                        <a:rPr lang="en-US" dirty="0"/>
                        <a:t> Classifier</a:t>
                      </a:r>
                    </a:p>
                  </a:txBody>
                  <a:tcPr anchor="ctr">
                    <a:lnL>
                      <a:noFill/>
                    </a:lnL>
                    <a:lnR>
                      <a:noFill/>
                    </a:lnR>
                    <a:lnT>
                      <a:noFill/>
                    </a:lnT>
                    <a:lnB>
                      <a:noFill/>
                    </a:lnB>
                    <a:noFill/>
                  </a:tcPr>
                </a:tc>
                <a:tc>
                  <a:txBody>
                    <a:bodyPr/>
                    <a:lstStyle/>
                    <a:p>
                      <a:pPr>
                        <a:buNone/>
                      </a:pPr>
                      <a:r>
                        <a:rPr lang="en-US"/>
                        <a:t>72.13</a:t>
                      </a:r>
                    </a:p>
                  </a:txBody>
                  <a:tcPr anchor="ctr">
                    <a:lnL>
                      <a:noFill/>
                    </a:lnL>
                    <a:lnR>
                      <a:noFill/>
                    </a:lnR>
                    <a:lnT>
                      <a:noFill/>
                    </a:lnT>
                    <a:lnB>
                      <a:noFill/>
                    </a:lnB>
                    <a:noFill/>
                  </a:tcPr>
                </a:tc>
                <a:tc>
                  <a:txBody>
                    <a:bodyPr/>
                    <a:lstStyle/>
                    <a:p>
                      <a:pPr>
                        <a:buNone/>
                      </a:pPr>
                      <a:r>
                        <a:rPr lang="en-US"/>
                        <a:t>71.16</a:t>
                      </a:r>
                    </a:p>
                  </a:txBody>
                  <a:tcPr anchor="ctr">
                    <a:lnL>
                      <a:noFill/>
                    </a:lnL>
                    <a:lnR>
                      <a:noFill/>
                    </a:lnR>
                    <a:lnT>
                      <a:noFill/>
                    </a:lnT>
                    <a:lnB>
                      <a:noFill/>
                    </a:lnB>
                    <a:noFill/>
                  </a:tcPr>
                </a:tc>
                <a:extLst>
                  <a:ext uri="{0D108BD9-81ED-4DB2-BD59-A6C34878D82A}">
                    <a16:rowId xmlns:a16="http://schemas.microsoft.com/office/drawing/2014/main" val="3388759471"/>
                  </a:ext>
                </a:extLst>
              </a:tr>
              <a:tr h="532882">
                <a:tc>
                  <a:txBody>
                    <a:bodyPr/>
                    <a:lstStyle/>
                    <a:p>
                      <a:pPr>
                        <a:buNone/>
                      </a:pPr>
                      <a:r>
                        <a:rPr lang="en-US"/>
                        <a:t>LightGBM Classifier</a:t>
                      </a:r>
                    </a:p>
                  </a:txBody>
                  <a:tcPr anchor="ctr">
                    <a:lnL>
                      <a:noFill/>
                    </a:lnL>
                    <a:lnR>
                      <a:noFill/>
                    </a:lnR>
                    <a:lnT>
                      <a:noFill/>
                    </a:lnT>
                    <a:lnB>
                      <a:noFill/>
                    </a:lnB>
                    <a:noFill/>
                  </a:tcPr>
                </a:tc>
                <a:tc>
                  <a:txBody>
                    <a:bodyPr/>
                    <a:lstStyle/>
                    <a:p>
                      <a:pPr>
                        <a:buNone/>
                      </a:pPr>
                      <a:r>
                        <a:rPr lang="en-US" dirty="0"/>
                        <a:t>68.25</a:t>
                      </a:r>
                    </a:p>
                  </a:txBody>
                  <a:tcPr anchor="ctr">
                    <a:lnL>
                      <a:noFill/>
                    </a:lnL>
                    <a:lnR>
                      <a:noFill/>
                    </a:lnR>
                    <a:lnT>
                      <a:noFill/>
                    </a:lnT>
                    <a:lnB>
                      <a:noFill/>
                    </a:lnB>
                    <a:noFill/>
                  </a:tcPr>
                </a:tc>
                <a:tc>
                  <a:txBody>
                    <a:bodyPr/>
                    <a:lstStyle/>
                    <a:p>
                      <a:pPr>
                        <a:buNone/>
                      </a:pPr>
                      <a:r>
                        <a:rPr lang="en-US"/>
                        <a:t>69.93</a:t>
                      </a:r>
                    </a:p>
                  </a:txBody>
                  <a:tcPr anchor="ctr">
                    <a:lnL>
                      <a:noFill/>
                    </a:lnL>
                    <a:lnR>
                      <a:noFill/>
                    </a:lnR>
                    <a:lnT>
                      <a:noFill/>
                    </a:lnT>
                    <a:lnB>
                      <a:noFill/>
                    </a:lnB>
                    <a:noFill/>
                  </a:tcPr>
                </a:tc>
                <a:extLst>
                  <a:ext uri="{0D108BD9-81ED-4DB2-BD59-A6C34878D82A}">
                    <a16:rowId xmlns:a16="http://schemas.microsoft.com/office/drawing/2014/main" val="3366994060"/>
                  </a:ext>
                </a:extLst>
              </a:tr>
              <a:tr h="532882">
                <a:tc>
                  <a:txBody>
                    <a:bodyPr/>
                    <a:lstStyle/>
                    <a:p>
                      <a:pPr>
                        <a:buNone/>
                      </a:pPr>
                      <a:r>
                        <a:rPr lang="en-US" dirty="0"/>
                        <a:t>MLP Classifier</a:t>
                      </a:r>
                    </a:p>
                  </a:txBody>
                  <a:tcPr anchor="ctr">
                    <a:lnL>
                      <a:noFill/>
                    </a:lnL>
                    <a:lnR>
                      <a:noFill/>
                    </a:lnR>
                    <a:lnT>
                      <a:noFill/>
                    </a:lnT>
                    <a:lnB>
                      <a:noFill/>
                    </a:lnB>
                    <a:noFill/>
                  </a:tcPr>
                </a:tc>
                <a:tc>
                  <a:txBody>
                    <a:bodyPr/>
                    <a:lstStyle/>
                    <a:p>
                      <a:pPr>
                        <a:buNone/>
                      </a:pPr>
                      <a:r>
                        <a:rPr lang="en-US"/>
                        <a:t>64.60</a:t>
                      </a:r>
                    </a:p>
                  </a:txBody>
                  <a:tcPr anchor="ctr">
                    <a:lnL>
                      <a:noFill/>
                    </a:lnL>
                    <a:lnR>
                      <a:noFill/>
                    </a:lnR>
                    <a:lnT>
                      <a:noFill/>
                    </a:lnT>
                    <a:lnB>
                      <a:noFill/>
                    </a:lnB>
                    <a:noFill/>
                  </a:tcPr>
                </a:tc>
                <a:tc>
                  <a:txBody>
                    <a:bodyPr/>
                    <a:lstStyle/>
                    <a:p>
                      <a:pPr>
                        <a:buNone/>
                      </a:pPr>
                      <a:r>
                        <a:rPr lang="en-US"/>
                        <a:t>63.94</a:t>
                      </a:r>
                    </a:p>
                  </a:txBody>
                  <a:tcPr anchor="ctr">
                    <a:lnL>
                      <a:noFill/>
                    </a:lnL>
                    <a:lnR>
                      <a:noFill/>
                    </a:lnR>
                    <a:lnT>
                      <a:noFill/>
                    </a:lnT>
                    <a:lnB>
                      <a:noFill/>
                    </a:lnB>
                    <a:noFill/>
                  </a:tcPr>
                </a:tc>
                <a:extLst>
                  <a:ext uri="{0D108BD9-81ED-4DB2-BD59-A6C34878D82A}">
                    <a16:rowId xmlns:a16="http://schemas.microsoft.com/office/drawing/2014/main" val="3514193338"/>
                  </a:ext>
                </a:extLst>
              </a:tr>
              <a:tr h="654176">
                <a:tc>
                  <a:txBody>
                    <a:bodyPr/>
                    <a:lstStyle/>
                    <a:p>
                      <a:pPr>
                        <a:buNone/>
                      </a:pPr>
                      <a:r>
                        <a:rPr lang="en-US" dirty="0"/>
                        <a:t>Deep MLP Classifier</a:t>
                      </a:r>
                    </a:p>
                  </a:txBody>
                  <a:tcPr anchor="ctr">
                    <a:lnL>
                      <a:noFill/>
                    </a:lnL>
                    <a:lnR>
                      <a:noFill/>
                    </a:lnR>
                    <a:lnT>
                      <a:noFill/>
                    </a:lnT>
                    <a:lnB>
                      <a:noFill/>
                    </a:lnB>
                    <a:noFill/>
                  </a:tcPr>
                </a:tc>
                <a:tc>
                  <a:txBody>
                    <a:bodyPr/>
                    <a:lstStyle/>
                    <a:p>
                      <a:pPr>
                        <a:buNone/>
                      </a:pPr>
                      <a:r>
                        <a:rPr lang="en-US"/>
                        <a:t>69.21</a:t>
                      </a:r>
                    </a:p>
                  </a:txBody>
                  <a:tcPr anchor="ctr">
                    <a:lnL>
                      <a:noFill/>
                    </a:lnL>
                    <a:lnR>
                      <a:noFill/>
                    </a:lnR>
                    <a:lnT>
                      <a:noFill/>
                    </a:lnT>
                    <a:lnB>
                      <a:noFill/>
                    </a:lnB>
                    <a:noFill/>
                  </a:tcPr>
                </a:tc>
                <a:tc>
                  <a:txBody>
                    <a:bodyPr/>
                    <a:lstStyle/>
                    <a:p>
                      <a:pPr>
                        <a:buNone/>
                      </a:pPr>
                      <a:r>
                        <a:rPr lang="en-US" dirty="0"/>
                        <a:t>68.58</a:t>
                      </a:r>
                    </a:p>
                  </a:txBody>
                  <a:tcPr anchor="ctr">
                    <a:lnL>
                      <a:noFill/>
                    </a:lnL>
                    <a:lnR>
                      <a:noFill/>
                    </a:lnR>
                    <a:lnT>
                      <a:noFill/>
                    </a:lnT>
                    <a:lnB>
                      <a:noFill/>
                    </a:lnB>
                    <a:noFill/>
                  </a:tcPr>
                </a:tc>
                <a:extLst>
                  <a:ext uri="{0D108BD9-81ED-4DB2-BD59-A6C34878D82A}">
                    <a16:rowId xmlns:a16="http://schemas.microsoft.com/office/drawing/2014/main" val="771230396"/>
                  </a:ext>
                </a:extLst>
              </a:tr>
            </a:tbl>
          </a:graphicData>
        </a:graphic>
      </p:graphicFrame>
    </p:spTree>
    <p:extLst>
      <p:ext uri="{BB962C8B-B14F-4D97-AF65-F5344CB8AC3E}">
        <p14:creationId xmlns:p14="http://schemas.microsoft.com/office/powerpoint/2010/main" val="2368301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4944C-4030-2AD5-1063-1A5B6951DE2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B5B46FB7-5416-60EE-DEE8-C02257B34F1B}"/>
              </a:ext>
            </a:extLst>
          </p:cNvPr>
          <p:cNvSpPr/>
          <p:nvPr/>
        </p:nvSpPr>
        <p:spPr>
          <a:xfrm>
            <a:off x="0" y="6400800"/>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a:extLst>
              <a:ext uri="{FF2B5EF4-FFF2-40B4-BE49-F238E27FC236}">
                <a16:creationId xmlns:a16="http://schemas.microsoft.com/office/drawing/2014/main" id="{7854D265-F9E1-41B3-CC54-98C35F936E28}"/>
              </a:ext>
            </a:extLst>
          </p:cNvPr>
          <p:cNvSpPr>
            <a:spLocks noGrp="1"/>
          </p:cNvSpPr>
          <p:nvPr>
            <p:ph type="dt" sz="half" idx="10"/>
          </p:nvPr>
        </p:nvSpPr>
        <p:spPr/>
        <p:txBody>
          <a:bodyPr/>
          <a:lstStyle/>
          <a:p>
            <a:fld id="{09868C32-08C2-42CD-82DD-51FFDCAF9CB3}" type="datetime1">
              <a:rPr lang="en-IN" smtClean="0">
                <a:solidFill>
                  <a:schemeClr val="bg1"/>
                </a:solidFill>
              </a:rPr>
              <a:t>20-01-2026</a:t>
            </a:fld>
            <a:endParaRPr lang="en-IN">
              <a:solidFill>
                <a:schemeClr val="bg1"/>
              </a:solidFill>
            </a:endParaRPr>
          </a:p>
        </p:txBody>
      </p:sp>
      <p:sp>
        <p:nvSpPr>
          <p:cNvPr id="5" name="Footer Placeholder 4">
            <a:extLst>
              <a:ext uri="{FF2B5EF4-FFF2-40B4-BE49-F238E27FC236}">
                <a16:creationId xmlns:a16="http://schemas.microsoft.com/office/drawing/2014/main" id="{2F9F4DD0-572B-5A82-4D27-EDB62E292F99}"/>
              </a:ext>
            </a:extLst>
          </p:cNvPr>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a:extLst>
              <a:ext uri="{FF2B5EF4-FFF2-40B4-BE49-F238E27FC236}">
                <a16:creationId xmlns:a16="http://schemas.microsoft.com/office/drawing/2014/main" id="{3A211D29-0D21-9D51-F9A8-E8E57CB9BE98}"/>
              </a:ext>
            </a:extLst>
          </p:cNvPr>
          <p:cNvSpPr>
            <a:spLocks noGrp="1"/>
          </p:cNvSpPr>
          <p:nvPr>
            <p:ph type="sldNum" sz="quarter" idx="12"/>
          </p:nvPr>
        </p:nvSpPr>
        <p:spPr/>
        <p:txBody>
          <a:bodyPr/>
          <a:lstStyle/>
          <a:p>
            <a:fld id="{6B620516-70CF-47FE-AA80-3DABE7EA9D45}" type="slidenum">
              <a:rPr lang="en-IN" smtClean="0">
                <a:solidFill>
                  <a:schemeClr val="bg1"/>
                </a:solidFill>
              </a:rPr>
              <a:t>22</a:t>
            </a:fld>
            <a:endParaRPr lang="en-IN">
              <a:solidFill>
                <a:schemeClr val="bg1"/>
              </a:solidFill>
            </a:endParaRPr>
          </a:p>
        </p:txBody>
      </p:sp>
      <p:sp>
        <p:nvSpPr>
          <p:cNvPr id="7" name="Title 1">
            <a:extLst>
              <a:ext uri="{FF2B5EF4-FFF2-40B4-BE49-F238E27FC236}">
                <a16:creationId xmlns:a16="http://schemas.microsoft.com/office/drawing/2014/main" id="{6B5930F3-3818-EF0D-39C9-B01EB4D21B35}"/>
              </a:ext>
            </a:extLst>
          </p:cNvPr>
          <p:cNvSpPr txBox="1"/>
          <p:nvPr/>
        </p:nvSpPr>
        <p:spPr>
          <a:xfrm>
            <a:off x="903605" y="-167640"/>
            <a:ext cx="9586595" cy="1509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IN" dirty="0">
                <a:latin typeface="Times New Roman" panose="02020603050405020304" pitchFamily="18" charset="0"/>
                <a:cs typeface="Times New Roman" panose="02020603050405020304" pitchFamily="18" charset="0"/>
              </a:rPr>
              <a:t>Polar H10 Evaluation matrices table</a:t>
            </a:r>
          </a:p>
        </p:txBody>
      </p:sp>
      <p:graphicFrame>
        <p:nvGraphicFramePr>
          <p:cNvPr id="2" name="Table 1">
            <a:extLst>
              <a:ext uri="{FF2B5EF4-FFF2-40B4-BE49-F238E27FC236}">
                <a16:creationId xmlns:a16="http://schemas.microsoft.com/office/drawing/2014/main" id="{77E9519A-5EAC-E255-E2DB-83CA2D26FDAE}"/>
              </a:ext>
            </a:extLst>
          </p:cNvPr>
          <p:cNvGraphicFramePr>
            <a:graphicFrameLocks noGrp="1"/>
          </p:cNvGraphicFramePr>
          <p:nvPr>
            <p:extLst>
              <p:ext uri="{D42A27DB-BD31-4B8C-83A1-F6EECF244321}">
                <p14:modId xmlns:p14="http://schemas.microsoft.com/office/powerpoint/2010/main" val="2198972363"/>
              </p:ext>
            </p:extLst>
          </p:nvPr>
        </p:nvGraphicFramePr>
        <p:xfrm>
          <a:off x="838200" y="1250302"/>
          <a:ext cx="10515600" cy="4777272"/>
        </p:xfrm>
        <a:graphic>
          <a:graphicData uri="http://schemas.openxmlformats.org/drawingml/2006/table">
            <a:tbl>
              <a:tblPr/>
              <a:tblGrid>
                <a:gridCol w="3505200">
                  <a:extLst>
                    <a:ext uri="{9D8B030D-6E8A-4147-A177-3AD203B41FA5}">
                      <a16:colId xmlns:a16="http://schemas.microsoft.com/office/drawing/2014/main" val="1461662106"/>
                    </a:ext>
                  </a:extLst>
                </a:gridCol>
                <a:gridCol w="3505200">
                  <a:extLst>
                    <a:ext uri="{9D8B030D-6E8A-4147-A177-3AD203B41FA5}">
                      <a16:colId xmlns:a16="http://schemas.microsoft.com/office/drawing/2014/main" val="914933170"/>
                    </a:ext>
                  </a:extLst>
                </a:gridCol>
                <a:gridCol w="3505200">
                  <a:extLst>
                    <a:ext uri="{9D8B030D-6E8A-4147-A177-3AD203B41FA5}">
                      <a16:colId xmlns:a16="http://schemas.microsoft.com/office/drawing/2014/main" val="3862859365"/>
                    </a:ext>
                  </a:extLst>
                </a:gridCol>
              </a:tblGrid>
              <a:tr h="530808">
                <a:tc>
                  <a:txBody>
                    <a:bodyPr/>
                    <a:lstStyle/>
                    <a:p>
                      <a:pPr>
                        <a:buNone/>
                      </a:pPr>
                      <a:r>
                        <a:rPr lang="en-US" b="1"/>
                        <a:t>ML Models</a:t>
                      </a:r>
                      <a:endParaRPr lang="en-US"/>
                    </a:p>
                  </a:txBody>
                  <a:tcPr anchor="ctr">
                    <a:lnL>
                      <a:noFill/>
                    </a:lnL>
                    <a:lnR>
                      <a:noFill/>
                    </a:lnR>
                    <a:lnT>
                      <a:noFill/>
                    </a:lnT>
                    <a:lnB>
                      <a:noFill/>
                    </a:lnB>
                    <a:noFill/>
                  </a:tcPr>
                </a:tc>
                <a:tc>
                  <a:txBody>
                    <a:bodyPr/>
                    <a:lstStyle/>
                    <a:p>
                      <a:pPr>
                        <a:buNone/>
                      </a:pPr>
                      <a:r>
                        <a:rPr lang="en-US" b="1"/>
                        <a:t>Accuracy (%)</a:t>
                      </a:r>
                      <a:endParaRPr lang="en-US"/>
                    </a:p>
                  </a:txBody>
                  <a:tcPr anchor="ctr">
                    <a:lnL>
                      <a:noFill/>
                    </a:lnL>
                    <a:lnR>
                      <a:noFill/>
                    </a:lnR>
                    <a:lnT>
                      <a:noFill/>
                    </a:lnT>
                    <a:lnB>
                      <a:noFill/>
                    </a:lnB>
                    <a:noFill/>
                  </a:tcPr>
                </a:tc>
                <a:tc>
                  <a:txBody>
                    <a:bodyPr/>
                    <a:lstStyle/>
                    <a:p>
                      <a:pPr>
                        <a:buNone/>
                      </a:pPr>
                      <a:r>
                        <a:rPr lang="en-US" b="1"/>
                        <a:t>Weighted F1 Score (%)</a:t>
                      </a:r>
                      <a:endParaRPr lang="en-US"/>
                    </a:p>
                  </a:txBody>
                  <a:tcPr anchor="ctr">
                    <a:lnL>
                      <a:noFill/>
                    </a:lnL>
                    <a:lnR>
                      <a:noFill/>
                    </a:lnR>
                    <a:lnT>
                      <a:noFill/>
                    </a:lnT>
                    <a:lnB>
                      <a:noFill/>
                    </a:lnB>
                    <a:noFill/>
                  </a:tcPr>
                </a:tc>
                <a:extLst>
                  <a:ext uri="{0D108BD9-81ED-4DB2-BD59-A6C34878D82A}">
                    <a16:rowId xmlns:a16="http://schemas.microsoft.com/office/drawing/2014/main" val="635483318"/>
                  </a:ext>
                </a:extLst>
              </a:tr>
              <a:tr h="530808">
                <a:tc>
                  <a:txBody>
                    <a:bodyPr/>
                    <a:lstStyle/>
                    <a:p>
                      <a:pPr>
                        <a:buNone/>
                      </a:pPr>
                      <a:r>
                        <a:rPr lang="en-US"/>
                        <a:t>Random Forest Classifier</a:t>
                      </a:r>
                    </a:p>
                  </a:txBody>
                  <a:tcPr anchor="ctr">
                    <a:lnL>
                      <a:noFill/>
                    </a:lnL>
                    <a:lnR>
                      <a:noFill/>
                    </a:lnR>
                    <a:lnT>
                      <a:noFill/>
                    </a:lnT>
                    <a:lnB>
                      <a:noFill/>
                    </a:lnB>
                    <a:noFill/>
                  </a:tcPr>
                </a:tc>
                <a:tc>
                  <a:txBody>
                    <a:bodyPr/>
                    <a:lstStyle/>
                    <a:p>
                      <a:pPr>
                        <a:buNone/>
                      </a:pPr>
                      <a:r>
                        <a:rPr lang="en-US"/>
                        <a:t>76.62</a:t>
                      </a:r>
                    </a:p>
                  </a:txBody>
                  <a:tcPr anchor="ctr">
                    <a:lnL>
                      <a:noFill/>
                    </a:lnL>
                    <a:lnR>
                      <a:noFill/>
                    </a:lnR>
                    <a:lnT>
                      <a:noFill/>
                    </a:lnT>
                    <a:lnB>
                      <a:noFill/>
                    </a:lnB>
                    <a:noFill/>
                  </a:tcPr>
                </a:tc>
                <a:tc>
                  <a:txBody>
                    <a:bodyPr/>
                    <a:lstStyle/>
                    <a:p>
                      <a:pPr>
                        <a:buNone/>
                      </a:pPr>
                      <a:r>
                        <a:rPr lang="en-US"/>
                        <a:t>77.77</a:t>
                      </a:r>
                    </a:p>
                  </a:txBody>
                  <a:tcPr anchor="ctr">
                    <a:lnL>
                      <a:noFill/>
                    </a:lnL>
                    <a:lnR>
                      <a:noFill/>
                    </a:lnR>
                    <a:lnT>
                      <a:noFill/>
                    </a:lnT>
                    <a:lnB>
                      <a:noFill/>
                    </a:lnB>
                    <a:noFill/>
                  </a:tcPr>
                </a:tc>
                <a:extLst>
                  <a:ext uri="{0D108BD9-81ED-4DB2-BD59-A6C34878D82A}">
                    <a16:rowId xmlns:a16="http://schemas.microsoft.com/office/drawing/2014/main" val="4084345880"/>
                  </a:ext>
                </a:extLst>
              </a:tr>
              <a:tr h="530808">
                <a:tc>
                  <a:txBody>
                    <a:bodyPr/>
                    <a:lstStyle/>
                    <a:p>
                      <a:pPr>
                        <a:buNone/>
                      </a:pPr>
                      <a:r>
                        <a:rPr lang="en-US"/>
                        <a:t>Logistic Regression</a:t>
                      </a:r>
                    </a:p>
                  </a:txBody>
                  <a:tcPr anchor="ctr">
                    <a:lnL>
                      <a:noFill/>
                    </a:lnL>
                    <a:lnR>
                      <a:noFill/>
                    </a:lnR>
                    <a:lnT>
                      <a:noFill/>
                    </a:lnT>
                    <a:lnB>
                      <a:noFill/>
                    </a:lnB>
                    <a:noFill/>
                  </a:tcPr>
                </a:tc>
                <a:tc>
                  <a:txBody>
                    <a:bodyPr/>
                    <a:lstStyle/>
                    <a:p>
                      <a:pPr>
                        <a:buNone/>
                      </a:pPr>
                      <a:r>
                        <a:rPr lang="en-US"/>
                        <a:t>68.68</a:t>
                      </a:r>
                    </a:p>
                  </a:txBody>
                  <a:tcPr anchor="ctr">
                    <a:lnL>
                      <a:noFill/>
                    </a:lnL>
                    <a:lnR>
                      <a:noFill/>
                    </a:lnR>
                    <a:lnT>
                      <a:noFill/>
                    </a:lnT>
                    <a:lnB>
                      <a:noFill/>
                    </a:lnB>
                    <a:noFill/>
                  </a:tcPr>
                </a:tc>
                <a:tc>
                  <a:txBody>
                    <a:bodyPr/>
                    <a:lstStyle/>
                    <a:p>
                      <a:pPr>
                        <a:buNone/>
                      </a:pPr>
                      <a:r>
                        <a:rPr lang="en-US"/>
                        <a:t>70.03</a:t>
                      </a:r>
                    </a:p>
                  </a:txBody>
                  <a:tcPr anchor="ctr">
                    <a:lnL>
                      <a:noFill/>
                    </a:lnL>
                    <a:lnR>
                      <a:noFill/>
                    </a:lnR>
                    <a:lnT>
                      <a:noFill/>
                    </a:lnT>
                    <a:lnB>
                      <a:noFill/>
                    </a:lnB>
                    <a:noFill/>
                  </a:tcPr>
                </a:tc>
                <a:extLst>
                  <a:ext uri="{0D108BD9-81ED-4DB2-BD59-A6C34878D82A}">
                    <a16:rowId xmlns:a16="http://schemas.microsoft.com/office/drawing/2014/main" val="1169497705"/>
                  </a:ext>
                </a:extLst>
              </a:tr>
              <a:tr h="530808">
                <a:tc>
                  <a:txBody>
                    <a:bodyPr/>
                    <a:lstStyle/>
                    <a:p>
                      <a:pPr>
                        <a:buNone/>
                      </a:pPr>
                      <a:r>
                        <a:rPr lang="en-US"/>
                        <a:t>Decision Tree Classifier</a:t>
                      </a:r>
                    </a:p>
                  </a:txBody>
                  <a:tcPr anchor="ctr">
                    <a:lnL>
                      <a:noFill/>
                    </a:lnL>
                    <a:lnR>
                      <a:noFill/>
                    </a:lnR>
                    <a:lnT>
                      <a:noFill/>
                    </a:lnT>
                    <a:lnB>
                      <a:noFill/>
                    </a:lnB>
                    <a:noFill/>
                  </a:tcPr>
                </a:tc>
                <a:tc>
                  <a:txBody>
                    <a:bodyPr/>
                    <a:lstStyle/>
                    <a:p>
                      <a:pPr>
                        <a:buNone/>
                      </a:pPr>
                      <a:r>
                        <a:rPr lang="en-US"/>
                        <a:t>72.69</a:t>
                      </a:r>
                    </a:p>
                  </a:txBody>
                  <a:tcPr anchor="ctr">
                    <a:lnL>
                      <a:noFill/>
                    </a:lnL>
                    <a:lnR>
                      <a:noFill/>
                    </a:lnR>
                    <a:lnT>
                      <a:noFill/>
                    </a:lnT>
                    <a:lnB>
                      <a:noFill/>
                    </a:lnB>
                    <a:noFill/>
                  </a:tcPr>
                </a:tc>
                <a:tc>
                  <a:txBody>
                    <a:bodyPr/>
                    <a:lstStyle/>
                    <a:p>
                      <a:pPr>
                        <a:buNone/>
                      </a:pPr>
                      <a:r>
                        <a:rPr lang="en-US"/>
                        <a:t>73.53</a:t>
                      </a:r>
                    </a:p>
                  </a:txBody>
                  <a:tcPr anchor="ctr">
                    <a:lnL>
                      <a:noFill/>
                    </a:lnL>
                    <a:lnR>
                      <a:noFill/>
                    </a:lnR>
                    <a:lnT>
                      <a:noFill/>
                    </a:lnT>
                    <a:lnB>
                      <a:noFill/>
                    </a:lnB>
                    <a:noFill/>
                  </a:tcPr>
                </a:tc>
                <a:extLst>
                  <a:ext uri="{0D108BD9-81ED-4DB2-BD59-A6C34878D82A}">
                    <a16:rowId xmlns:a16="http://schemas.microsoft.com/office/drawing/2014/main" val="52637059"/>
                  </a:ext>
                </a:extLst>
              </a:tr>
              <a:tr h="530808">
                <a:tc>
                  <a:txBody>
                    <a:bodyPr/>
                    <a:lstStyle/>
                    <a:p>
                      <a:pPr>
                        <a:buNone/>
                      </a:pPr>
                      <a:r>
                        <a:rPr lang="en-US"/>
                        <a:t>XGBoost Classifier</a:t>
                      </a:r>
                    </a:p>
                  </a:txBody>
                  <a:tcPr anchor="ctr">
                    <a:lnL>
                      <a:noFill/>
                    </a:lnL>
                    <a:lnR>
                      <a:noFill/>
                    </a:lnR>
                    <a:lnT>
                      <a:noFill/>
                    </a:lnT>
                    <a:lnB>
                      <a:noFill/>
                    </a:lnB>
                    <a:noFill/>
                  </a:tcPr>
                </a:tc>
                <a:tc>
                  <a:txBody>
                    <a:bodyPr/>
                    <a:lstStyle/>
                    <a:p>
                      <a:pPr>
                        <a:buNone/>
                      </a:pPr>
                      <a:r>
                        <a:rPr lang="en-US"/>
                        <a:t>75.47</a:t>
                      </a:r>
                    </a:p>
                  </a:txBody>
                  <a:tcPr anchor="ctr">
                    <a:lnL>
                      <a:noFill/>
                    </a:lnL>
                    <a:lnR>
                      <a:noFill/>
                    </a:lnR>
                    <a:lnT>
                      <a:noFill/>
                    </a:lnT>
                    <a:lnB>
                      <a:noFill/>
                    </a:lnB>
                    <a:noFill/>
                  </a:tcPr>
                </a:tc>
                <a:tc>
                  <a:txBody>
                    <a:bodyPr/>
                    <a:lstStyle/>
                    <a:p>
                      <a:pPr>
                        <a:buNone/>
                      </a:pPr>
                      <a:r>
                        <a:rPr lang="en-US"/>
                        <a:t>73.81</a:t>
                      </a:r>
                    </a:p>
                  </a:txBody>
                  <a:tcPr anchor="ctr">
                    <a:lnL>
                      <a:noFill/>
                    </a:lnL>
                    <a:lnR>
                      <a:noFill/>
                    </a:lnR>
                    <a:lnT>
                      <a:noFill/>
                    </a:lnT>
                    <a:lnB>
                      <a:noFill/>
                    </a:lnB>
                    <a:noFill/>
                  </a:tcPr>
                </a:tc>
                <a:extLst>
                  <a:ext uri="{0D108BD9-81ED-4DB2-BD59-A6C34878D82A}">
                    <a16:rowId xmlns:a16="http://schemas.microsoft.com/office/drawing/2014/main" val="2306706165"/>
                  </a:ext>
                </a:extLst>
              </a:tr>
              <a:tr h="530808">
                <a:tc>
                  <a:txBody>
                    <a:bodyPr/>
                    <a:lstStyle/>
                    <a:p>
                      <a:pPr>
                        <a:buNone/>
                      </a:pPr>
                      <a:r>
                        <a:rPr lang="en-US"/>
                        <a:t>CatBoost Classifier</a:t>
                      </a:r>
                    </a:p>
                  </a:txBody>
                  <a:tcPr anchor="ctr">
                    <a:lnL>
                      <a:noFill/>
                    </a:lnL>
                    <a:lnR>
                      <a:noFill/>
                    </a:lnR>
                    <a:lnT>
                      <a:noFill/>
                    </a:lnT>
                    <a:lnB>
                      <a:noFill/>
                    </a:lnB>
                    <a:noFill/>
                  </a:tcPr>
                </a:tc>
                <a:tc>
                  <a:txBody>
                    <a:bodyPr/>
                    <a:lstStyle/>
                    <a:p>
                      <a:pPr>
                        <a:buNone/>
                      </a:pPr>
                      <a:r>
                        <a:rPr lang="en-US"/>
                        <a:t>78.01</a:t>
                      </a:r>
                    </a:p>
                  </a:txBody>
                  <a:tcPr anchor="ctr">
                    <a:lnL>
                      <a:noFill/>
                    </a:lnL>
                    <a:lnR>
                      <a:noFill/>
                    </a:lnR>
                    <a:lnT>
                      <a:noFill/>
                    </a:lnT>
                    <a:lnB>
                      <a:noFill/>
                    </a:lnB>
                    <a:noFill/>
                  </a:tcPr>
                </a:tc>
                <a:tc>
                  <a:txBody>
                    <a:bodyPr/>
                    <a:lstStyle/>
                    <a:p>
                      <a:pPr>
                        <a:buNone/>
                      </a:pPr>
                      <a:r>
                        <a:rPr lang="en-US"/>
                        <a:t>76.85</a:t>
                      </a:r>
                    </a:p>
                  </a:txBody>
                  <a:tcPr anchor="ctr">
                    <a:lnL>
                      <a:noFill/>
                    </a:lnL>
                    <a:lnR>
                      <a:noFill/>
                    </a:lnR>
                    <a:lnT>
                      <a:noFill/>
                    </a:lnT>
                    <a:lnB>
                      <a:noFill/>
                    </a:lnB>
                    <a:noFill/>
                  </a:tcPr>
                </a:tc>
                <a:extLst>
                  <a:ext uri="{0D108BD9-81ED-4DB2-BD59-A6C34878D82A}">
                    <a16:rowId xmlns:a16="http://schemas.microsoft.com/office/drawing/2014/main" val="149054316"/>
                  </a:ext>
                </a:extLst>
              </a:tr>
              <a:tr h="530808">
                <a:tc>
                  <a:txBody>
                    <a:bodyPr/>
                    <a:lstStyle/>
                    <a:p>
                      <a:pPr>
                        <a:buNone/>
                      </a:pPr>
                      <a:r>
                        <a:rPr lang="en-US"/>
                        <a:t>LightGBM Classifier</a:t>
                      </a:r>
                    </a:p>
                  </a:txBody>
                  <a:tcPr anchor="ctr">
                    <a:lnL>
                      <a:noFill/>
                    </a:lnL>
                    <a:lnR>
                      <a:noFill/>
                    </a:lnR>
                    <a:lnT>
                      <a:noFill/>
                    </a:lnT>
                    <a:lnB>
                      <a:noFill/>
                    </a:lnB>
                    <a:noFill/>
                  </a:tcPr>
                </a:tc>
                <a:tc>
                  <a:txBody>
                    <a:bodyPr/>
                    <a:lstStyle/>
                    <a:p>
                      <a:pPr>
                        <a:buNone/>
                      </a:pPr>
                      <a:r>
                        <a:rPr lang="en-US"/>
                        <a:t>68.97</a:t>
                      </a:r>
                    </a:p>
                  </a:txBody>
                  <a:tcPr anchor="ctr">
                    <a:lnL>
                      <a:noFill/>
                    </a:lnL>
                    <a:lnR>
                      <a:noFill/>
                    </a:lnR>
                    <a:lnT>
                      <a:noFill/>
                    </a:lnT>
                    <a:lnB>
                      <a:noFill/>
                    </a:lnB>
                    <a:noFill/>
                  </a:tcPr>
                </a:tc>
                <a:tc>
                  <a:txBody>
                    <a:bodyPr/>
                    <a:lstStyle/>
                    <a:p>
                      <a:pPr>
                        <a:buNone/>
                      </a:pPr>
                      <a:r>
                        <a:rPr lang="en-US"/>
                        <a:t>70.38</a:t>
                      </a:r>
                    </a:p>
                  </a:txBody>
                  <a:tcPr anchor="ctr">
                    <a:lnL>
                      <a:noFill/>
                    </a:lnL>
                    <a:lnR>
                      <a:noFill/>
                    </a:lnR>
                    <a:lnT>
                      <a:noFill/>
                    </a:lnT>
                    <a:lnB>
                      <a:noFill/>
                    </a:lnB>
                    <a:noFill/>
                  </a:tcPr>
                </a:tc>
                <a:extLst>
                  <a:ext uri="{0D108BD9-81ED-4DB2-BD59-A6C34878D82A}">
                    <a16:rowId xmlns:a16="http://schemas.microsoft.com/office/drawing/2014/main" val="1719347337"/>
                  </a:ext>
                </a:extLst>
              </a:tr>
              <a:tr h="530808">
                <a:tc>
                  <a:txBody>
                    <a:bodyPr/>
                    <a:lstStyle/>
                    <a:p>
                      <a:pPr>
                        <a:buNone/>
                      </a:pPr>
                      <a:r>
                        <a:rPr lang="en-US"/>
                        <a:t>MLP Classifier</a:t>
                      </a:r>
                    </a:p>
                  </a:txBody>
                  <a:tcPr anchor="ctr">
                    <a:lnL>
                      <a:noFill/>
                    </a:lnL>
                    <a:lnR>
                      <a:noFill/>
                    </a:lnR>
                    <a:lnT>
                      <a:noFill/>
                    </a:lnT>
                    <a:lnB>
                      <a:noFill/>
                    </a:lnB>
                    <a:noFill/>
                  </a:tcPr>
                </a:tc>
                <a:tc>
                  <a:txBody>
                    <a:bodyPr/>
                    <a:lstStyle/>
                    <a:p>
                      <a:pPr>
                        <a:buNone/>
                      </a:pPr>
                      <a:r>
                        <a:rPr lang="en-US"/>
                        <a:t>66.48</a:t>
                      </a:r>
                    </a:p>
                  </a:txBody>
                  <a:tcPr anchor="ctr">
                    <a:lnL>
                      <a:noFill/>
                    </a:lnL>
                    <a:lnR>
                      <a:noFill/>
                    </a:lnR>
                    <a:lnT>
                      <a:noFill/>
                    </a:lnT>
                    <a:lnB>
                      <a:noFill/>
                    </a:lnB>
                    <a:noFill/>
                  </a:tcPr>
                </a:tc>
                <a:tc>
                  <a:txBody>
                    <a:bodyPr/>
                    <a:lstStyle/>
                    <a:p>
                      <a:pPr>
                        <a:buNone/>
                      </a:pPr>
                      <a:r>
                        <a:rPr lang="en-US"/>
                        <a:t>66.19</a:t>
                      </a:r>
                    </a:p>
                  </a:txBody>
                  <a:tcPr anchor="ctr">
                    <a:lnL>
                      <a:noFill/>
                    </a:lnL>
                    <a:lnR>
                      <a:noFill/>
                    </a:lnR>
                    <a:lnT>
                      <a:noFill/>
                    </a:lnT>
                    <a:lnB>
                      <a:noFill/>
                    </a:lnB>
                    <a:noFill/>
                  </a:tcPr>
                </a:tc>
                <a:extLst>
                  <a:ext uri="{0D108BD9-81ED-4DB2-BD59-A6C34878D82A}">
                    <a16:rowId xmlns:a16="http://schemas.microsoft.com/office/drawing/2014/main" val="3633051768"/>
                  </a:ext>
                </a:extLst>
              </a:tr>
              <a:tr h="530808">
                <a:tc>
                  <a:txBody>
                    <a:bodyPr/>
                    <a:lstStyle/>
                    <a:p>
                      <a:pPr>
                        <a:buNone/>
                      </a:pPr>
                      <a:r>
                        <a:rPr lang="en-US"/>
                        <a:t>Deep MLP Classifier</a:t>
                      </a:r>
                    </a:p>
                  </a:txBody>
                  <a:tcPr anchor="ctr">
                    <a:lnL>
                      <a:noFill/>
                    </a:lnL>
                    <a:lnR>
                      <a:noFill/>
                    </a:lnR>
                    <a:lnT>
                      <a:noFill/>
                    </a:lnT>
                    <a:lnB>
                      <a:noFill/>
                    </a:lnB>
                    <a:noFill/>
                  </a:tcPr>
                </a:tc>
                <a:tc>
                  <a:txBody>
                    <a:bodyPr/>
                    <a:lstStyle/>
                    <a:p>
                      <a:pPr>
                        <a:buNone/>
                      </a:pPr>
                      <a:r>
                        <a:rPr lang="en-US"/>
                        <a:t>72.49</a:t>
                      </a:r>
                    </a:p>
                  </a:txBody>
                  <a:tcPr anchor="ctr">
                    <a:lnL>
                      <a:noFill/>
                    </a:lnL>
                    <a:lnR>
                      <a:noFill/>
                    </a:lnR>
                    <a:lnT>
                      <a:noFill/>
                    </a:lnT>
                    <a:lnB>
                      <a:noFill/>
                    </a:lnB>
                    <a:noFill/>
                  </a:tcPr>
                </a:tc>
                <a:tc>
                  <a:txBody>
                    <a:bodyPr/>
                    <a:lstStyle/>
                    <a:p>
                      <a:pPr>
                        <a:buNone/>
                      </a:pPr>
                      <a:r>
                        <a:rPr lang="en-US" dirty="0"/>
                        <a:t>71.52</a:t>
                      </a:r>
                    </a:p>
                  </a:txBody>
                  <a:tcPr anchor="ctr">
                    <a:lnL>
                      <a:noFill/>
                    </a:lnL>
                    <a:lnR>
                      <a:noFill/>
                    </a:lnR>
                    <a:lnT>
                      <a:noFill/>
                    </a:lnT>
                    <a:lnB>
                      <a:noFill/>
                    </a:lnB>
                    <a:noFill/>
                  </a:tcPr>
                </a:tc>
                <a:extLst>
                  <a:ext uri="{0D108BD9-81ED-4DB2-BD59-A6C34878D82A}">
                    <a16:rowId xmlns:a16="http://schemas.microsoft.com/office/drawing/2014/main" val="2866099424"/>
                  </a:ext>
                </a:extLst>
              </a:tr>
            </a:tbl>
          </a:graphicData>
        </a:graphic>
      </p:graphicFrame>
    </p:spTree>
    <p:extLst>
      <p:ext uri="{BB962C8B-B14F-4D97-AF65-F5344CB8AC3E}">
        <p14:creationId xmlns:p14="http://schemas.microsoft.com/office/powerpoint/2010/main" val="2854832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409753"/>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p:cNvSpPr>
            <a:spLocks noGrp="1"/>
          </p:cNvSpPr>
          <p:nvPr>
            <p:ph type="dt" sz="half" idx="10"/>
          </p:nvPr>
        </p:nvSpPr>
        <p:spPr/>
        <p:txBody>
          <a:bodyPr/>
          <a:lstStyle/>
          <a:p>
            <a:fld id="{5C385F87-9E4D-4408-B076-5F4912516C59}" type="datetime1">
              <a:rPr lang="en-IN" smtClean="0">
                <a:solidFill>
                  <a:schemeClr val="bg1"/>
                </a:solidFill>
              </a:rPr>
              <a:t>20-01-2026</a:t>
            </a:fld>
            <a:endParaRPr lang="en-IN">
              <a:solidFill>
                <a:schemeClr val="bg1"/>
              </a:solidFill>
            </a:endParaRPr>
          </a:p>
        </p:txBody>
      </p:sp>
      <p:sp>
        <p:nvSpPr>
          <p:cNvPr id="5" name="Footer Placeholder 4"/>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p:cNvSpPr>
            <a:spLocks noGrp="1"/>
          </p:cNvSpPr>
          <p:nvPr>
            <p:ph type="sldNum" sz="quarter" idx="12"/>
          </p:nvPr>
        </p:nvSpPr>
        <p:spPr/>
        <p:txBody>
          <a:bodyPr/>
          <a:lstStyle/>
          <a:p>
            <a:fld id="{6B620516-70CF-47FE-AA80-3DABE7EA9D45}" type="slidenum">
              <a:rPr lang="en-IN" smtClean="0">
                <a:solidFill>
                  <a:schemeClr val="bg1"/>
                </a:solidFill>
              </a:rPr>
              <a:t>23</a:t>
            </a:fld>
            <a:endParaRPr lang="en-IN">
              <a:solidFill>
                <a:schemeClr val="bg1"/>
              </a:solidFill>
            </a:endParaRPr>
          </a:p>
        </p:txBody>
      </p:sp>
      <p:sp>
        <p:nvSpPr>
          <p:cNvPr id="7" name="Title 1"/>
          <p:cNvSpPr txBox="1"/>
          <p:nvPr/>
        </p:nvSpPr>
        <p:spPr>
          <a:xfrm>
            <a:off x="2235200" y="-432701"/>
            <a:ext cx="7721600" cy="150966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dirty="0">
                <a:latin typeface="Times New Roman" panose="02020603050405020304" pitchFamily="18" charset="0"/>
                <a:cs typeface="Times New Roman" panose="02020603050405020304" pitchFamily="18" charset="0"/>
              </a:rPr>
              <a:t>References</a:t>
            </a:r>
          </a:p>
        </p:txBody>
      </p:sp>
      <p:sp>
        <p:nvSpPr>
          <p:cNvPr id="2" name="TextBox 1"/>
          <p:cNvSpPr txBox="1"/>
          <p:nvPr/>
        </p:nvSpPr>
        <p:spPr>
          <a:xfrm>
            <a:off x="703467" y="664305"/>
            <a:ext cx="10778213" cy="5016758"/>
          </a:xfrm>
          <a:prstGeom prst="rect">
            <a:avLst/>
          </a:prstGeom>
          <a:noFill/>
        </p:spPr>
        <p:txBody>
          <a:bodyPr wrap="square" lIns="91440" tIns="45720" rIns="91440" bIns="45720" rtlCol="0" anchor="t">
            <a:spAutoFit/>
          </a:bodyPr>
          <a:lstStyle/>
          <a:p>
            <a:r>
              <a:rPr lang="en-IN" sz="1600" b="1" dirty="0">
                <a:ea typeface="+mn-lt"/>
                <a:cs typeface="+mn-lt"/>
              </a:rPr>
              <a:t>[1]</a:t>
            </a:r>
            <a:r>
              <a:rPr lang="en-IN" sz="1600" dirty="0">
                <a:ea typeface="+mn-lt"/>
                <a:cs typeface="+mn-lt"/>
              </a:rPr>
              <a:t> Eriko Terasawa, Yoshihiro Asano, Makiko Aoki, Hisayo Okayama, “Comparison of Fitness Tracking Using Three Different Smartwatches during Free Activities in Daily Life”, </a:t>
            </a:r>
            <a:r>
              <a:rPr lang="en-IN" sz="1600" i="1" dirty="0">
                <a:ea typeface="+mn-lt"/>
                <a:cs typeface="+mn-lt"/>
              </a:rPr>
              <a:t>Open Journal of Nursing</a:t>
            </a:r>
            <a:r>
              <a:rPr lang="en-IN" sz="1600" dirty="0">
                <a:ea typeface="+mn-lt"/>
                <a:cs typeface="+mn-lt"/>
              </a:rPr>
              <a:t>, 2023 Oct;13(10). </a:t>
            </a:r>
            <a:r>
              <a:rPr lang="en-IN" sz="1600" dirty="0" err="1">
                <a:ea typeface="+mn-lt"/>
                <a:cs typeface="+mn-lt"/>
              </a:rPr>
              <a:t>doi</a:t>
            </a:r>
            <a:r>
              <a:rPr lang="en-IN" sz="1600" dirty="0">
                <a:ea typeface="+mn-lt"/>
                <a:cs typeface="+mn-lt"/>
              </a:rPr>
              <a:t>: </a:t>
            </a:r>
            <a:r>
              <a:rPr lang="en-IN" sz="1600" dirty="0">
                <a:ea typeface="+mn-lt"/>
                <a:cs typeface="+mn-lt"/>
                <a:hlinkClick r:id="rId2"/>
              </a:rPr>
              <a:t>https://doi.org/10.4236/ojn.2023.1310041</a:t>
            </a:r>
          </a:p>
          <a:p>
            <a:endParaRPr lang="en-IN" sz="1600" dirty="0">
              <a:ea typeface="Calibri"/>
              <a:cs typeface="Calibri"/>
            </a:endParaRPr>
          </a:p>
          <a:p>
            <a:r>
              <a:rPr lang="en-IN" sz="1600" b="1" dirty="0">
                <a:ea typeface="+mn-lt"/>
                <a:cs typeface="+mn-lt"/>
              </a:rPr>
              <a:t>[2]</a:t>
            </a:r>
            <a:r>
              <a:rPr lang="en-IN" sz="1600" dirty="0">
                <a:ea typeface="+mn-lt"/>
                <a:cs typeface="+mn-lt"/>
              </a:rPr>
              <a:t> F. Wouters, H. </a:t>
            </a:r>
            <a:r>
              <a:rPr lang="en-IN" sz="1600" dirty="0" err="1">
                <a:ea typeface="+mn-lt"/>
                <a:cs typeface="+mn-lt"/>
              </a:rPr>
              <a:t>Gruwez</a:t>
            </a:r>
            <a:r>
              <a:rPr lang="en-IN" sz="1600" dirty="0">
                <a:ea typeface="+mn-lt"/>
                <a:cs typeface="+mn-lt"/>
              </a:rPr>
              <a:t>, C. Smeets, A. </a:t>
            </a:r>
            <a:r>
              <a:rPr lang="en-IN" sz="1600" dirty="0" err="1">
                <a:ea typeface="+mn-lt"/>
                <a:cs typeface="+mn-lt"/>
              </a:rPr>
              <a:t>Pijalovic</a:t>
            </a:r>
            <a:r>
              <a:rPr lang="en-IN" sz="1600" dirty="0">
                <a:ea typeface="+mn-lt"/>
                <a:cs typeface="+mn-lt"/>
              </a:rPr>
              <a:t>, W. Wilms, J. Vranken, Z. Pieters, H. Van </a:t>
            </a:r>
            <a:r>
              <a:rPr lang="en-IN" sz="1600" dirty="0" err="1">
                <a:ea typeface="+mn-lt"/>
                <a:cs typeface="+mn-lt"/>
              </a:rPr>
              <a:t>Herendael</a:t>
            </a:r>
            <a:r>
              <a:rPr lang="en-IN" sz="1600" dirty="0">
                <a:ea typeface="+mn-lt"/>
                <a:cs typeface="+mn-lt"/>
              </a:rPr>
              <a:t>, D. </a:t>
            </a:r>
            <a:r>
              <a:rPr lang="en-IN" sz="1600" dirty="0" err="1">
                <a:ea typeface="+mn-lt"/>
                <a:cs typeface="+mn-lt"/>
              </a:rPr>
              <a:t>Nuyens</a:t>
            </a:r>
            <a:r>
              <a:rPr lang="en-IN" sz="1600" dirty="0">
                <a:ea typeface="+mn-lt"/>
                <a:cs typeface="+mn-lt"/>
              </a:rPr>
              <a:t>, M. Rivero-Ayerza, P. Vandervoort, P. </a:t>
            </a:r>
            <a:r>
              <a:rPr lang="en-IN" sz="1600" dirty="0" err="1">
                <a:ea typeface="+mn-lt"/>
                <a:cs typeface="+mn-lt"/>
              </a:rPr>
              <a:t>Haemers</a:t>
            </a:r>
            <a:r>
              <a:rPr lang="en-IN" sz="1600" dirty="0">
                <a:ea typeface="+mn-lt"/>
                <a:cs typeface="+mn-lt"/>
              </a:rPr>
              <a:t>, L. Pison, “Comparative Evaluation of Consumer Wearable Devices for Atrial Fibrillation Detection: Validation Study”, </a:t>
            </a:r>
            <a:r>
              <a:rPr lang="en-IN" sz="1600" i="1" dirty="0">
                <a:ea typeface="+mn-lt"/>
                <a:cs typeface="+mn-lt"/>
              </a:rPr>
              <a:t>JMIR Formative Research</a:t>
            </a:r>
            <a:r>
              <a:rPr lang="en-IN" sz="1600" dirty="0">
                <a:ea typeface="+mn-lt"/>
                <a:cs typeface="+mn-lt"/>
              </a:rPr>
              <a:t>, 2025;9:e65139. </a:t>
            </a:r>
            <a:r>
              <a:rPr lang="en-IN" sz="1600" dirty="0" err="1">
                <a:ea typeface="+mn-lt"/>
                <a:cs typeface="+mn-lt"/>
              </a:rPr>
              <a:t>doi</a:t>
            </a:r>
            <a:r>
              <a:rPr lang="en-IN" sz="1600" dirty="0">
                <a:ea typeface="+mn-lt"/>
                <a:cs typeface="+mn-lt"/>
              </a:rPr>
              <a:t>: </a:t>
            </a:r>
            <a:r>
              <a:rPr lang="en-IN" sz="1600" dirty="0">
                <a:ea typeface="+mn-lt"/>
                <a:cs typeface="+mn-lt"/>
                <a:hlinkClick r:id="rId3"/>
              </a:rPr>
              <a:t>https://doi.org/10.2196/65139</a:t>
            </a:r>
          </a:p>
          <a:p>
            <a:endParaRPr lang="en-IN" sz="1600" dirty="0">
              <a:ea typeface="+mn-lt"/>
              <a:cs typeface="+mn-lt"/>
            </a:endParaRPr>
          </a:p>
          <a:p>
            <a:r>
              <a:rPr lang="en-IN" sz="1600" b="1" dirty="0">
                <a:ea typeface="+mn-lt"/>
                <a:cs typeface="+mn-lt"/>
              </a:rPr>
              <a:t>[3]</a:t>
            </a:r>
            <a:r>
              <a:rPr lang="en-IN" sz="1600" dirty="0">
                <a:ea typeface="+mn-lt"/>
                <a:cs typeface="+mn-lt"/>
              </a:rPr>
              <a:t> Florian </a:t>
            </a:r>
            <a:r>
              <a:rPr lang="en-IN" sz="1600" dirty="0" err="1">
                <a:ea typeface="+mn-lt"/>
                <a:cs typeface="+mn-lt"/>
              </a:rPr>
              <a:t>Theurl</a:t>
            </a:r>
            <a:r>
              <a:rPr lang="en-IN" sz="1600" dirty="0">
                <a:ea typeface="+mn-lt"/>
                <a:cs typeface="+mn-lt"/>
              </a:rPr>
              <a:t>, Markus </a:t>
            </a:r>
            <a:r>
              <a:rPr lang="en-IN" sz="1600" dirty="0" err="1">
                <a:ea typeface="+mn-lt"/>
                <a:cs typeface="+mn-lt"/>
              </a:rPr>
              <a:t>Schreinlechner</a:t>
            </a:r>
            <a:r>
              <a:rPr lang="en-IN" sz="1600" dirty="0">
                <a:ea typeface="+mn-lt"/>
                <a:cs typeface="+mn-lt"/>
              </a:rPr>
              <a:t>, Nikolaus </a:t>
            </a:r>
            <a:r>
              <a:rPr lang="en-IN" sz="1600" dirty="0" err="1">
                <a:ea typeface="+mn-lt"/>
                <a:cs typeface="+mn-lt"/>
              </a:rPr>
              <a:t>Sappler</a:t>
            </a:r>
            <a:r>
              <a:rPr lang="en-IN" sz="1600" dirty="0">
                <a:ea typeface="+mn-lt"/>
                <a:cs typeface="+mn-lt"/>
              </a:rPr>
              <a:t>, Michael </a:t>
            </a:r>
            <a:r>
              <a:rPr lang="en-IN" sz="1600" dirty="0" err="1">
                <a:ea typeface="+mn-lt"/>
                <a:cs typeface="+mn-lt"/>
              </a:rPr>
              <a:t>Toifl</a:t>
            </a:r>
            <a:r>
              <a:rPr lang="en-IN" sz="1600" dirty="0">
                <a:ea typeface="+mn-lt"/>
                <a:cs typeface="+mn-lt"/>
              </a:rPr>
              <a:t>, Thomas Dolejsi, Florian Hofer, Christian Massmann, Christoph Steinbring, Stefan Komarek, Klaus </a:t>
            </a:r>
            <a:r>
              <a:rPr lang="en-IN" sz="1600" dirty="0" err="1">
                <a:ea typeface="+mn-lt"/>
                <a:cs typeface="+mn-lt"/>
              </a:rPr>
              <a:t>Mölgg</a:t>
            </a:r>
            <a:r>
              <a:rPr lang="en-IN" sz="1600" dirty="0">
                <a:ea typeface="+mn-lt"/>
                <a:cs typeface="+mn-lt"/>
              </a:rPr>
              <a:t>, Bernhard </a:t>
            </a:r>
            <a:r>
              <a:rPr lang="en-IN" sz="1600" dirty="0" err="1">
                <a:ea typeface="+mn-lt"/>
                <a:cs typeface="+mn-lt"/>
              </a:rPr>
              <a:t>Dejakum</a:t>
            </a:r>
            <a:r>
              <a:rPr lang="en-IN" sz="1600" dirty="0">
                <a:ea typeface="+mn-lt"/>
                <a:cs typeface="+mn-lt"/>
              </a:rPr>
              <a:t>, Christoph Böhme, Rainer </a:t>
            </a:r>
            <a:r>
              <a:rPr lang="en-IN" sz="1600" dirty="0" err="1">
                <a:ea typeface="+mn-lt"/>
                <a:cs typeface="+mn-lt"/>
              </a:rPr>
              <a:t>Kirchmair</a:t>
            </a:r>
            <a:r>
              <a:rPr lang="en-IN" sz="1600" dirty="0">
                <a:ea typeface="+mn-lt"/>
                <a:cs typeface="+mn-lt"/>
              </a:rPr>
              <a:t>, Sebastian </a:t>
            </a:r>
            <a:r>
              <a:rPr lang="en-IN" sz="1600" dirty="0" err="1">
                <a:ea typeface="+mn-lt"/>
                <a:cs typeface="+mn-lt"/>
              </a:rPr>
              <a:t>Reinstadler</a:t>
            </a:r>
            <a:r>
              <a:rPr lang="en-IN" sz="1600" dirty="0">
                <a:ea typeface="+mn-lt"/>
                <a:cs typeface="+mn-lt"/>
              </a:rPr>
              <a:t>, Axel Bauer, “Smartwatch-derived heart rate variability: A head-to-head comparison with the gold standard in cardiovascular </a:t>
            </a:r>
            <a:r>
              <a:rPr lang="en-IN" sz="1600" dirty="0" err="1">
                <a:ea typeface="+mn-lt"/>
                <a:cs typeface="+mn-lt"/>
              </a:rPr>
              <a:t>disease”,</a:t>
            </a:r>
            <a:r>
              <a:rPr lang="en-IN" sz="1600" i="1" dirty="0" err="1">
                <a:ea typeface="+mn-lt"/>
                <a:cs typeface="+mn-lt"/>
              </a:rPr>
              <a:t>European</a:t>
            </a:r>
            <a:r>
              <a:rPr lang="en-IN" sz="1600" i="1" dirty="0">
                <a:ea typeface="+mn-lt"/>
                <a:cs typeface="+mn-lt"/>
              </a:rPr>
              <a:t> Heart Journal Digital Health</a:t>
            </a:r>
            <a:r>
              <a:rPr lang="en-IN" sz="1600" dirty="0">
                <a:ea typeface="+mn-lt"/>
                <a:cs typeface="+mn-lt"/>
              </a:rPr>
              <a:t>, 2023;4(3):155–164. </a:t>
            </a:r>
            <a:r>
              <a:rPr lang="en-IN" sz="1600" dirty="0" err="1">
                <a:ea typeface="+mn-lt"/>
                <a:cs typeface="+mn-lt"/>
              </a:rPr>
              <a:t>doi</a:t>
            </a:r>
            <a:r>
              <a:rPr lang="en-IN" sz="1600" dirty="0">
                <a:ea typeface="+mn-lt"/>
                <a:cs typeface="+mn-lt"/>
              </a:rPr>
              <a:t>: </a:t>
            </a:r>
            <a:r>
              <a:rPr lang="en-IN" sz="1600" dirty="0">
                <a:ea typeface="+mn-lt"/>
                <a:cs typeface="+mn-lt"/>
                <a:hlinkClick r:id="rId4"/>
              </a:rPr>
              <a:t>https://doi.org/10.1093/ehjdh/ztad022</a:t>
            </a:r>
          </a:p>
          <a:p>
            <a:endParaRPr lang="en-IN" sz="1600" dirty="0">
              <a:ea typeface="Calibri"/>
              <a:cs typeface="Calibri"/>
            </a:endParaRPr>
          </a:p>
          <a:p>
            <a:r>
              <a:rPr lang="en-IN" sz="1600" b="1" dirty="0">
                <a:ea typeface="+mn-lt"/>
                <a:cs typeface="+mn-lt"/>
              </a:rPr>
              <a:t>[4]</a:t>
            </a:r>
            <a:r>
              <a:rPr lang="en-IN" sz="1600" dirty="0">
                <a:ea typeface="+mn-lt"/>
                <a:cs typeface="+mn-lt"/>
              </a:rPr>
              <a:t> A. Coste, G. </a:t>
            </a:r>
            <a:r>
              <a:rPr lang="en-IN" sz="1600" dirty="0" err="1">
                <a:ea typeface="+mn-lt"/>
                <a:cs typeface="+mn-lt"/>
              </a:rPr>
              <a:t>Millour</a:t>
            </a:r>
            <a:r>
              <a:rPr lang="en-IN" sz="1600" dirty="0">
                <a:ea typeface="+mn-lt"/>
                <a:cs typeface="+mn-lt"/>
              </a:rPr>
              <a:t>, C. </a:t>
            </a:r>
            <a:r>
              <a:rPr lang="en-IN" sz="1600" dirty="0" err="1">
                <a:ea typeface="+mn-lt"/>
                <a:cs typeface="+mn-lt"/>
              </a:rPr>
              <a:t>Hausswirth</a:t>
            </a:r>
            <a:r>
              <a:rPr lang="en-IN" sz="1600" dirty="0">
                <a:ea typeface="+mn-lt"/>
                <a:cs typeface="+mn-lt"/>
              </a:rPr>
              <a:t>, “A Comparative Study Between ECG- and PPG-Based Heart Rate Sensors for Heart Rate Variability Measurements: Influence of Body Position, Duration, Sex, and Age”, </a:t>
            </a:r>
            <a:r>
              <a:rPr lang="en-IN" sz="1600" i="1" dirty="0">
                <a:ea typeface="+mn-lt"/>
                <a:cs typeface="+mn-lt"/>
              </a:rPr>
              <a:t>Sensors</a:t>
            </a:r>
            <a:r>
              <a:rPr lang="en-IN" sz="1600" dirty="0">
                <a:ea typeface="+mn-lt"/>
                <a:cs typeface="+mn-lt"/>
              </a:rPr>
              <a:t>, 2025;25(18):5745. </a:t>
            </a:r>
            <a:r>
              <a:rPr lang="en-IN" sz="1600" dirty="0" err="1">
                <a:ea typeface="+mn-lt"/>
                <a:cs typeface="+mn-lt"/>
              </a:rPr>
              <a:t>doi</a:t>
            </a:r>
            <a:r>
              <a:rPr lang="en-IN" sz="1600" dirty="0">
                <a:ea typeface="+mn-lt"/>
                <a:cs typeface="+mn-lt"/>
              </a:rPr>
              <a:t>: </a:t>
            </a:r>
            <a:r>
              <a:rPr lang="en-IN" sz="1600" dirty="0">
                <a:ea typeface="+mn-lt"/>
                <a:cs typeface="+mn-lt"/>
                <a:hlinkClick r:id="rId5"/>
              </a:rPr>
              <a:t>https://doi.org/10.3390/s25185745</a:t>
            </a:r>
          </a:p>
          <a:p>
            <a:endParaRPr lang="en-IN" sz="1600" dirty="0">
              <a:ea typeface="Calibri"/>
              <a:cs typeface="Calibri"/>
            </a:endParaRPr>
          </a:p>
          <a:p>
            <a:r>
              <a:rPr lang="en-IN" sz="1600" b="1" dirty="0">
                <a:ea typeface="+mn-lt"/>
                <a:cs typeface="+mn-lt"/>
              </a:rPr>
              <a:t>[5]</a:t>
            </a:r>
            <a:r>
              <a:rPr lang="en-IN" sz="1600" dirty="0">
                <a:ea typeface="+mn-lt"/>
                <a:cs typeface="+mn-lt"/>
              </a:rPr>
              <a:t> Federico Sartor, Jeroen </a:t>
            </a:r>
            <a:r>
              <a:rPr lang="en-IN" sz="1600" dirty="0" err="1">
                <a:ea typeface="+mn-lt"/>
                <a:cs typeface="+mn-lt"/>
              </a:rPr>
              <a:t>Gelissen</a:t>
            </a:r>
            <a:r>
              <a:rPr lang="en-IN" sz="1600" dirty="0">
                <a:ea typeface="+mn-lt"/>
                <a:cs typeface="+mn-lt"/>
              </a:rPr>
              <a:t>, Rob van Dinther, “Wrist-worn optical and chest strap heart rate comparison in a heterogeneous sample of healthy individuals and in coronary artery disease patients”, </a:t>
            </a:r>
            <a:r>
              <a:rPr lang="en-IN" sz="1600" i="1" dirty="0">
                <a:ea typeface="+mn-lt"/>
                <a:cs typeface="+mn-lt"/>
              </a:rPr>
              <a:t>BMC Sports Science, Medicine and Rehabilitation</a:t>
            </a:r>
            <a:r>
              <a:rPr lang="en-IN" sz="1600" dirty="0">
                <a:ea typeface="+mn-lt"/>
                <a:cs typeface="+mn-lt"/>
              </a:rPr>
              <a:t>, 2018;10:10. </a:t>
            </a:r>
            <a:r>
              <a:rPr lang="en-IN" sz="1600" dirty="0" err="1">
                <a:ea typeface="+mn-lt"/>
                <a:cs typeface="+mn-lt"/>
              </a:rPr>
              <a:t>doi</a:t>
            </a:r>
            <a:r>
              <a:rPr lang="en-IN" sz="1600" dirty="0">
                <a:ea typeface="+mn-lt"/>
                <a:cs typeface="+mn-lt"/>
              </a:rPr>
              <a:t>: </a:t>
            </a:r>
            <a:r>
              <a:rPr lang="en-IN" sz="1600" dirty="0">
                <a:ea typeface="+mn-lt"/>
                <a:cs typeface="+mn-lt"/>
                <a:hlinkClick r:id="rId6"/>
              </a:rPr>
              <a:t>https://doi.org/10.1186/s13102-018-0098-0</a:t>
            </a:r>
            <a:endParaRPr lang="en-IN">
              <a:ea typeface="+mn-lt"/>
              <a:cs typeface="+mn-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79A74-5C24-D8CF-951B-B18AAD0A4DA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14748D1-C812-644A-58C8-41B44772436F}"/>
              </a:ext>
            </a:extLst>
          </p:cNvPr>
          <p:cNvSpPr/>
          <p:nvPr/>
        </p:nvSpPr>
        <p:spPr>
          <a:xfrm>
            <a:off x="0" y="6409753"/>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a:extLst>
              <a:ext uri="{FF2B5EF4-FFF2-40B4-BE49-F238E27FC236}">
                <a16:creationId xmlns:a16="http://schemas.microsoft.com/office/drawing/2014/main" id="{758FD747-799A-9322-3673-2DC1E3FE08ED}"/>
              </a:ext>
            </a:extLst>
          </p:cNvPr>
          <p:cNvSpPr>
            <a:spLocks noGrp="1"/>
          </p:cNvSpPr>
          <p:nvPr>
            <p:ph type="dt" sz="half" idx="10"/>
          </p:nvPr>
        </p:nvSpPr>
        <p:spPr/>
        <p:txBody>
          <a:bodyPr/>
          <a:lstStyle/>
          <a:p>
            <a:fld id="{5C385F87-9E4D-4408-B076-5F4912516C59}" type="datetime1">
              <a:rPr lang="en-IN" smtClean="0">
                <a:solidFill>
                  <a:schemeClr val="bg1"/>
                </a:solidFill>
              </a:rPr>
              <a:t>20-01-2026</a:t>
            </a:fld>
            <a:endParaRPr lang="en-IN">
              <a:solidFill>
                <a:schemeClr val="bg1"/>
              </a:solidFill>
            </a:endParaRPr>
          </a:p>
        </p:txBody>
      </p:sp>
      <p:sp>
        <p:nvSpPr>
          <p:cNvPr id="5" name="Footer Placeholder 4">
            <a:extLst>
              <a:ext uri="{FF2B5EF4-FFF2-40B4-BE49-F238E27FC236}">
                <a16:creationId xmlns:a16="http://schemas.microsoft.com/office/drawing/2014/main" id="{EC62B994-2AB2-1158-331A-9047622203EA}"/>
              </a:ext>
            </a:extLst>
          </p:cNvPr>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a:extLst>
              <a:ext uri="{FF2B5EF4-FFF2-40B4-BE49-F238E27FC236}">
                <a16:creationId xmlns:a16="http://schemas.microsoft.com/office/drawing/2014/main" id="{4C87D70A-CF0E-29D9-1587-06AB9897C7AF}"/>
              </a:ext>
            </a:extLst>
          </p:cNvPr>
          <p:cNvSpPr>
            <a:spLocks noGrp="1"/>
          </p:cNvSpPr>
          <p:nvPr>
            <p:ph type="sldNum" sz="quarter" idx="12"/>
          </p:nvPr>
        </p:nvSpPr>
        <p:spPr/>
        <p:txBody>
          <a:bodyPr/>
          <a:lstStyle/>
          <a:p>
            <a:fld id="{6B620516-70CF-47FE-AA80-3DABE7EA9D45}" type="slidenum">
              <a:rPr lang="en-IN" smtClean="0">
                <a:solidFill>
                  <a:schemeClr val="bg1"/>
                </a:solidFill>
              </a:rPr>
              <a:t>24</a:t>
            </a:fld>
            <a:endParaRPr lang="en-IN">
              <a:solidFill>
                <a:schemeClr val="bg1"/>
              </a:solidFill>
            </a:endParaRPr>
          </a:p>
        </p:txBody>
      </p:sp>
      <p:sp>
        <p:nvSpPr>
          <p:cNvPr id="7" name="Title 1">
            <a:extLst>
              <a:ext uri="{FF2B5EF4-FFF2-40B4-BE49-F238E27FC236}">
                <a16:creationId xmlns:a16="http://schemas.microsoft.com/office/drawing/2014/main" id="{4FE87D17-3395-8248-61B0-32863427BE4A}"/>
              </a:ext>
            </a:extLst>
          </p:cNvPr>
          <p:cNvSpPr txBox="1"/>
          <p:nvPr/>
        </p:nvSpPr>
        <p:spPr>
          <a:xfrm>
            <a:off x="2235200" y="-432701"/>
            <a:ext cx="7721600" cy="150966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dirty="0">
                <a:latin typeface="Times New Roman" panose="02020603050405020304" pitchFamily="18" charset="0"/>
                <a:cs typeface="Times New Roman" panose="02020603050405020304" pitchFamily="18" charset="0"/>
              </a:rPr>
              <a:t>References</a:t>
            </a:r>
          </a:p>
        </p:txBody>
      </p:sp>
      <p:sp>
        <p:nvSpPr>
          <p:cNvPr id="2" name="TextBox 1">
            <a:extLst>
              <a:ext uri="{FF2B5EF4-FFF2-40B4-BE49-F238E27FC236}">
                <a16:creationId xmlns:a16="http://schemas.microsoft.com/office/drawing/2014/main" id="{2452EABE-BDBB-5E7A-0A7E-BBFC5D1316A2}"/>
              </a:ext>
            </a:extLst>
          </p:cNvPr>
          <p:cNvSpPr txBox="1"/>
          <p:nvPr/>
        </p:nvSpPr>
        <p:spPr>
          <a:xfrm>
            <a:off x="703467" y="664305"/>
            <a:ext cx="10778213" cy="5355312"/>
          </a:xfrm>
          <a:prstGeom prst="rect">
            <a:avLst/>
          </a:prstGeom>
          <a:noFill/>
        </p:spPr>
        <p:txBody>
          <a:bodyPr wrap="square" lIns="91440" tIns="45720" rIns="91440" bIns="45720" rtlCol="0" anchor="t">
            <a:spAutoFit/>
          </a:bodyPr>
          <a:lstStyle/>
          <a:p>
            <a:r>
              <a:rPr lang="en-IN" b="1" dirty="0">
                <a:ea typeface="+mn-lt"/>
                <a:cs typeface="+mn-lt"/>
              </a:rPr>
              <a:t>[6]</a:t>
            </a:r>
            <a:r>
              <a:rPr lang="en-IN" dirty="0">
                <a:ea typeface="+mn-lt"/>
                <a:cs typeface="+mn-lt"/>
              </a:rPr>
              <a:t> </a:t>
            </a:r>
            <a:r>
              <a:rPr lang="en-IN" dirty="0" err="1">
                <a:ea typeface="+mn-lt"/>
                <a:cs typeface="+mn-lt"/>
              </a:rPr>
              <a:t>Edubirdie</a:t>
            </a:r>
            <a:r>
              <a:rPr lang="en-IN" dirty="0">
                <a:ea typeface="+mn-lt"/>
                <a:cs typeface="+mn-lt"/>
              </a:rPr>
              <a:t>, “Comparative Study of Wearable Heart Rate Monitors”, 2022.</a:t>
            </a:r>
            <a:br>
              <a:rPr lang="en-IN" dirty="0">
                <a:ea typeface="+mn-lt"/>
                <a:cs typeface="+mn-lt"/>
              </a:rPr>
            </a:br>
            <a:r>
              <a:rPr lang="en-IN" dirty="0">
                <a:ea typeface="+mn-lt"/>
                <a:cs typeface="+mn-lt"/>
              </a:rPr>
              <a:t> Available at: </a:t>
            </a:r>
            <a:r>
              <a:rPr lang="en-IN" dirty="0">
                <a:ea typeface="+mn-lt"/>
                <a:cs typeface="+mn-lt"/>
                <a:hlinkClick r:id="rId2"/>
              </a:rPr>
              <a:t>https://hub.edubirdie.com/examples/comparative-study-of-wearable-heart-rate-monitors/</a:t>
            </a:r>
            <a:endParaRPr lang="en-US">
              <a:ea typeface="+mn-lt"/>
              <a:cs typeface="+mn-lt"/>
            </a:endParaRPr>
          </a:p>
          <a:p>
            <a:endParaRPr lang="en-IN" dirty="0">
              <a:ea typeface="Calibri"/>
              <a:cs typeface="Calibri"/>
            </a:endParaRPr>
          </a:p>
          <a:p>
            <a:r>
              <a:rPr lang="en-IN" b="1" dirty="0">
                <a:ea typeface="+mn-lt"/>
                <a:cs typeface="+mn-lt"/>
              </a:rPr>
              <a:t>[7]</a:t>
            </a:r>
            <a:r>
              <a:rPr lang="en-IN" dirty="0">
                <a:ea typeface="+mn-lt"/>
                <a:cs typeface="+mn-lt"/>
              </a:rPr>
              <a:t> O. Sibomana, C. M. </a:t>
            </a:r>
            <a:r>
              <a:rPr lang="en-IN" dirty="0" err="1">
                <a:ea typeface="+mn-lt"/>
                <a:cs typeface="+mn-lt"/>
              </a:rPr>
              <a:t>Hakayuwa</a:t>
            </a:r>
            <a:r>
              <a:rPr lang="en-IN" dirty="0">
                <a:ea typeface="+mn-lt"/>
                <a:cs typeface="+mn-lt"/>
              </a:rPr>
              <a:t>, A. </a:t>
            </a:r>
            <a:r>
              <a:rPr lang="en-IN" dirty="0" err="1">
                <a:ea typeface="+mn-lt"/>
                <a:cs typeface="+mn-lt"/>
              </a:rPr>
              <a:t>Obianke</a:t>
            </a:r>
            <a:r>
              <a:rPr lang="en-IN" dirty="0">
                <a:ea typeface="+mn-lt"/>
                <a:cs typeface="+mn-lt"/>
              </a:rPr>
              <a:t>, et al., “Diagnostic Accuracy of ECG Smart Chest Patches versus PPG Smartwatches for Atrial Fibrillation Detection: A Systematic Review and Meta-Analysis”, </a:t>
            </a:r>
            <a:r>
              <a:rPr lang="en-IN" i="1" dirty="0">
                <a:ea typeface="+mn-lt"/>
                <a:cs typeface="+mn-lt"/>
              </a:rPr>
              <a:t>BMC Cardiovascular Disorders</a:t>
            </a:r>
            <a:r>
              <a:rPr lang="en-IN" dirty="0">
                <a:ea typeface="+mn-lt"/>
                <a:cs typeface="+mn-lt"/>
              </a:rPr>
              <a:t>, 2025;25:132. </a:t>
            </a:r>
            <a:r>
              <a:rPr lang="en-IN" dirty="0" err="1">
                <a:ea typeface="+mn-lt"/>
                <a:cs typeface="+mn-lt"/>
              </a:rPr>
              <a:t>doi</a:t>
            </a:r>
            <a:r>
              <a:rPr lang="en-IN" dirty="0">
                <a:ea typeface="+mn-lt"/>
                <a:cs typeface="+mn-lt"/>
              </a:rPr>
              <a:t>: </a:t>
            </a:r>
            <a:r>
              <a:rPr lang="en-IN" dirty="0">
                <a:ea typeface="+mn-lt"/>
                <a:cs typeface="+mn-lt"/>
                <a:hlinkClick r:id="rId3"/>
              </a:rPr>
              <a:t>https://doi.org/10.1186/s12872-025-04582-2</a:t>
            </a:r>
            <a:endParaRPr lang="en-IN">
              <a:ea typeface="+mn-lt"/>
              <a:cs typeface="+mn-lt"/>
            </a:endParaRPr>
          </a:p>
          <a:p>
            <a:endParaRPr lang="en-IN" dirty="0">
              <a:ea typeface="Calibri"/>
              <a:cs typeface="Calibri"/>
            </a:endParaRPr>
          </a:p>
          <a:p>
            <a:r>
              <a:rPr lang="en-IN" b="1" dirty="0">
                <a:ea typeface="+mn-lt"/>
                <a:cs typeface="+mn-lt"/>
              </a:rPr>
              <a:t>[8]</a:t>
            </a:r>
            <a:r>
              <a:rPr lang="en-IN" dirty="0">
                <a:ea typeface="+mn-lt"/>
                <a:cs typeface="+mn-lt"/>
              </a:rPr>
              <a:t> D. Y. Luo, Z. W. Zhang, O. Sibomana, S. </a:t>
            </a:r>
            <a:r>
              <a:rPr lang="en-IN" dirty="0" err="1">
                <a:ea typeface="+mn-lt"/>
                <a:cs typeface="+mn-lt"/>
              </a:rPr>
              <a:t>Izere</a:t>
            </a:r>
            <a:r>
              <a:rPr lang="en-IN" dirty="0">
                <a:ea typeface="+mn-lt"/>
                <a:cs typeface="+mn-lt"/>
              </a:rPr>
              <a:t>, “Comparison of Diagnostic Accuracy of Electrocardiogram-Based versus Photoplethysmography-Based Smartwatches for Atrial Fibrillation Detection: A Systematic Review and Meta-Analysis”, </a:t>
            </a:r>
            <a:r>
              <a:rPr lang="en-IN" i="1" dirty="0">
                <a:ea typeface="+mn-lt"/>
                <a:cs typeface="+mn-lt"/>
              </a:rPr>
              <a:t>Annals of Medicine and Surgery</a:t>
            </a:r>
            <a:r>
              <a:rPr lang="en-IN" dirty="0">
                <a:ea typeface="+mn-lt"/>
                <a:cs typeface="+mn-lt"/>
              </a:rPr>
              <a:t>, 2025;87(4):2307–2323. </a:t>
            </a:r>
            <a:r>
              <a:rPr lang="en-IN" dirty="0" err="1">
                <a:ea typeface="+mn-lt"/>
                <a:cs typeface="+mn-lt"/>
              </a:rPr>
              <a:t>doi</a:t>
            </a:r>
            <a:r>
              <a:rPr lang="en-IN" dirty="0">
                <a:ea typeface="+mn-lt"/>
                <a:cs typeface="+mn-lt"/>
              </a:rPr>
              <a:t>: </a:t>
            </a:r>
            <a:r>
              <a:rPr lang="en-IN" dirty="0">
                <a:ea typeface="+mn-lt"/>
                <a:cs typeface="+mn-lt"/>
                <a:hlinkClick r:id="rId4"/>
              </a:rPr>
              <a:t>https://doi.org/10.1097/MS9.0000000000003155</a:t>
            </a:r>
          </a:p>
          <a:p>
            <a:endParaRPr lang="en-IN" dirty="0">
              <a:ea typeface="Calibri"/>
              <a:cs typeface="Calibri"/>
            </a:endParaRPr>
          </a:p>
          <a:p>
            <a:r>
              <a:rPr lang="en-IN" b="1" dirty="0">
                <a:ea typeface="+mn-lt"/>
                <a:cs typeface="+mn-lt"/>
              </a:rPr>
              <a:t>[9]</a:t>
            </a:r>
            <a:r>
              <a:rPr lang="en-IN" dirty="0">
                <a:ea typeface="+mn-lt"/>
                <a:cs typeface="+mn-lt"/>
              </a:rPr>
              <a:t> Pablo Martín-Escudero, Ana M. Cabanas, María L. </a:t>
            </a:r>
            <a:r>
              <a:rPr lang="en-IN" dirty="0" err="1">
                <a:ea typeface="+mn-lt"/>
                <a:cs typeface="+mn-lt"/>
              </a:rPr>
              <a:t>Dotor</a:t>
            </a:r>
            <a:r>
              <a:rPr lang="en-IN" dirty="0">
                <a:ea typeface="+mn-lt"/>
                <a:cs typeface="+mn-lt"/>
              </a:rPr>
              <a:t>-Castilla, et al., “Are Activity Wrist-Worn Devices Accurate for Determining Heart Rate during Intense Exercise?”, </a:t>
            </a:r>
            <a:r>
              <a:rPr lang="en-IN" i="1" dirty="0">
                <a:ea typeface="+mn-lt"/>
                <a:cs typeface="+mn-lt"/>
              </a:rPr>
              <a:t>Bioengineering</a:t>
            </a:r>
            <a:r>
              <a:rPr lang="en-IN" dirty="0">
                <a:ea typeface="+mn-lt"/>
                <a:cs typeface="+mn-lt"/>
              </a:rPr>
              <a:t>, 2023;10(2):254. </a:t>
            </a:r>
            <a:r>
              <a:rPr lang="en-IN" dirty="0" err="1">
                <a:ea typeface="+mn-lt"/>
                <a:cs typeface="+mn-lt"/>
              </a:rPr>
              <a:t>doi</a:t>
            </a:r>
            <a:r>
              <a:rPr lang="en-IN" dirty="0">
                <a:ea typeface="+mn-lt"/>
                <a:cs typeface="+mn-lt"/>
              </a:rPr>
              <a:t>: </a:t>
            </a:r>
            <a:r>
              <a:rPr lang="en-IN" dirty="0">
                <a:ea typeface="+mn-lt"/>
                <a:cs typeface="+mn-lt"/>
                <a:hlinkClick r:id="rId5"/>
              </a:rPr>
              <a:t>https://doi.org/10.3390/bioengineering10020254</a:t>
            </a:r>
          </a:p>
          <a:p>
            <a:endParaRPr lang="en-IN" dirty="0">
              <a:ea typeface="Calibri"/>
              <a:cs typeface="Calibri"/>
            </a:endParaRPr>
          </a:p>
          <a:p>
            <a:r>
              <a:rPr lang="en-IN" b="1" dirty="0">
                <a:ea typeface="+mn-lt"/>
                <a:cs typeface="+mn-lt"/>
              </a:rPr>
              <a:t>[10]</a:t>
            </a:r>
            <a:r>
              <a:rPr lang="en-IN" dirty="0">
                <a:ea typeface="+mn-lt"/>
                <a:cs typeface="+mn-lt"/>
              </a:rPr>
              <a:t> Martin </a:t>
            </a:r>
            <a:r>
              <a:rPr lang="en-IN" dirty="0" err="1">
                <a:ea typeface="+mn-lt"/>
                <a:cs typeface="+mn-lt"/>
              </a:rPr>
              <a:t>Schaffarczyk</a:t>
            </a:r>
            <a:r>
              <a:rPr lang="en-IN" dirty="0">
                <a:ea typeface="+mn-lt"/>
                <a:cs typeface="+mn-lt"/>
              </a:rPr>
              <a:t>, Ben Rogers, Robin Reer, Thomas Gronwald, “Validity of the Polar H10 Sensor for Heart Rate Variability Analysis during Resting State and Incremental Exercise in Recreational Men and Women”, </a:t>
            </a:r>
            <a:r>
              <a:rPr lang="en-IN" i="1" dirty="0">
                <a:ea typeface="+mn-lt"/>
                <a:cs typeface="+mn-lt"/>
              </a:rPr>
              <a:t>Sensors</a:t>
            </a:r>
            <a:r>
              <a:rPr lang="en-IN" dirty="0">
                <a:ea typeface="+mn-lt"/>
                <a:cs typeface="+mn-lt"/>
              </a:rPr>
              <a:t>, 2022;22(17):6536. </a:t>
            </a:r>
            <a:r>
              <a:rPr lang="en-IN" dirty="0" err="1">
                <a:ea typeface="+mn-lt"/>
                <a:cs typeface="+mn-lt"/>
              </a:rPr>
              <a:t>doi</a:t>
            </a:r>
            <a:r>
              <a:rPr lang="en-IN" dirty="0">
                <a:ea typeface="+mn-lt"/>
                <a:cs typeface="+mn-lt"/>
              </a:rPr>
              <a:t>: </a:t>
            </a:r>
            <a:r>
              <a:rPr lang="en-IN" dirty="0">
                <a:ea typeface="+mn-lt"/>
                <a:cs typeface="+mn-lt"/>
                <a:hlinkClick r:id="rId6"/>
              </a:rPr>
              <a:t>https://doi.org/10.3390/s22176536</a:t>
            </a:r>
            <a:endParaRPr lang="en-IN">
              <a:ea typeface="+mn-lt"/>
              <a:cs typeface="+mn-lt"/>
            </a:endParaRPr>
          </a:p>
        </p:txBody>
      </p:sp>
    </p:spTree>
    <p:extLst>
      <p:ext uri="{BB962C8B-B14F-4D97-AF65-F5344CB8AC3E}">
        <p14:creationId xmlns:p14="http://schemas.microsoft.com/office/powerpoint/2010/main" val="714357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718B5-B930-4C21-8AF5-36EB964B67D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372411D-E33A-1208-E929-AE8ACAD2887B}"/>
              </a:ext>
            </a:extLst>
          </p:cNvPr>
          <p:cNvSpPr/>
          <p:nvPr/>
        </p:nvSpPr>
        <p:spPr>
          <a:xfrm>
            <a:off x="0" y="6409753"/>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a:extLst>
              <a:ext uri="{FF2B5EF4-FFF2-40B4-BE49-F238E27FC236}">
                <a16:creationId xmlns:a16="http://schemas.microsoft.com/office/drawing/2014/main" id="{C8C13249-D1D0-F262-8E1A-12366FA39D7D}"/>
              </a:ext>
            </a:extLst>
          </p:cNvPr>
          <p:cNvSpPr>
            <a:spLocks noGrp="1"/>
          </p:cNvSpPr>
          <p:nvPr>
            <p:ph type="dt" sz="half" idx="10"/>
          </p:nvPr>
        </p:nvSpPr>
        <p:spPr/>
        <p:txBody>
          <a:bodyPr/>
          <a:lstStyle/>
          <a:p>
            <a:fld id="{5C385F87-9E4D-4408-B076-5F4912516C59}" type="datetime1">
              <a:rPr lang="en-IN" smtClean="0">
                <a:solidFill>
                  <a:schemeClr val="bg1"/>
                </a:solidFill>
              </a:rPr>
              <a:t>20-01-2026</a:t>
            </a:fld>
            <a:endParaRPr lang="en-IN">
              <a:solidFill>
                <a:schemeClr val="bg1"/>
              </a:solidFill>
            </a:endParaRPr>
          </a:p>
        </p:txBody>
      </p:sp>
      <p:sp>
        <p:nvSpPr>
          <p:cNvPr id="5" name="Footer Placeholder 4">
            <a:extLst>
              <a:ext uri="{FF2B5EF4-FFF2-40B4-BE49-F238E27FC236}">
                <a16:creationId xmlns:a16="http://schemas.microsoft.com/office/drawing/2014/main" id="{1E91D3DE-DD42-35E7-262D-130B96AE92E7}"/>
              </a:ext>
            </a:extLst>
          </p:cNvPr>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a:extLst>
              <a:ext uri="{FF2B5EF4-FFF2-40B4-BE49-F238E27FC236}">
                <a16:creationId xmlns:a16="http://schemas.microsoft.com/office/drawing/2014/main" id="{4A4BC124-D86C-07DD-F5E7-C7333D5F52D5}"/>
              </a:ext>
            </a:extLst>
          </p:cNvPr>
          <p:cNvSpPr>
            <a:spLocks noGrp="1"/>
          </p:cNvSpPr>
          <p:nvPr>
            <p:ph type="sldNum" sz="quarter" idx="12"/>
          </p:nvPr>
        </p:nvSpPr>
        <p:spPr/>
        <p:txBody>
          <a:bodyPr/>
          <a:lstStyle/>
          <a:p>
            <a:fld id="{6B620516-70CF-47FE-AA80-3DABE7EA9D45}" type="slidenum">
              <a:rPr lang="en-IN" smtClean="0">
                <a:solidFill>
                  <a:schemeClr val="bg1"/>
                </a:solidFill>
              </a:rPr>
              <a:t>25</a:t>
            </a:fld>
            <a:endParaRPr lang="en-IN">
              <a:solidFill>
                <a:schemeClr val="bg1"/>
              </a:solidFill>
            </a:endParaRPr>
          </a:p>
        </p:txBody>
      </p:sp>
      <p:sp>
        <p:nvSpPr>
          <p:cNvPr id="7" name="Title 1">
            <a:extLst>
              <a:ext uri="{FF2B5EF4-FFF2-40B4-BE49-F238E27FC236}">
                <a16:creationId xmlns:a16="http://schemas.microsoft.com/office/drawing/2014/main" id="{C3B4AC92-A58E-B39D-F473-ECCF507F9757}"/>
              </a:ext>
            </a:extLst>
          </p:cNvPr>
          <p:cNvSpPr txBox="1"/>
          <p:nvPr/>
        </p:nvSpPr>
        <p:spPr>
          <a:xfrm>
            <a:off x="2235200" y="-432701"/>
            <a:ext cx="7721600" cy="150966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dirty="0">
                <a:latin typeface="Times New Roman" panose="02020603050405020304" pitchFamily="18" charset="0"/>
                <a:cs typeface="Times New Roman" panose="02020603050405020304" pitchFamily="18" charset="0"/>
              </a:rPr>
              <a:t>References</a:t>
            </a:r>
          </a:p>
        </p:txBody>
      </p:sp>
      <p:sp>
        <p:nvSpPr>
          <p:cNvPr id="2" name="TextBox 1">
            <a:extLst>
              <a:ext uri="{FF2B5EF4-FFF2-40B4-BE49-F238E27FC236}">
                <a16:creationId xmlns:a16="http://schemas.microsoft.com/office/drawing/2014/main" id="{A0BBF495-5C0D-F86A-94F0-2AF0F656E2E7}"/>
              </a:ext>
            </a:extLst>
          </p:cNvPr>
          <p:cNvSpPr txBox="1"/>
          <p:nvPr/>
        </p:nvSpPr>
        <p:spPr>
          <a:xfrm>
            <a:off x="953987" y="800004"/>
            <a:ext cx="10778213" cy="4770537"/>
          </a:xfrm>
          <a:prstGeom prst="rect">
            <a:avLst/>
          </a:prstGeom>
          <a:noFill/>
        </p:spPr>
        <p:txBody>
          <a:bodyPr wrap="square" lIns="91440" tIns="45720" rIns="91440" bIns="45720" rtlCol="0" anchor="t">
            <a:spAutoFit/>
          </a:bodyPr>
          <a:lstStyle/>
          <a:p>
            <a:r>
              <a:rPr lang="en-IN" sz="1600" b="1" dirty="0">
                <a:ea typeface="+mn-lt"/>
                <a:cs typeface="+mn-lt"/>
              </a:rPr>
              <a:t>[11]</a:t>
            </a:r>
            <a:r>
              <a:rPr lang="en-IN" sz="1600" dirty="0">
                <a:ea typeface="+mn-lt"/>
                <a:cs typeface="+mn-lt"/>
              </a:rPr>
              <a:t> Ian L. Flett, Yu Su, Craig Cameron, Cheng Zhou, Laura H. Pearson, James G. Chase, “Assessing Accuracy of a Wrist-Worn Wearable Device Over Changing Levels of Activity”, </a:t>
            </a:r>
            <a:r>
              <a:rPr lang="en-IN" sz="1600" i="1" dirty="0">
                <a:ea typeface="+mn-lt"/>
                <a:cs typeface="+mn-lt"/>
              </a:rPr>
              <a:t>IFAC-</a:t>
            </a:r>
            <a:r>
              <a:rPr lang="en-IN" sz="1600" i="1" dirty="0" err="1">
                <a:ea typeface="+mn-lt"/>
                <a:cs typeface="+mn-lt"/>
              </a:rPr>
              <a:t>PapersOnLine</a:t>
            </a:r>
            <a:r>
              <a:rPr lang="en-IN" sz="1600" dirty="0">
                <a:ea typeface="+mn-lt"/>
                <a:cs typeface="+mn-lt"/>
              </a:rPr>
              <a:t>, 2024;58(24):409–414. </a:t>
            </a:r>
            <a:r>
              <a:rPr lang="en-IN" sz="1600" dirty="0" err="1">
                <a:ea typeface="+mn-lt"/>
                <a:cs typeface="+mn-lt"/>
              </a:rPr>
              <a:t>doi</a:t>
            </a:r>
            <a:r>
              <a:rPr lang="en-IN" sz="1600" dirty="0">
                <a:ea typeface="+mn-lt"/>
                <a:cs typeface="+mn-lt"/>
              </a:rPr>
              <a:t>: </a:t>
            </a:r>
            <a:r>
              <a:rPr lang="en-IN" sz="1600" dirty="0">
                <a:ea typeface="+mn-lt"/>
                <a:cs typeface="+mn-lt"/>
                <a:hlinkClick r:id="rId2"/>
              </a:rPr>
              <a:t>https://doi.org/10.1016/j.ifacol.2024.11.072</a:t>
            </a:r>
          </a:p>
          <a:p>
            <a:endParaRPr lang="en-IN" sz="1600" dirty="0">
              <a:ea typeface="Calibri"/>
              <a:cs typeface="Calibri"/>
            </a:endParaRPr>
          </a:p>
          <a:p>
            <a:r>
              <a:rPr lang="en-IN" sz="1600" b="1" dirty="0">
                <a:ea typeface="+mn-lt"/>
                <a:cs typeface="+mn-lt"/>
              </a:rPr>
              <a:t>[12]</a:t>
            </a:r>
            <a:r>
              <a:rPr lang="en-IN" sz="1600" dirty="0">
                <a:ea typeface="+mn-lt"/>
                <a:cs typeface="+mn-lt"/>
              </a:rPr>
              <a:t> Muhammad Umair, Navid </a:t>
            </a:r>
            <a:r>
              <a:rPr lang="en-IN" sz="1600" dirty="0" err="1">
                <a:ea typeface="+mn-lt"/>
                <a:cs typeface="+mn-lt"/>
              </a:rPr>
              <a:t>Chalabianloo</a:t>
            </a:r>
            <a:r>
              <a:rPr lang="en-IN" sz="1600" dirty="0">
                <a:ea typeface="+mn-lt"/>
                <a:cs typeface="+mn-lt"/>
              </a:rPr>
              <a:t>, Corina Sas, Cagatay Ersoy, “HRV and Stress: A Mixed-Methods Approach for Comparison of Wearable Heart Rate Sensors for Biofeedback”, </a:t>
            </a:r>
            <a:r>
              <a:rPr lang="en-IN" sz="1600" i="1" dirty="0">
                <a:ea typeface="+mn-lt"/>
                <a:cs typeface="+mn-lt"/>
              </a:rPr>
              <a:t>IEEE Access</a:t>
            </a:r>
            <a:r>
              <a:rPr lang="en-IN" sz="1600" dirty="0">
                <a:ea typeface="+mn-lt"/>
                <a:cs typeface="+mn-lt"/>
              </a:rPr>
              <a:t>, 2021;9:14005–14024. </a:t>
            </a:r>
            <a:r>
              <a:rPr lang="en-IN" sz="1600" dirty="0" err="1">
                <a:ea typeface="+mn-lt"/>
                <a:cs typeface="+mn-lt"/>
              </a:rPr>
              <a:t>doi</a:t>
            </a:r>
            <a:r>
              <a:rPr lang="en-IN" sz="1600" dirty="0">
                <a:ea typeface="+mn-lt"/>
                <a:cs typeface="+mn-lt"/>
              </a:rPr>
              <a:t>: </a:t>
            </a:r>
            <a:r>
              <a:rPr lang="en-IN" sz="1600" dirty="0">
                <a:ea typeface="+mn-lt"/>
                <a:cs typeface="+mn-lt"/>
                <a:hlinkClick r:id="rId3"/>
              </a:rPr>
              <a:t>https://doi.org/10.1109/ACCESS.2021.3052131</a:t>
            </a:r>
          </a:p>
          <a:p>
            <a:endParaRPr lang="en-IN" sz="1600" dirty="0">
              <a:ea typeface="Calibri"/>
              <a:cs typeface="Calibri"/>
            </a:endParaRPr>
          </a:p>
          <a:p>
            <a:r>
              <a:rPr lang="en-IN" sz="1600" b="1" dirty="0">
                <a:ea typeface="+mn-lt"/>
                <a:cs typeface="+mn-lt"/>
              </a:rPr>
              <a:t>[13]</a:t>
            </a:r>
            <a:r>
              <a:rPr lang="en-IN" sz="1600" dirty="0">
                <a:ea typeface="+mn-lt"/>
                <a:cs typeface="+mn-lt"/>
              </a:rPr>
              <a:t> </a:t>
            </a:r>
            <a:r>
              <a:rPr lang="en-IN" sz="1600" dirty="0" err="1">
                <a:ea typeface="+mn-lt"/>
                <a:cs typeface="+mn-lt"/>
              </a:rPr>
              <a:t>Taeyoung</a:t>
            </a:r>
            <a:r>
              <a:rPr lang="en-IN" sz="1600" dirty="0">
                <a:ea typeface="+mn-lt"/>
                <a:cs typeface="+mn-lt"/>
              </a:rPr>
              <a:t> Lee, </a:t>
            </a:r>
            <a:r>
              <a:rPr lang="en-IN" sz="1600" dirty="0" err="1">
                <a:ea typeface="+mn-lt"/>
                <a:cs typeface="+mn-lt"/>
              </a:rPr>
              <a:t>Youngho</a:t>
            </a:r>
            <a:r>
              <a:rPr lang="en-IN" sz="1600" dirty="0">
                <a:ea typeface="+mn-lt"/>
                <a:cs typeface="+mn-lt"/>
              </a:rPr>
              <a:t> Cho, Kyung S. Cha, et al., “Accuracy of 11 Wearable, Nearable, and Airable Consumer Sleep Trackers: Prospective </a:t>
            </a:r>
            <a:r>
              <a:rPr lang="en-IN" sz="1600" dirty="0" err="1">
                <a:ea typeface="+mn-lt"/>
                <a:cs typeface="+mn-lt"/>
              </a:rPr>
              <a:t>Multicenter</a:t>
            </a:r>
            <a:r>
              <a:rPr lang="en-IN" sz="1600" dirty="0">
                <a:ea typeface="+mn-lt"/>
                <a:cs typeface="+mn-lt"/>
              </a:rPr>
              <a:t> Validation Study”, </a:t>
            </a:r>
            <a:r>
              <a:rPr lang="en-IN" sz="1600" i="1" dirty="0">
                <a:ea typeface="+mn-lt"/>
                <a:cs typeface="+mn-lt"/>
              </a:rPr>
              <a:t>JMIR mHealth and </a:t>
            </a:r>
            <a:r>
              <a:rPr lang="en-IN" sz="1600" i="1" dirty="0" err="1">
                <a:ea typeface="+mn-lt"/>
                <a:cs typeface="+mn-lt"/>
              </a:rPr>
              <a:t>uHealth</a:t>
            </a:r>
            <a:r>
              <a:rPr lang="en-IN" sz="1600" dirty="0">
                <a:ea typeface="+mn-lt"/>
                <a:cs typeface="+mn-lt"/>
              </a:rPr>
              <a:t>, 2023;11:e50983. </a:t>
            </a:r>
            <a:r>
              <a:rPr lang="en-IN" sz="1600" dirty="0" err="1">
                <a:ea typeface="+mn-lt"/>
                <a:cs typeface="+mn-lt"/>
              </a:rPr>
              <a:t>doi</a:t>
            </a:r>
            <a:r>
              <a:rPr lang="en-IN" sz="1600" dirty="0">
                <a:ea typeface="+mn-lt"/>
                <a:cs typeface="+mn-lt"/>
              </a:rPr>
              <a:t>: </a:t>
            </a:r>
            <a:r>
              <a:rPr lang="en-IN" sz="1600" dirty="0">
                <a:ea typeface="+mn-lt"/>
                <a:cs typeface="+mn-lt"/>
                <a:hlinkClick r:id="rId4"/>
              </a:rPr>
              <a:t>https://doi.org/10.2196/50983</a:t>
            </a:r>
          </a:p>
          <a:p>
            <a:endParaRPr lang="en-IN" sz="1600" dirty="0">
              <a:ea typeface="+mn-lt"/>
              <a:cs typeface="+mn-lt"/>
            </a:endParaRPr>
          </a:p>
          <a:p>
            <a:r>
              <a:rPr lang="en-IN" sz="1600" b="1" dirty="0">
                <a:ea typeface="+mn-lt"/>
                <a:cs typeface="+mn-lt"/>
              </a:rPr>
              <a:t>[14]</a:t>
            </a:r>
            <a:r>
              <a:rPr lang="en-IN" sz="1600" dirty="0">
                <a:ea typeface="+mn-lt"/>
                <a:cs typeface="+mn-lt"/>
              </a:rPr>
              <a:t> A. M. </a:t>
            </a:r>
            <a:r>
              <a:rPr lang="en-IN" sz="1600" dirty="0" err="1">
                <a:ea typeface="+mn-lt"/>
                <a:cs typeface="+mn-lt"/>
              </a:rPr>
              <a:t>Schyvens</a:t>
            </a:r>
            <a:r>
              <a:rPr lang="en-IN" sz="1600" dirty="0">
                <a:ea typeface="+mn-lt"/>
                <a:cs typeface="+mn-lt"/>
              </a:rPr>
              <a:t>, B. Peters, N. C. Van Oost, et al., “A Performance Validation of Six Commercial Wrist-Worn Wearable Sleep-Tracking Devices for Sleep Stage Scoring Compared to Polysomnography”, </a:t>
            </a:r>
            <a:r>
              <a:rPr lang="en-IN" sz="1600" i="1" dirty="0">
                <a:ea typeface="+mn-lt"/>
                <a:cs typeface="+mn-lt"/>
              </a:rPr>
              <a:t>Sleep Advances</a:t>
            </a:r>
            <a:r>
              <a:rPr lang="en-IN" sz="1600" dirty="0">
                <a:ea typeface="+mn-lt"/>
                <a:cs typeface="+mn-lt"/>
              </a:rPr>
              <a:t>, 2025;6(2):zpaf021. </a:t>
            </a:r>
            <a:r>
              <a:rPr lang="en-IN" sz="1600" dirty="0" err="1">
                <a:ea typeface="+mn-lt"/>
                <a:cs typeface="+mn-lt"/>
              </a:rPr>
              <a:t>doi</a:t>
            </a:r>
            <a:r>
              <a:rPr lang="en-IN" sz="1600" dirty="0">
                <a:ea typeface="+mn-lt"/>
                <a:cs typeface="+mn-lt"/>
              </a:rPr>
              <a:t>: </a:t>
            </a:r>
            <a:r>
              <a:rPr lang="en-IN" sz="1600" dirty="0">
                <a:ea typeface="+mn-lt"/>
                <a:cs typeface="+mn-lt"/>
                <a:hlinkClick r:id="rId5"/>
              </a:rPr>
              <a:t>https://doi.org/10.1093/sleepadvances/zpaf021</a:t>
            </a:r>
            <a:endParaRPr lang="en-IN"/>
          </a:p>
          <a:p>
            <a:endParaRPr lang="en-IN" sz="1600" dirty="0">
              <a:ea typeface="+mn-lt"/>
              <a:cs typeface="+mn-lt"/>
            </a:endParaRPr>
          </a:p>
          <a:p>
            <a:r>
              <a:rPr lang="en-IN" sz="1600" b="1" dirty="0">
                <a:ea typeface="+mn-lt"/>
                <a:cs typeface="+mn-lt"/>
              </a:rPr>
              <a:t>[15]</a:t>
            </a:r>
            <a:r>
              <a:rPr lang="en-IN" sz="1600" dirty="0">
                <a:ea typeface="+mn-lt"/>
                <a:cs typeface="+mn-lt"/>
              </a:rPr>
              <a:t> Michael B. Dial, Margaret E. Hollander, Emaly A. Vatne, Angela M. Emerson, Nathan A. Edwards, Joshua A. Hagen, “Validation of Nocturnal Resting Heart Rate and Heart Rate Variability in Consumer Wearables”, </a:t>
            </a:r>
            <a:r>
              <a:rPr lang="en-IN" sz="1600" i="1" dirty="0">
                <a:ea typeface="+mn-lt"/>
                <a:cs typeface="+mn-lt"/>
              </a:rPr>
              <a:t>Physiological Reports</a:t>
            </a:r>
            <a:r>
              <a:rPr lang="en-IN" sz="1600" dirty="0">
                <a:ea typeface="+mn-lt"/>
                <a:cs typeface="+mn-lt"/>
              </a:rPr>
              <a:t>, 2025;13(16):e70527. </a:t>
            </a:r>
            <a:r>
              <a:rPr lang="en-IN" sz="1600" dirty="0" err="1">
                <a:ea typeface="+mn-lt"/>
                <a:cs typeface="+mn-lt"/>
              </a:rPr>
              <a:t>doi</a:t>
            </a:r>
            <a:r>
              <a:rPr lang="en-IN" sz="1600" dirty="0">
                <a:ea typeface="+mn-lt"/>
                <a:cs typeface="+mn-lt"/>
              </a:rPr>
              <a:t>: </a:t>
            </a:r>
            <a:r>
              <a:rPr lang="en-IN" sz="1600" dirty="0">
                <a:ea typeface="+mn-lt"/>
                <a:cs typeface="+mn-lt"/>
                <a:hlinkClick r:id="rId6"/>
              </a:rPr>
              <a:t>https://doi.org/10.14814/phy2.70527</a:t>
            </a:r>
            <a:endParaRPr lang="en-IN"/>
          </a:p>
          <a:p>
            <a:endParaRPr lang="en-IN" sz="1600" dirty="0">
              <a:ea typeface="+mn-lt"/>
              <a:cs typeface="+mn-lt"/>
            </a:endParaRPr>
          </a:p>
        </p:txBody>
      </p:sp>
    </p:spTree>
    <p:extLst>
      <p:ext uri="{BB962C8B-B14F-4D97-AF65-F5344CB8AC3E}">
        <p14:creationId xmlns:p14="http://schemas.microsoft.com/office/powerpoint/2010/main" val="1965039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A839F-9ADD-846C-3D95-12CFAF50316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9C8BB80-CC05-BC64-E4C6-DB6ACFC93F2B}"/>
              </a:ext>
            </a:extLst>
          </p:cNvPr>
          <p:cNvSpPr/>
          <p:nvPr/>
        </p:nvSpPr>
        <p:spPr>
          <a:xfrm>
            <a:off x="0" y="6409753"/>
            <a:ext cx="1219200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a:extLst>
              <a:ext uri="{FF2B5EF4-FFF2-40B4-BE49-F238E27FC236}">
                <a16:creationId xmlns:a16="http://schemas.microsoft.com/office/drawing/2014/main" id="{8CAB7479-DF42-37E4-0E60-A25A96ED658C}"/>
              </a:ext>
            </a:extLst>
          </p:cNvPr>
          <p:cNvSpPr>
            <a:spLocks noGrp="1"/>
          </p:cNvSpPr>
          <p:nvPr>
            <p:ph type="dt" sz="half" idx="10"/>
          </p:nvPr>
        </p:nvSpPr>
        <p:spPr/>
        <p:txBody>
          <a:bodyPr/>
          <a:lstStyle/>
          <a:p>
            <a:fld id="{5C385F87-9E4D-4408-B076-5F4912516C59}" type="datetime1">
              <a:rPr lang="en-IN" smtClean="0">
                <a:solidFill>
                  <a:schemeClr val="bg1"/>
                </a:solidFill>
              </a:rPr>
              <a:t>20-01-2026</a:t>
            </a:fld>
            <a:endParaRPr lang="en-IN">
              <a:solidFill>
                <a:schemeClr val="bg1"/>
              </a:solidFill>
            </a:endParaRPr>
          </a:p>
        </p:txBody>
      </p:sp>
      <p:sp>
        <p:nvSpPr>
          <p:cNvPr id="5" name="Footer Placeholder 4">
            <a:extLst>
              <a:ext uri="{FF2B5EF4-FFF2-40B4-BE49-F238E27FC236}">
                <a16:creationId xmlns:a16="http://schemas.microsoft.com/office/drawing/2014/main" id="{DFAC83CC-F79E-1BB0-6763-2700402B1A14}"/>
              </a:ext>
            </a:extLst>
          </p:cNvPr>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a:extLst>
              <a:ext uri="{FF2B5EF4-FFF2-40B4-BE49-F238E27FC236}">
                <a16:creationId xmlns:a16="http://schemas.microsoft.com/office/drawing/2014/main" id="{8D1D75C1-654D-8325-B2D0-C028BFCBA2E7}"/>
              </a:ext>
            </a:extLst>
          </p:cNvPr>
          <p:cNvSpPr>
            <a:spLocks noGrp="1"/>
          </p:cNvSpPr>
          <p:nvPr>
            <p:ph type="sldNum" sz="quarter" idx="12"/>
          </p:nvPr>
        </p:nvSpPr>
        <p:spPr/>
        <p:txBody>
          <a:bodyPr/>
          <a:lstStyle/>
          <a:p>
            <a:fld id="{6B620516-70CF-47FE-AA80-3DABE7EA9D45}" type="slidenum">
              <a:rPr lang="en-IN" smtClean="0">
                <a:solidFill>
                  <a:schemeClr val="bg1"/>
                </a:solidFill>
              </a:rPr>
              <a:t>26</a:t>
            </a:fld>
            <a:endParaRPr lang="en-IN">
              <a:solidFill>
                <a:schemeClr val="bg1"/>
              </a:solidFill>
            </a:endParaRPr>
          </a:p>
        </p:txBody>
      </p:sp>
      <p:sp>
        <p:nvSpPr>
          <p:cNvPr id="7" name="Title 1">
            <a:extLst>
              <a:ext uri="{FF2B5EF4-FFF2-40B4-BE49-F238E27FC236}">
                <a16:creationId xmlns:a16="http://schemas.microsoft.com/office/drawing/2014/main" id="{EF693008-9B10-B90D-685C-2790AA9D4625}"/>
              </a:ext>
            </a:extLst>
          </p:cNvPr>
          <p:cNvSpPr txBox="1"/>
          <p:nvPr/>
        </p:nvSpPr>
        <p:spPr>
          <a:xfrm>
            <a:off x="2235200" y="-432701"/>
            <a:ext cx="7721600" cy="150966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dirty="0">
                <a:latin typeface="Times New Roman" panose="02020603050405020304" pitchFamily="18" charset="0"/>
                <a:cs typeface="Times New Roman" panose="02020603050405020304" pitchFamily="18" charset="0"/>
              </a:rPr>
              <a:t>References</a:t>
            </a:r>
          </a:p>
        </p:txBody>
      </p:sp>
      <p:sp>
        <p:nvSpPr>
          <p:cNvPr id="2" name="TextBox 1">
            <a:extLst>
              <a:ext uri="{FF2B5EF4-FFF2-40B4-BE49-F238E27FC236}">
                <a16:creationId xmlns:a16="http://schemas.microsoft.com/office/drawing/2014/main" id="{F0A4D5E3-6363-BE1A-E80A-9808EC92A2E6}"/>
              </a:ext>
            </a:extLst>
          </p:cNvPr>
          <p:cNvSpPr txBox="1"/>
          <p:nvPr/>
        </p:nvSpPr>
        <p:spPr>
          <a:xfrm>
            <a:off x="703467" y="758251"/>
            <a:ext cx="10778213" cy="4031873"/>
          </a:xfrm>
          <a:prstGeom prst="rect">
            <a:avLst/>
          </a:prstGeom>
          <a:noFill/>
        </p:spPr>
        <p:txBody>
          <a:bodyPr wrap="square" lIns="91440" tIns="45720" rIns="91440" bIns="45720" rtlCol="0" anchor="t">
            <a:spAutoFit/>
          </a:bodyPr>
          <a:lstStyle/>
          <a:p>
            <a:r>
              <a:rPr lang="en-IN" sz="1600" b="1" dirty="0">
                <a:ea typeface="+mn-lt"/>
                <a:cs typeface="+mn-lt"/>
              </a:rPr>
              <a:t>[16]</a:t>
            </a:r>
            <a:r>
              <a:rPr lang="en-IN" sz="1600" dirty="0">
                <a:ea typeface="+mn-lt"/>
                <a:cs typeface="+mn-lt"/>
              </a:rPr>
              <a:t> </a:t>
            </a:r>
            <a:r>
              <a:rPr lang="en-IN" sz="1600" dirty="0" err="1">
                <a:ea typeface="+mn-lt"/>
                <a:cs typeface="+mn-lt"/>
              </a:rPr>
              <a:t>Sanghyun</a:t>
            </a:r>
            <a:r>
              <a:rPr lang="en-IN" sz="1600" dirty="0">
                <a:ea typeface="+mn-lt"/>
                <a:cs typeface="+mn-lt"/>
              </a:rPr>
              <a:t> Park, Dong Zheng, </a:t>
            </a:r>
            <a:r>
              <a:rPr lang="en-IN" sz="1600" dirty="0" err="1">
                <a:ea typeface="+mn-lt"/>
                <a:cs typeface="+mn-lt"/>
              </a:rPr>
              <a:t>Uichin</a:t>
            </a:r>
            <a:r>
              <a:rPr lang="en-IN" sz="1600" dirty="0">
                <a:ea typeface="+mn-lt"/>
                <a:cs typeface="+mn-lt"/>
              </a:rPr>
              <a:t> Lee, “</a:t>
            </a:r>
            <a:r>
              <a:rPr lang="en-IN" sz="1600" dirty="0" err="1">
                <a:ea typeface="+mn-lt"/>
                <a:cs typeface="+mn-lt"/>
              </a:rPr>
              <a:t>GalaxyPPG</a:t>
            </a:r>
            <a:r>
              <a:rPr lang="en-IN" sz="1600" dirty="0">
                <a:ea typeface="+mn-lt"/>
                <a:cs typeface="+mn-lt"/>
              </a:rPr>
              <a:t>: A PPG Signal Dataset Collected in Semi-Naturalistic Settings Using Galaxy Watch”, </a:t>
            </a:r>
            <a:r>
              <a:rPr lang="en-IN" sz="1600" dirty="0" err="1">
                <a:ea typeface="+mn-lt"/>
                <a:cs typeface="+mn-lt"/>
              </a:rPr>
              <a:t>Zenodo</a:t>
            </a:r>
            <a:r>
              <a:rPr lang="en-IN" sz="1600" dirty="0">
                <a:ea typeface="+mn-lt"/>
                <a:cs typeface="+mn-lt"/>
              </a:rPr>
              <a:t> Dataset, Version 1.0.0, 2025. </a:t>
            </a:r>
            <a:r>
              <a:rPr lang="en-IN" sz="1600" dirty="0" err="1">
                <a:ea typeface="+mn-lt"/>
                <a:cs typeface="+mn-lt"/>
              </a:rPr>
              <a:t>doi</a:t>
            </a:r>
            <a:r>
              <a:rPr lang="en-IN" sz="1600" dirty="0">
                <a:ea typeface="+mn-lt"/>
                <a:cs typeface="+mn-lt"/>
              </a:rPr>
              <a:t>: </a:t>
            </a:r>
            <a:r>
              <a:rPr lang="en-IN" sz="1600" dirty="0">
                <a:ea typeface="+mn-lt"/>
                <a:cs typeface="+mn-lt"/>
                <a:hlinkClick r:id="rId2"/>
              </a:rPr>
              <a:t>https://doi.org/10.5281/zenodo.14635823</a:t>
            </a:r>
          </a:p>
          <a:p>
            <a:endParaRPr lang="en-IN" sz="1600" dirty="0">
              <a:ea typeface="Calibri"/>
              <a:cs typeface="Calibri"/>
            </a:endParaRPr>
          </a:p>
          <a:p>
            <a:r>
              <a:rPr lang="en-IN" sz="1600" b="1" dirty="0">
                <a:ea typeface="+mn-lt"/>
                <a:cs typeface="+mn-lt"/>
              </a:rPr>
              <a:t>[17]</a:t>
            </a:r>
            <a:r>
              <a:rPr lang="en-IN" sz="1600" dirty="0">
                <a:ea typeface="+mn-lt"/>
                <a:cs typeface="+mn-lt"/>
              </a:rPr>
              <a:t> Liudmila </a:t>
            </a:r>
            <a:r>
              <a:rPr lang="en-IN" sz="1600" dirty="0" err="1">
                <a:ea typeface="+mn-lt"/>
                <a:cs typeface="+mn-lt"/>
              </a:rPr>
              <a:t>Prokhorenkova</a:t>
            </a:r>
            <a:r>
              <a:rPr lang="en-IN" sz="1600" dirty="0">
                <a:ea typeface="+mn-lt"/>
                <a:cs typeface="+mn-lt"/>
              </a:rPr>
              <a:t>, Gleb Gusev, Aleksandr Vorobev, Anna V. </a:t>
            </a:r>
            <a:r>
              <a:rPr lang="en-IN" sz="1600" dirty="0" err="1">
                <a:ea typeface="+mn-lt"/>
                <a:cs typeface="+mn-lt"/>
              </a:rPr>
              <a:t>Dorogush</a:t>
            </a:r>
            <a:r>
              <a:rPr lang="en-IN" sz="1600" dirty="0">
                <a:ea typeface="+mn-lt"/>
                <a:cs typeface="+mn-lt"/>
              </a:rPr>
              <a:t>, Andrey Gulin, “</a:t>
            </a:r>
            <a:r>
              <a:rPr lang="en-IN" sz="1600" dirty="0" err="1">
                <a:ea typeface="+mn-lt"/>
                <a:cs typeface="+mn-lt"/>
              </a:rPr>
              <a:t>CatBoost</a:t>
            </a:r>
            <a:r>
              <a:rPr lang="en-IN" sz="1600" dirty="0">
                <a:ea typeface="+mn-lt"/>
                <a:cs typeface="+mn-lt"/>
              </a:rPr>
              <a:t>: Unbiased Boosting with Categorical Features”, </a:t>
            </a:r>
            <a:r>
              <a:rPr lang="en-IN" sz="1600" i="1" dirty="0">
                <a:ea typeface="+mn-lt"/>
                <a:cs typeface="+mn-lt"/>
              </a:rPr>
              <a:t>Advances in Neural Information Processing Systems</a:t>
            </a:r>
            <a:r>
              <a:rPr lang="en-IN" sz="1600" dirty="0">
                <a:ea typeface="+mn-lt"/>
                <a:cs typeface="+mn-lt"/>
              </a:rPr>
              <a:t>, 2018;31:6638–6648. Available at: </a:t>
            </a:r>
            <a:r>
              <a:rPr lang="en-IN" sz="1600" dirty="0">
                <a:ea typeface="+mn-lt"/>
                <a:cs typeface="+mn-lt"/>
                <a:hlinkClick r:id="rId3"/>
              </a:rPr>
              <a:t>https://arxiv.org/abs/1810.11363</a:t>
            </a:r>
          </a:p>
          <a:p>
            <a:endParaRPr lang="en-IN" sz="1600" dirty="0">
              <a:ea typeface="+mn-lt"/>
              <a:cs typeface="+mn-lt"/>
            </a:endParaRPr>
          </a:p>
          <a:p>
            <a:r>
              <a:rPr lang="en-IN" sz="1600" b="1" dirty="0">
                <a:ea typeface="+mn-lt"/>
                <a:cs typeface="+mn-lt"/>
              </a:rPr>
              <a:t>[18]</a:t>
            </a:r>
            <a:r>
              <a:rPr lang="en-IN" sz="1600" dirty="0">
                <a:ea typeface="+mn-lt"/>
                <a:cs typeface="+mn-lt"/>
              </a:rPr>
              <a:t> Sylvain Laborde, Emma Mosley, Julian F. Thayer, “Heart Rate Variability and Cardiac Vagal Tone in Psychophysiological Research: Recommendations for Experiment Planning, Data Analysis, and Data Reporting”, </a:t>
            </a:r>
            <a:r>
              <a:rPr lang="en-IN" sz="1600" i="1" dirty="0">
                <a:ea typeface="+mn-lt"/>
                <a:cs typeface="+mn-lt"/>
              </a:rPr>
              <a:t>Frontiers in Psychology</a:t>
            </a:r>
            <a:r>
              <a:rPr lang="en-IN" sz="1600" dirty="0">
                <a:ea typeface="+mn-lt"/>
                <a:cs typeface="+mn-lt"/>
              </a:rPr>
              <a:t>, 2017;8:213. </a:t>
            </a:r>
            <a:r>
              <a:rPr lang="en-IN" sz="1600" dirty="0" err="1">
                <a:ea typeface="+mn-lt"/>
                <a:cs typeface="+mn-lt"/>
              </a:rPr>
              <a:t>doi</a:t>
            </a:r>
            <a:r>
              <a:rPr lang="en-IN" sz="1600" dirty="0">
                <a:ea typeface="+mn-lt"/>
                <a:cs typeface="+mn-lt"/>
              </a:rPr>
              <a:t>: </a:t>
            </a:r>
            <a:r>
              <a:rPr lang="en-IN" sz="1600" dirty="0">
                <a:ea typeface="+mn-lt"/>
                <a:cs typeface="+mn-lt"/>
                <a:hlinkClick r:id="rId4"/>
              </a:rPr>
              <a:t>https://doi.org/10.3389/fpsyg.2017.00213</a:t>
            </a:r>
          </a:p>
          <a:p>
            <a:endParaRPr lang="en-IN" sz="1600" dirty="0">
              <a:ea typeface="Calibri"/>
              <a:cs typeface="Calibri"/>
            </a:endParaRPr>
          </a:p>
          <a:p>
            <a:r>
              <a:rPr lang="en-IN" sz="1600" b="1" dirty="0">
                <a:ea typeface="+mn-lt"/>
                <a:cs typeface="+mn-lt"/>
              </a:rPr>
              <a:t>[19]</a:t>
            </a:r>
            <a:r>
              <a:rPr lang="en-IN" sz="1600" dirty="0">
                <a:ea typeface="+mn-lt"/>
                <a:cs typeface="+mn-lt"/>
              </a:rPr>
              <a:t> Hyun G. Kim, Eun J. Cheon, Dong S. Bai, Young H. Lee, Bong H. Koo, “Stress and Heart Rate Variability: A Meta-Analysis”, </a:t>
            </a:r>
            <a:r>
              <a:rPr lang="en-IN" sz="1600" i="1" dirty="0">
                <a:ea typeface="+mn-lt"/>
                <a:cs typeface="+mn-lt"/>
              </a:rPr>
              <a:t>Psychiatry Investigation</a:t>
            </a:r>
            <a:r>
              <a:rPr lang="en-IN" sz="1600" dirty="0">
                <a:ea typeface="+mn-lt"/>
                <a:cs typeface="+mn-lt"/>
              </a:rPr>
              <a:t>, 2018;15(3):235–245. </a:t>
            </a:r>
            <a:r>
              <a:rPr lang="en-IN" sz="1600" dirty="0" err="1">
                <a:ea typeface="+mn-lt"/>
                <a:cs typeface="+mn-lt"/>
              </a:rPr>
              <a:t>doi</a:t>
            </a:r>
            <a:r>
              <a:rPr lang="en-IN" sz="1600" dirty="0">
                <a:ea typeface="+mn-lt"/>
                <a:cs typeface="+mn-lt"/>
              </a:rPr>
              <a:t>: </a:t>
            </a:r>
            <a:r>
              <a:rPr lang="en-IN" sz="1600" dirty="0">
                <a:ea typeface="+mn-lt"/>
                <a:cs typeface="+mn-lt"/>
                <a:hlinkClick r:id="rId5"/>
              </a:rPr>
              <a:t>https://doi.org/10.30773/pi.2017.08.17</a:t>
            </a:r>
            <a:endParaRPr lang="en-IN" dirty="0">
              <a:ea typeface="+mn-lt"/>
              <a:cs typeface="+mn-lt"/>
            </a:endParaRPr>
          </a:p>
          <a:p>
            <a:endParaRPr lang="en-IN" sz="1600" dirty="0">
              <a:ea typeface="Calibri"/>
              <a:cs typeface="Calibri"/>
            </a:endParaRPr>
          </a:p>
          <a:p>
            <a:r>
              <a:rPr lang="en-IN" sz="1600" b="1" dirty="0">
                <a:ea typeface="+mn-lt"/>
                <a:cs typeface="+mn-lt"/>
              </a:rPr>
              <a:t>[20]</a:t>
            </a:r>
            <a:r>
              <a:rPr lang="en-IN" sz="1600" dirty="0">
                <a:ea typeface="+mn-lt"/>
                <a:cs typeface="+mn-lt"/>
              </a:rPr>
              <a:t> Sylvia D. </a:t>
            </a:r>
            <a:r>
              <a:rPr lang="en-IN" sz="1600" dirty="0" err="1">
                <a:ea typeface="+mn-lt"/>
                <a:cs typeface="+mn-lt"/>
              </a:rPr>
              <a:t>Kreibig</a:t>
            </a:r>
            <a:r>
              <a:rPr lang="en-IN" sz="1600" dirty="0">
                <a:ea typeface="+mn-lt"/>
                <a:cs typeface="+mn-lt"/>
              </a:rPr>
              <a:t>, “Autonomic Nervous System Activity in Emotion: A Review”,</a:t>
            </a:r>
            <a:br>
              <a:rPr lang="en-IN" sz="1600" dirty="0">
                <a:ea typeface="+mn-lt"/>
                <a:cs typeface="+mn-lt"/>
              </a:rPr>
            </a:br>
            <a:r>
              <a:rPr lang="en-IN" sz="1600" dirty="0">
                <a:ea typeface="+mn-lt"/>
                <a:cs typeface="+mn-lt"/>
              </a:rPr>
              <a:t> </a:t>
            </a:r>
            <a:r>
              <a:rPr lang="en-IN" sz="1600" i="1" dirty="0">
                <a:ea typeface="+mn-lt"/>
                <a:cs typeface="+mn-lt"/>
              </a:rPr>
              <a:t>Biological Psychology</a:t>
            </a:r>
            <a:r>
              <a:rPr lang="en-IN" sz="1600" dirty="0">
                <a:ea typeface="+mn-lt"/>
                <a:cs typeface="+mn-lt"/>
              </a:rPr>
              <a:t>, 2010;84(3):394–421. </a:t>
            </a:r>
            <a:r>
              <a:rPr lang="en-IN" sz="1600" dirty="0" err="1">
                <a:ea typeface="+mn-lt"/>
                <a:cs typeface="+mn-lt"/>
              </a:rPr>
              <a:t>doi</a:t>
            </a:r>
            <a:r>
              <a:rPr lang="en-IN" sz="1600" dirty="0">
                <a:ea typeface="+mn-lt"/>
                <a:cs typeface="+mn-lt"/>
              </a:rPr>
              <a:t>: </a:t>
            </a:r>
            <a:r>
              <a:rPr lang="en-IN" sz="1600" dirty="0">
                <a:ea typeface="+mn-lt"/>
                <a:cs typeface="+mn-lt"/>
                <a:hlinkClick r:id="rId6"/>
              </a:rPr>
              <a:t>https://doi.org/10.1016/j.biopsycho.2010.03.010</a:t>
            </a:r>
            <a:endParaRPr lang="en-IN" dirty="0"/>
          </a:p>
        </p:txBody>
      </p:sp>
    </p:spTree>
    <p:extLst>
      <p:ext uri="{BB962C8B-B14F-4D97-AF65-F5344CB8AC3E}">
        <p14:creationId xmlns:p14="http://schemas.microsoft.com/office/powerpoint/2010/main" val="3498890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400800"/>
            <a:ext cx="12212320" cy="45720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Date Placeholder 3"/>
          <p:cNvSpPr>
            <a:spLocks noGrp="1"/>
          </p:cNvSpPr>
          <p:nvPr>
            <p:ph type="dt" sz="half" idx="10"/>
          </p:nvPr>
        </p:nvSpPr>
        <p:spPr/>
        <p:txBody>
          <a:bodyPr/>
          <a:lstStyle/>
          <a:p>
            <a:fld id="{3BD8FFF9-FC1E-4D2A-8CCA-ED976BF7E75C}" type="datetime1">
              <a:rPr lang="en-IN" smtClean="0">
                <a:solidFill>
                  <a:schemeClr val="bg1"/>
                </a:solidFill>
              </a:rPr>
              <a:t>20-01-2026</a:t>
            </a:fld>
            <a:endParaRPr lang="en-IN">
              <a:solidFill>
                <a:schemeClr val="bg1"/>
              </a:solidFill>
            </a:endParaRPr>
          </a:p>
        </p:txBody>
      </p:sp>
      <p:sp>
        <p:nvSpPr>
          <p:cNvPr id="5" name="Footer Placeholder 4"/>
          <p:cNvSpPr>
            <a:spLocks noGrp="1"/>
          </p:cNvSpPr>
          <p:nvPr>
            <p:ph type="ftr" sz="quarter" idx="11"/>
          </p:nvPr>
        </p:nvSpPr>
        <p:spPr/>
        <p:txBody>
          <a:bodyPr/>
          <a:lstStyle/>
          <a:p>
            <a:r>
              <a:rPr lang="en-US">
                <a:solidFill>
                  <a:schemeClr val="bg1"/>
                </a:solidFill>
              </a:rPr>
              <a:t>Department Of Computer Science and Engineering </a:t>
            </a:r>
            <a:endParaRPr lang="en-IN">
              <a:solidFill>
                <a:schemeClr val="bg1"/>
              </a:solidFill>
            </a:endParaRPr>
          </a:p>
        </p:txBody>
      </p:sp>
      <p:sp>
        <p:nvSpPr>
          <p:cNvPr id="6" name="Slide Number Placeholder 5"/>
          <p:cNvSpPr>
            <a:spLocks noGrp="1"/>
          </p:cNvSpPr>
          <p:nvPr>
            <p:ph type="sldNum" sz="quarter" idx="12"/>
          </p:nvPr>
        </p:nvSpPr>
        <p:spPr/>
        <p:txBody>
          <a:bodyPr/>
          <a:lstStyle/>
          <a:p>
            <a:fld id="{6B620516-70CF-47FE-AA80-3DABE7EA9D45}" type="slidenum">
              <a:rPr lang="en-IN" smtClean="0">
                <a:solidFill>
                  <a:schemeClr val="bg1"/>
                </a:solidFill>
              </a:rPr>
              <a:t>27</a:t>
            </a:fld>
            <a:endParaRPr lang="en-IN">
              <a:solidFill>
                <a:schemeClr val="bg1"/>
              </a:solidFill>
            </a:endParaRPr>
          </a:p>
        </p:txBody>
      </p:sp>
      <p:sp>
        <p:nvSpPr>
          <p:cNvPr id="7" name="Title 1"/>
          <p:cNvSpPr txBox="1"/>
          <p:nvPr/>
        </p:nvSpPr>
        <p:spPr>
          <a:xfrm>
            <a:off x="2235200" y="2674169"/>
            <a:ext cx="7721600" cy="150966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8800" b="1" dirty="0">
                <a:latin typeface="Times New Roman" panose="02020603050405020304" pitchFamily="18" charset="0"/>
                <a:cs typeface="Times New Roman" panose="02020603050405020304" pitchFamily="18" charset="0"/>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953</TotalTime>
  <Words>3330</Words>
  <Application>Microsoft Office PowerPoint</Application>
  <PresentationFormat>Widescreen</PresentationFormat>
  <Paragraphs>361</Paragraphs>
  <Slides>27</Slides>
  <Notes>0</Notes>
  <HiddenSlides>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Bahnschrift SemiBold SemiCondensed</vt:lpstr>
      <vt:lpstr>Calibri</vt:lpstr>
      <vt:lpstr>Calibri Light</vt:lpstr>
      <vt:lpstr>Cambria</vt:lpstr>
      <vt:lpstr>Times New Roman</vt:lpstr>
      <vt:lpstr>Office Theme</vt:lpstr>
      <vt:lpstr>A Machine Learning Approach for Multilevel Stress Classification Using Physiological Signals from Wearable Devices</vt:lpstr>
      <vt:lpstr>                         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Team member (Name, SRN) under guidance of Dr.Prema T. Akkasaligar and Dr. Santosh Pattar</dc:title>
  <dc:creator>Prema T. Akkasaligar</dc:creator>
  <cp:lastModifiedBy>Adarsh Kapse</cp:lastModifiedBy>
  <cp:revision>306</cp:revision>
  <dcterms:created xsi:type="dcterms:W3CDTF">2023-11-06T07:27:00Z</dcterms:created>
  <dcterms:modified xsi:type="dcterms:W3CDTF">2026-01-20T04:01:10Z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72815225BCEC474C816045D2F9D76CCF_12</vt:lpwstr>
  </property>
  <property fmtid="{D5CDD505-2E9C-101B-9397-08002B2CF9AE}" pid="3" name="KSOProductBuildVer">
    <vt:lpwstr>1033-12.2.0.22549</vt:lpwstr>
  </property>
</Properties>
</file>